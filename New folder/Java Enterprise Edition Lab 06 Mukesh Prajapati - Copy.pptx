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8" r:id="rId1"/>
  </p:sldMasterIdLst>
  <p:sldIdLst>
    <p:sldId id="274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446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82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468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65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744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032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86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4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367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03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364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1212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50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677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825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15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8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240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jsp/jstl/core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TaskApp/createTask.jsp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Assignment:-6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- 06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8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65833"/>
            <a:ext cx="4791075" cy="162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Set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Up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JSP</a:t>
            </a:r>
            <a:r>
              <a:rPr sz="1100" b="1" spc="-10" dirty="0">
                <a:latin typeface="Calibri"/>
                <a:cs typeface="Calibri"/>
              </a:rPr>
              <a:t> Environment</a:t>
            </a:r>
            <a:endParaRPr sz="11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Calibri"/>
                <a:cs typeface="Calibri"/>
              </a:rPr>
              <a:t>Configure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web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 correctly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JSP</a:t>
            </a:r>
            <a:r>
              <a:rPr sz="1100" spc="-10" dirty="0">
                <a:latin typeface="Calibri"/>
                <a:cs typeface="Calibri"/>
              </a:rPr>
              <a:t> files.</a:t>
            </a:r>
            <a:endParaRPr sz="11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Place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JSP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under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folder: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Font typeface="Symbol"/>
              <a:buChar char=""/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webapp/WEB-INF/jsp/</a:t>
            </a:r>
            <a:endParaRPr sz="11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Make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sure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web.xml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annotations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properly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map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JSP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servlet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paths.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037202"/>
            <a:ext cx="4314825" cy="562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Create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Task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Creation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Form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(JSP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Page)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b="1" dirty="0">
                <a:latin typeface="Calibri"/>
                <a:cs typeface="Calibri"/>
              </a:rPr>
              <a:t>File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Name: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createTask.jsp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&lt;%@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taglib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uri="</a:t>
            </a:r>
            <a:r>
              <a:rPr sz="1100" spc="-10" dirty="0">
                <a:latin typeface="Calibri"/>
                <a:cs typeface="Calibri"/>
                <a:hlinkClick r:id="rId2"/>
              </a:rPr>
              <a:t>http://java.sun.com/jsp/jstl/core"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prefix="c"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%&gt;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&lt;!DOCTYPE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html&gt;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&lt;html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lang="en"&gt;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latin typeface="Calibri"/>
                <a:cs typeface="Calibri"/>
              </a:rPr>
              <a:t>&lt;head&gt;</a:t>
            </a:r>
            <a:endParaRPr sz="1100" dirty="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&lt;meta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charset="UTF-</a:t>
            </a:r>
            <a:r>
              <a:rPr sz="1100" spc="-25" dirty="0">
                <a:latin typeface="Calibri"/>
                <a:cs typeface="Calibri"/>
              </a:rPr>
              <a:t>8"&gt;</a:t>
            </a:r>
            <a:endParaRPr sz="1100" dirty="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latin typeface="Calibri"/>
                <a:cs typeface="Calibri"/>
              </a:rPr>
              <a:t>&lt;title&gt;Create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10" dirty="0">
                <a:latin typeface="Calibri"/>
                <a:cs typeface="Calibri"/>
              </a:rPr>
              <a:t> Task&lt;/title&gt;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&lt;/head&gt;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Calibri"/>
                <a:cs typeface="Calibri"/>
              </a:rPr>
              <a:t>&lt;body&gt;</a:t>
            </a:r>
            <a:endParaRPr sz="1100" dirty="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&lt;h1&gt;Create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Task&lt;/h1&gt;</a:t>
            </a:r>
            <a:endParaRPr sz="1100" dirty="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Calibri"/>
                <a:cs typeface="Calibri"/>
              </a:rPr>
              <a:t>&lt;form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action="createTask"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method="post"&gt;</a:t>
            </a:r>
            <a:endParaRPr sz="1100" dirty="0">
              <a:latin typeface="Calibri"/>
              <a:cs typeface="Calibri"/>
            </a:endParaRPr>
          </a:p>
          <a:p>
            <a:pPr marL="265430">
              <a:lnSpc>
                <a:spcPct val="100000"/>
              </a:lnSpc>
              <a:spcBef>
                <a:spcPts val="930"/>
              </a:spcBef>
            </a:pPr>
            <a:r>
              <a:rPr sz="1100" spc="-10" dirty="0">
                <a:latin typeface="Calibri"/>
                <a:cs typeface="Calibri"/>
              </a:rPr>
              <a:t>&lt;div&gt;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Calibri"/>
                <a:cs typeface="Calibri"/>
              </a:rPr>
              <a:t>&lt;label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for="title"&gt;Title:&lt;/label&gt;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&lt;input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type="text"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id="title"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name="title"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required&gt;</a:t>
            </a:r>
            <a:endParaRPr sz="1100" dirty="0">
              <a:latin typeface="Calibri"/>
              <a:cs typeface="Calibri"/>
            </a:endParaRPr>
          </a:p>
          <a:p>
            <a:pPr marL="265430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&lt;/div&gt;</a:t>
            </a:r>
            <a:endParaRPr sz="1100" dirty="0">
              <a:latin typeface="Calibri"/>
              <a:cs typeface="Calibri"/>
            </a:endParaRPr>
          </a:p>
          <a:p>
            <a:pPr marL="265430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Calibri"/>
                <a:cs typeface="Calibri"/>
              </a:rPr>
              <a:t>&lt;div&gt;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&lt;label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for="description"&gt;Description:&lt;/label&gt;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Calibri"/>
                <a:cs typeface="Calibri"/>
              </a:rPr>
              <a:t>&lt;textarea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id="description"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name="description"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required&gt;&lt;/textarea&gt;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4023995" cy="7621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87725" algn="r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&lt;/div&gt;</a:t>
            </a:r>
            <a:endParaRPr sz="1100" dirty="0">
              <a:latin typeface="Calibri"/>
              <a:cs typeface="Calibri"/>
            </a:endParaRPr>
          </a:p>
          <a:p>
            <a:pPr marR="3440429" algn="r">
              <a:lnSpc>
                <a:spcPct val="100000"/>
              </a:lnSpc>
              <a:spcBef>
                <a:spcPts val="930"/>
              </a:spcBef>
            </a:pPr>
            <a:r>
              <a:rPr sz="1100" spc="-10" dirty="0">
                <a:latin typeface="Calibri"/>
                <a:cs typeface="Calibri"/>
              </a:rPr>
              <a:t>&lt;div&gt;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Calibri"/>
                <a:cs typeface="Calibri"/>
              </a:rPr>
              <a:t>&lt;label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for="deadline"&gt;Deadline:&lt;/label&gt;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&lt;input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type="date"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id="deadline"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name="deadline"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required&gt;</a:t>
            </a:r>
            <a:endParaRPr sz="1100" dirty="0">
              <a:latin typeface="Calibri"/>
              <a:cs typeface="Calibri"/>
            </a:endParaRPr>
          </a:p>
          <a:p>
            <a:pPr marR="3387725" algn="r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Calibri"/>
                <a:cs typeface="Calibri"/>
              </a:rPr>
              <a:t>&lt;/div&gt;</a:t>
            </a:r>
            <a:endParaRPr sz="1100" dirty="0">
              <a:latin typeface="Calibri"/>
              <a:cs typeface="Calibri"/>
            </a:endParaRPr>
          </a:p>
          <a:p>
            <a:pPr marR="3440429" algn="r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&lt;div&gt;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Calibri"/>
                <a:cs typeface="Calibri"/>
              </a:rPr>
              <a:t>&lt;label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for="priority"&gt;Priority:&lt;/label&gt;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&lt;select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id="priority"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name="priority"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required&gt;</a:t>
            </a:r>
            <a:endParaRPr sz="1100" dirty="0">
              <a:latin typeface="Calibri"/>
              <a:cs typeface="Calibri"/>
            </a:endParaRPr>
          </a:p>
          <a:p>
            <a:pPr marL="518159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&lt;option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value="Low"&gt;Low&lt;/option&gt;</a:t>
            </a:r>
            <a:endParaRPr sz="1100" dirty="0">
              <a:latin typeface="Calibri"/>
              <a:cs typeface="Calibri"/>
            </a:endParaRPr>
          </a:p>
          <a:p>
            <a:pPr marL="518159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Calibri"/>
                <a:cs typeface="Calibri"/>
              </a:rPr>
              <a:t>&lt;option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value="Medium"&gt;Medium&lt;/option&gt;</a:t>
            </a:r>
            <a:endParaRPr sz="1100" dirty="0">
              <a:latin typeface="Calibri"/>
              <a:cs typeface="Calibri"/>
            </a:endParaRPr>
          </a:p>
          <a:p>
            <a:pPr marL="518159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&lt;option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value="High"&gt;High&lt;/option&gt;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Calibri"/>
                <a:cs typeface="Calibri"/>
              </a:rPr>
              <a:t>&lt;/select&gt;</a:t>
            </a:r>
            <a:endParaRPr sz="1100" dirty="0">
              <a:latin typeface="Calibri"/>
              <a:cs typeface="Calibri"/>
            </a:endParaRPr>
          </a:p>
          <a:p>
            <a:pPr marR="3387725" algn="r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&lt;/div&gt;</a:t>
            </a:r>
            <a:endParaRPr sz="1100" dirty="0">
              <a:latin typeface="Calibri"/>
              <a:cs typeface="Calibri"/>
            </a:endParaRPr>
          </a:p>
          <a:p>
            <a:pPr marR="3440429" algn="r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&lt;div&gt;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Calibri"/>
                <a:cs typeface="Calibri"/>
              </a:rPr>
              <a:t>&lt;label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for="category"&gt;Category:&lt;/label&gt;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&lt;select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id="category"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name="category"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required&gt;</a:t>
            </a:r>
            <a:endParaRPr sz="1100" dirty="0">
              <a:latin typeface="Calibri"/>
              <a:cs typeface="Calibri"/>
            </a:endParaRPr>
          </a:p>
          <a:p>
            <a:pPr marL="518159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Calibri"/>
                <a:cs typeface="Calibri"/>
              </a:rPr>
              <a:t>&lt;c:forEach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var="category"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items="${categories}"&gt;</a:t>
            </a:r>
            <a:endParaRPr sz="1100" dirty="0">
              <a:latin typeface="Calibri"/>
              <a:cs typeface="Calibri"/>
            </a:endParaRPr>
          </a:p>
          <a:p>
            <a:pPr marL="644525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&lt;option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value="${category.id}"&gt;${category.name}&lt;/option&gt;</a:t>
            </a:r>
            <a:endParaRPr sz="1100" dirty="0">
              <a:latin typeface="Calibri"/>
              <a:cs typeface="Calibri"/>
            </a:endParaRPr>
          </a:p>
          <a:p>
            <a:pPr marL="518159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Calibri"/>
                <a:cs typeface="Calibri"/>
              </a:rPr>
              <a:t>&lt;/c:forEach&gt;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&lt;/select&gt;</a:t>
            </a:r>
            <a:endParaRPr sz="1100" dirty="0">
              <a:latin typeface="Calibri"/>
              <a:cs typeface="Calibri"/>
            </a:endParaRPr>
          </a:p>
          <a:p>
            <a:pPr marR="3387725" algn="r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&lt;/div&gt;</a:t>
            </a:r>
            <a:endParaRPr sz="1100" dirty="0">
              <a:latin typeface="Calibri"/>
              <a:cs typeface="Calibri"/>
            </a:endParaRPr>
          </a:p>
          <a:p>
            <a:pPr marR="3440429" algn="r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Calibri"/>
                <a:cs typeface="Calibri"/>
              </a:rPr>
              <a:t>&lt;div&gt;</a:t>
            </a:r>
            <a:endParaRPr sz="1100" dirty="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&lt;button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type="submit"&gt;Create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Task&lt;/button&gt;</a:t>
            </a:r>
            <a:endParaRPr sz="1100" dirty="0">
              <a:latin typeface="Calibri"/>
              <a:cs typeface="Calibri"/>
            </a:endParaRPr>
          </a:p>
          <a:p>
            <a:pPr marR="3387725" algn="r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Calibri"/>
                <a:cs typeface="Calibri"/>
              </a:rPr>
              <a:t>&lt;/div&gt;</a:t>
            </a:r>
            <a:endParaRPr sz="1100" dirty="0">
              <a:latin typeface="Calibri"/>
              <a:cs typeface="Calibri"/>
            </a:endParaRPr>
          </a:p>
          <a:p>
            <a:pPr marR="3409315" algn="r">
              <a:lnSpc>
                <a:spcPct val="100000"/>
              </a:lnSpc>
              <a:spcBef>
                <a:spcPts val="930"/>
              </a:spcBef>
            </a:pPr>
            <a:r>
              <a:rPr sz="1100" spc="-10" dirty="0">
                <a:latin typeface="Calibri"/>
                <a:cs typeface="Calibri"/>
              </a:rPr>
              <a:t>&lt;/form&gt;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Calibri"/>
                <a:cs typeface="Calibri"/>
              </a:rPr>
              <a:t>&lt;/body&gt;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&lt;/html&gt;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65833"/>
            <a:ext cx="2909570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3: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Integrate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with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Back-</a:t>
            </a:r>
            <a:r>
              <a:rPr sz="1100" b="1" dirty="0">
                <a:latin typeface="Calibri"/>
                <a:cs typeface="Calibri"/>
              </a:rPr>
              <a:t>End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Logic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(Servlet)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b="1" dirty="0">
                <a:latin typeface="Calibri"/>
                <a:cs typeface="Calibri"/>
              </a:rPr>
              <a:t>File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Name: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CreateTaskServlet.java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608833"/>
            <a:ext cx="4851400" cy="704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java.io.IOException;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javax.servlet.*;</a:t>
            </a:r>
            <a:endParaRPr sz="1100" dirty="0">
              <a:latin typeface="Calibri"/>
              <a:cs typeface="Calibri"/>
            </a:endParaRPr>
          </a:p>
          <a:p>
            <a:pPr marL="12700" marR="2329180">
              <a:lnSpc>
                <a:spcPts val="2260"/>
              </a:lnSpc>
              <a:spcBef>
                <a:spcPts val="220"/>
              </a:spcBef>
            </a:pP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javax.servlet.annotation.WebServlet; </a:t>
            </a:r>
            <a:r>
              <a:rPr sz="1100" dirty="0">
                <a:latin typeface="Calibri"/>
                <a:cs typeface="Calibri"/>
              </a:rPr>
              <a:t>import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javax.servlet.http.*;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@WebServlet("/createTask")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public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CreateTaskServlet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extends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HttpServlet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{</a:t>
            </a:r>
            <a:endParaRPr sz="1100" dirty="0">
              <a:latin typeface="Calibri"/>
              <a:cs typeface="Calibri"/>
            </a:endParaRPr>
          </a:p>
          <a:p>
            <a:pPr marL="391795" marR="5080" indent="-251460">
              <a:lnSpc>
                <a:spcPts val="2260"/>
              </a:lnSpc>
              <a:spcBef>
                <a:spcPts val="215"/>
              </a:spcBef>
            </a:pPr>
            <a:r>
              <a:rPr sz="1100" spc="-10" dirty="0">
                <a:latin typeface="Calibri"/>
                <a:cs typeface="Calibri"/>
              </a:rPr>
              <a:t>protected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void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doPost(HttpServletRequest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request,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HttpServletResponse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response) </a:t>
            </a:r>
            <a:r>
              <a:rPr sz="1100" dirty="0">
                <a:latin typeface="Calibri"/>
                <a:cs typeface="Calibri"/>
              </a:rPr>
              <a:t>throws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ServletException,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IOException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{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 dirty="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title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request.getParameter("title");</a:t>
            </a:r>
            <a:endParaRPr sz="1100" dirty="0">
              <a:latin typeface="Calibri"/>
              <a:cs typeface="Calibri"/>
            </a:endParaRPr>
          </a:p>
          <a:p>
            <a:pPr marL="266700" marR="1335405">
              <a:lnSpc>
                <a:spcPts val="2260"/>
              </a:lnSpc>
              <a:spcBef>
                <a:spcPts val="215"/>
              </a:spcBef>
            </a:pP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description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request.getParameter("description");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deadline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request.getParameter("deadline");</a:t>
            </a:r>
            <a:endParaRPr sz="1100" dirty="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  <a:spcBef>
                <a:spcPts val="690"/>
              </a:spcBef>
            </a:pP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priority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request.getParameter("priority");</a:t>
            </a:r>
            <a:endParaRPr sz="1100" dirty="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latin typeface="Calibri"/>
                <a:cs typeface="Calibri"/>
              </a:rPr>
              <a:t>int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categoryId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Integer.parseInt(request.getParameter("category"));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 dirty="0">
              <a:latin typeface="Calibri"/>
              <a:cs typeface="Calibri"/>
            </a:endParaRPr>
          </a:p>
          <a:p>
            <a:pPr marL="26543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//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Create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Task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object</a:t>
            </a:r>
            <a:endParaRPr sz="1100" dirty="0">
              <a:latin typeface="Calibri"/>
              <a:cs typeface="Calibri"/>
            </a:endParaRPr>
          </a:p>
          <a:p>
            <a:pPr marL="265430">
              <a:lnSpc>
                <a:spcPct val="100000"/>
              </a:lnSpc>
              <a:spcBef>
                <a:spcPts val="940"/>
              </a:spcBef>
            </a:pPr>
            <a:r>
              <a:rPr sz="1100" spc="-20" dirty="0">
                <a:latin typeface="Calibri"/>
                <a:cs typeface="Calibri"/>
              </a:rPr>
              <a:t>Task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Task(title,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description,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deadline,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priority,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categoryId);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100" dirty="0">
              <a:latin typeface="Calibri"/>
              <a:cs typeface="Calibri"/>
            </a:endParaRPr>
          </a:p>
          <a:p>
            <a:pPr marL="265430" marR="2536190">
              <a:lnSpc>
                <a:spcPct val="170000"/>
              </a:lnSpc>
            </a:pPr>
            <a:r>
              <a:rPr sz="1100" dirty="0">
                <a:latin typeface="Calibri"/>
                <a:cs typeface="Calibri"/>
              </a:rPr>
              <a:t>//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database </a:t>
            </a:r>
            <a:r>
              <a:rPr sz="1100" spc="-20" dirty="0">
                <a:latin typeface="Calibri"/>
                <a:cs typeface="Calibri"/>
              </a:rPr>
              <a:t>TaskDAO </a:t>
            </a:r>
            <a:r>
              <a:rPr sz="1100" spc="-10" dirty="0">
                <a:latin typeface="Calibri"/>
                <a:cs typeface="Calibri"/>
              </a:rPr>
              <a:t>taskDAO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 </a:t>
            </a:r>
            <a:r>
              <a:rPr sz="1100" spc="-10" dirty="0">
                <a:latin typeface="Calibri"/>
                <a:cs typeface="Calibri"/>
              </a:rPr>
              <a:t>TaskDAO(); taskDAO.saveTask(task);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 dirty="0">
              <a:latin typeface="Calibri"/>
              <a:cs typeface="Calibri"/>
            </a:endParaRPr>
          </a:p>
          <a:p>
            <a:pPr marL="266700" marR="2039620" indent="-1905">
              <a:lnSpc>
                <a:spcPct val="170900"/>
              </a:lnSpc>
            </a:pPr>
            <a:r>
              <a:rPr sz="1100" dirty="0">
                <a:latin typeface="Calibri"/>
                <a:cs typeface="Calibri"/>
              </a:rPr>
              <a:t>//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Redirect to 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confirmation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page </a:t>
            </a:r>
            <a:r>
              <a:rPr sz="1100" spc="-10" dirty="0">
                <a:latin typeface="Calibri"/>
                <a:cs typeface="Calibri"/>
              </a:rPr>
              <a:t>response.sendRedirect("taskList");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4822825" cy="447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alibri"/>
                <a:cs typeface="Calibri"/>
              </a:rPr>
              <a:t>}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spc="-50" dirty="0">
                <a:latin typeface="Calibri"/>
                <a:cs typeface="Calibri"/>
              </a:rPr>
              <a:t>}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4: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Test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JSP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and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Servlet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Integration</a:t>
            </a:r>
            <a:endParaRPr sz="11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Font typeface="Calibri"/>
              <a:buAutoNum type="arabicPeriod"/>
              <a:tabLst>
                <a:tab pos="469265" algn="l"/>
              </a:tabLst>
            </a:pPr>
            <a:r>
              <a:rPr sz="1100" b="1" dirty="0">
                <a:latin typeface="Calibri"/>
                <a:cs typeface="Calibri"/>
              </a:rPr>
              <a:t>Deploy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 </a:t>
            </a:r>
            <a:r>
              <a:rPr sz="1100" b="1" spc="-10" dirty="0">
                <a:latin typeface="Calibri"/>
                <a:cs typeface="Calibri"/>
              </a:rPr>
              <a:t>Application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Apache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Tomcat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  <a:p>
            <a:pPr marL="926465" lvl="1" indent="-228600">
              <a:lnSpc>
                <a:spcPct val="100000"/>
              </a:lnSpc>
              <a:spcBef>
                <a:spcPts val="92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dirty="0">
                <a:latin typeface="Calibri"/>
                <a:cs typeface="Calibri"/>
              </a:rPr>
              <a:t>Example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URL: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  <a:hlinkClick r:id="rId2"/>
              </a:rPr>
              <a:t>http://localhost:8080/TaskApp/createTask.jsp</a:t>
            </a:r>
            <a:endParaRPr sz="11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Font typeface="Calibri"/>
              <a:buAutoNum type="arabicPeriod"/>
              <a:tabLst>
                <a:tab pos="469265" algn="l"/>
              </a:tabLst>
            </a:pPr>
            <a:r>
              <a:rPr sz="1100" b="1" spc="-10" dirty="0">
                <a:latin typeface="Calibri"/>
                <a:cs typeface="Calibri"/>
              </a:rPr>
              <a:t>Verify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Form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Display:</a:t>
            </a:r>
            <a:endParaRPr sz="1100" dirty="0">
              <a:latin typeface="Calibri"/>
              <a:cs typeface="Calibri"/>
            </a:endParaRPr>
          </a:p>
          <a:p>
            <a:pPr marL="926465" lvl="1" indent="-228600">
              <a:lnSpc>
                <a:spcPct val="100000"/>
              </a:lnSpc>
              <a:spcBef>
                <a:spcPts val="92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dirty="0">
                <a:latin typeface="Calibri"/>
                <a:cs typeface="Calibri"/>
              </a:rPr>
              <a:t>Ensure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dropdown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options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appear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correctly.</a:t>
            </a:r>
            <a:endParaRPr sz="11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Font typeface="Calibri"/>
              <a:buAutoNum type="arabicPeriod"/>
              <a:tabLst>
                <a:tab pos="469265" algn="l"/>
              </a:tabLst>
            </a:pPr>
            <a:r>
              <a:rPr sz="1100" b="1" dirty="0">
                <a:latin typeface="Calibri"/>
                <a:cs typeface="Calibri"/>
              </a:rPr>
              <a:t>Submit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Sample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Data:</a:t>
            </a:r>
            <a:endParaRPr sz="1100" dirty="0">
              <a:latin typeface="Calibri"/>
              <a:cs typeface="Calibri"/>
            </a:endParaRPr>
          </a:p>
          <a:p>
            <a:pPr marL="926465" lvl="1" indent="-228600">
              <a:lnSpc>
                <a:spcPct val="100000"/>
              </a:lnSpc>
              <a:spcBef>
                <a:spcPts val="93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dirty="0">
                <a:latin typeface="Calibri"/>
                <a:cs typeface="Calibri"/>
              </a:rPr>
              <a:t>Title: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“Prepare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Report”</a:t>
            </a:r>
            <a:endParaRPr sz="1100" dirty="0">
              <a:latin typeface="Calibri"/>
              <a:cs typeface="Calibri"/>
            </a:endParaRPr>
          </a:p>
          <a:p>
            <a:pPr marL="926465" lvl="1" indent="-228600">
              <a:lnSpc>
                <a:spcPct val="100000"/>
              </a:lnSpc>
              <a:spcBef>
                <a:spcPts val="92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dirty="0">
                <a:latin typeface="Calibri"/>
                <a:cs typeface="Calibri"/>
              </a:rPr>
              <a:t>Description: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“Finish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project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report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next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week.”</a:t>
            </a:r>
            <a:endParaRPr sz="1100" dirty="0">
              <a:latin typeface="Calibri"/>
              <a:cs typeface="Calibri"/>
            </a:endParaRPr>
          </a:p>
          <a:p>
            <a:pPr marL="926465" lvl="1" indent="-228600">
              <a:lnSpc>
                <a:spcPct val="100000"/>
              </a:lnSpc>
              <a:spcBef>
                <a:spcPts val="93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dirty="0">
                <a:latin typeface="Calibri"/>
                <a:cs typeface="Calibri"/>
              </a:rPr>
              <a:t>Deadline: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“2025-10-</a:t>
            </a:r>
            <a:r>
              <a:rPr sz="1100" spc="-25" dirty="0">
                <a:latin typeface="Calibri"/>
                <a:cs typeface="Calibri"/>
              </a:rPr>
              <a:t>30”</a:t>
            </a:r>
            <a:endParaRPr sz="1100" dirty="0">
              <a:latin typeface="Calibri"/>
              <a:cs typeface="Calibri"/>
            </a:endParaRPr>
          </a:p>
          <a:p>
            <a:pPr marL="926465" lvl="1" indent="-228600">
              <a:lnSpc>
                <a:spcPct val="100000"/>
              </a:lnSpc>
              <a:spcBef>
                <a:spcPts val="92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dirty="0">
                <a:latin typeface="Calibri"/>
                <a:cs typeface="Calibri"/>
              </a:rPr>
              <a:t>Priority: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“High”</a:t>
            </a:r>
            <a:endParaRPr sz="1100" dirty="0">
              <a:latin typeface="Calibri"/>
              <a:cs typeface="Calibri"/>
            </a:endParaRPr>
          </a:p>
          <a:p>
            <a:pPr marL="926465" lvl="1" indent="-228600">
              <a:lnSpc>
                <a:spcPct val="100000"/>
              </a:lnSpc>
              <a:spcBef>
                <a:spcPts val="92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dirty="0">
                <a:latin typeface="Calibri"/>
                <a:cs typeface="Calibri"/>
              </a:rPr>
              <a:t>Category: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“Work”</a:t>
            </a:r>
            <a:endParaRPr sz="11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Font typeface="Calibri"/>
              <a:buAutoNum type="arabicPeriod"/>
              <a:tabLst>
                <a:tab pos="469265" algn="l"/>
              </a:tabLst>
            </a:pPr>
            <a:r>
              <a:rPr sz="1100" b="1" dirty="0">
                <a:latin typeface="Calibri"/>
                <a:cs typeface="Calibri"/>
              </a:rPr>
              <a:t>Check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Database:</a:t>
            </a:r>
            <a:endParaRPr sz="1100" dirty="0">
              <a:latin typeface="Calibri"/>
              <a:cs typeface="Calibri"/>
            </a:endParaRPr>
          </a:p>
          <a:p>
            <a:pPr marL="926465" lvl="1" indent="-228600">
              <a:lnSpc>
                <a:spcPct val="100000"/>
              </a:lnSpc>
              <a:spcBef>
                <a:spcPts val="925"/>
              </a:spcBef>
              <a:buSzPct val="90909"/>
              <a:buFont typeface="Courier New"/>
              <a:buChar char="o"/>
              <a:tabLst>
                <a:tab pos="926465" algn="l"/>
              </a:tabLst>
            </a:pPr>
            <a:r>
              <a:rPr sz="1100" dirty="0">
                <a:latin typeface="Calibri"/>
                <a:cs typeface="Calibri"/>
              </a:rPr>
              <a:t>Confirm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new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inserted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successfully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table.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695</Words>
  <Application>Microsoft Office PowerPoint</Application>
  <PresentationFormat>Custom</PresentationFormat>
  <Paragraphs>106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Arial Black</vt:lpstr>
      <vt:lpstr>Calibri</vt:lpstr>
      <vt:lpstr>Carlito</vt:lpstr>
      <vt:lpstr>Century Gothic</vt:lpstr>
      <vt:lpstr>Courier New</vt:lpstr>
      <vt:lpstr>Symbol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2025-10-31T05:11:40Z</dcterms:created>
  <dcterms:modified xsi:type="dcterms:W3CDTF">2025-11-03T18:40:35Z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