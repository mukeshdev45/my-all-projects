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sldIdLst>
    <p:sldId id="274" r:id="rId2"/>
    <p:sldId id="257" r:id="rId3"/>
    <p:sldId id="258" r:id="rId4"/>
    <p:sldId id="259" r:id="rId5"/>
    <p:sldId id="260" r:id="rId6"/>
  </p:sldIdLst>
  <p:sldSz cx="7556500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94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6018" y="2257498"/>
            <a:ext cx="5471494" cy="5191680"/>
          </a:xfrm>
        </p:spPr>
        <p:txBody>
          <a:bodyPr anchor="b"/>
          <a:lstStyle>
            <a:lvl1pPr>
              <a:defRPr sz="5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6018" y="7449174"/>
            <a:ext cx="5471494" cy="1343177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7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5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9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6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48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2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799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700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4462186"/>
            <a:ext cx="5471494" cy="2986990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all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458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002" y="3212973"/>
            <a:ext cx="2725524" cy="6542282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521" y="3205983"/>
            <a:ext cx="2725526" cy="6549271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81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2970389"/>
            <a:ext cx="272552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00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05522" y="2970389"/>
            <a:ext cx="2725524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0552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96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829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318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7" y="2257495"/>
            <a:ext cx="2108500" cy="2257496"/>
          </a:xfrm>
        </p:spPr>
        <p:txBody>
          <a:bodyPr anchor="b"/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6238" y="2257496"/>
            <a:ext cx="3221275" cy="7128933"/>
          </a:xfrm>
        </p:spPr>
        <p:txBody>
          <a:bodyPr anchor="ctr">
            <a:normAutofit/>
          </a:bodyPr>
          <a:lstStyle>
            <a:lvl1pPr>
              <a:defRPr sz="1653"/>
            </a:lvl1pPr>
            <a:lvl2pPr>
              <a:defRPr sz="1488"/>
            </a:lvl2pPr>
            <a:lvl3pPr>
              <a:defRPr sz="1322"/>
            </a:lvl3pPr>
            <a:lvl4pPr>
              <a:defRPr sz="1157"/>
            </a:lvl4pPr>
            <a:lvl5pPr>
              <a:defRPr sz="1157"/>
            </a:lvl5pPr>
            <a:lvl6pPr>
              <a:defRPr sz="1157"/>
            </a:lvl6pPr>
            <a:lvl7pPr>
              <a:defRPr sz="1157"/>
            </a:lvl7pPr>
            <a:lvl8pPr>
              <a:defRPr sz="1157"/>
            </a:lvl8pPr>
            <a:lvl9pPr>
              <a:defRPr sz="11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4879361"/>
            <a:ext cx="2108500" cy="4514990"/>
          </a:xfrm>
        </p:spPr>
        <p:txBody>
          <a:bodyPr/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471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368" y="2891166"/>
            <a:ext cx="3157363" cy="2455534"/>
          </a:xfrm>
        </p:spPr>
        <p:txBody>
          <a:bodyPr anchor="b">
            <a:normAutofit/>
          </a:bodyPr>
          <a:lstStyle>
            <a:lvl1pPr algn="l">
              <a:defRPr sz="297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08393" y="1782234"/>
            <a:ext cx="1984098" cy="71289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5703147"/>
            <a:ext cx="3152449" cy="2138680"/>
          </a:xfrm>
        </p:spPr>
        <p:txBody>
          <a:bodyPr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960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7485360"/>
            <a:ext cx="5471494" cy="883691"/>
          </a:xfrm>
        </p:spPr>
        <p:txBody>
          <a:bodyPr anchor="b">
            <a:normAutofit/>
          </a:bodyPr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6018" y="1069340"/>
            <a:ext cx="5471494" cy="56767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9" y="8369051"/>
            <a:ext cx="5471493" cy="769825"/>
          </a:xfrm>
        </p:spPr>
        <p:txBody>
          <a:bodyPr>
            <a:normAutofit/>
          </a:bodyPr>
          <a:lstStyle>
            <a:lvl1pPr marL="0" indent="0">
              <a:buNone/>
              <a:defRPr sz="992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139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2257496"/>
            <a:ext cx="5471494" cy="3089204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5703147"/>
            <a:ext cx="5471494" cy="368328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697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304" y="2257496"/>
            <a:ext cx="4959200" cy="3613816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02008" y="5871311"/>
            <a:ext cx="4503713" cy="533538"/>
          </a:xfrm>
        </p:spPr>
        <p:txBody>
          <a:bodyPr anchor="t">
            <a:normAutofit/>
          </a:bodyPr>
          <a:lstStyle>
            <a:lvl1pPr marL="0" indent="0">
              <a:buNone/>
              <a:defRPr lang="en-US" sz="1157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6783802"/>
            <a:ext cx="5471494" cy="261394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556901" y="1514435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4467" y="4075572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4049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4871439"/>
            <a:ext cx="5471495" cy="2577736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none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001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98" y="3089204"/>
            <a:ext cx="1826919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04497" y="4158544"/>
            <a:ext cx="1814819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07688" y="3089204"/>
            <a:ext cx="1820331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401144" y="4158544"/>
            <a:ext cx="1826874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3089204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4416980" y="4158544"/>
            <a:ext cx="1817773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6340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497" y="6628332"/>
            <a:ext cx="182269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04497" y="3445651"/>
            <a:ext cx="182269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04497" y="7526876"/>
            <a:ext cx="1822693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11231" y="6628332"/>
            <a:ext cx="1816788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411230" y="3445651"/>
            <a:ext cx="1816788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410391" y="7526874"/>
            <a:ext cx="1819194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6628332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416979" y="3445651"/>
            <a:ext cx="181777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4416904" y="7526871"/>
            <a:ext cx="1820180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641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5184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48223" y="670816"/>
            <a:ext cx="1086530" cy="908443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497" y="1205627"/>
            <a:ext cx="4602004" cy="8549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9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5205781" y="2613942"/>
            <a:ext cx="2329921" cy="439617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4702014" y="-712894"/>
            <a:ext cx="1322388" cy="249512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5205781" y="9505245"/>
            <a:ext cx="818621" cy="154460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27254" y="4158544"/>
            <a:ext cx="3463396" cy="653485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693992" y="4514991"/>
            <a:ext cx="1952096" cy="368328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6400914" y="0"/>
            <a:ext cx="566738" cy="1714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559" y="705905"/>
            <a:ext cx="5830488" cy="21837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3201043"/>
            <a:ext cx="5546436" cy="6541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5830786" y="2935318"/>
            <a:ext cx="1544601" cy="18896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3736795" y="5172231"/>
            <a:ext cx="6018421" cy="188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18093" y="461130"/>
            <a:ext cx="519644" cy="11970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315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7666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377830" rtl="0" eaLnBrk="1" latinLnBrk="0" hangingPunct="1">
        <a:spcBef>
          <a:spcPct val="0"/>
        </a:spcBef>
        <a:buNone/>
        <a:defRPr sz="3471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3373" indent="-283373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53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613974" indent="-236144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88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94457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2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32240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70023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07806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45589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83372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21155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83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66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49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32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15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698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481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264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149" y="684175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to: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8149" y="732790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Vidushi Srivastava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1086" y="5066199"/>
            <a:ext cx="3439272" cy="632373"/>
          </a:xfrm>
          <a:prstGeom prst="rect">
            <a:avLst/>
          </a:prstGeom>
        </p:spPr>
        <p:txBody>
          <a:bodyPr vert="horz" wrap="square" lIns="0" tIns="57297" rIns="0" bIns="0" rtlCol="0">
            <a:spAutoFit/>
          </a:bodyPr>
          <a:lstStyle/>
          <a:p>
            <a:pPr marL="53256">
              <a:spcBef>
                <a:spcPts val="451"/>
              </a:spcBef>
            </a:pPr>
            <a:r>
              <a:rPr lang="en-IN" sz="2000" b="1" dirty="0">
                <a:solidFill>
                  <a:srgbClr val="C45811"/>
                </a:solidFill>
                <a:latin typeface="Arial"/>
                <a:cs typeface="Arial"/>
              </a:rPr>
              <a:t>    Assignment:-11</a:t>
            </a:r>
            <a:endParaRPr sz="2000" dirty="0">
              <a:latin typeface="Arial"/>
              <a:cs typeface="Arial"/>
            </a:endParaRPr>
          </a:p>
          <a:p>
            <a:pPr marL="5048">
              <a:spcBef>
                <a:spcPts val="375"/>
              </a:spcBef>
            </a:pPr>
            <a:r>
              <a:rPr lang="en-IN" sz="900" b="1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"/>
                <a:cs typeface="Arial"/>
              </a:rPr>
              <a:t>  </a:t>
            </a:r>
            <a:r>
              <a:rPr lang="en-IN" sz="1400" b="1" spc="-4" dirty="0">
                <a:cs typeface="Carlito"/>
              </a:rPr>
              <a:t> </a:t>
            </a:r>
            <a:r>
              <a:rPr lang="en-IN" sz="1400" b="1" u="sng" spc="-4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cs typeface="Arial"/>
              </a:rPr>
              <a:t>Java Enterprise Edition  Lab - 11</a:t>
            </a:r>
            <a:endParaRPr sz="1400" dirty="0"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4692" y="6945424"/>
            <a:ext cx="2335850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by: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0722" y="7417784"/>
            <a:ext cx="2458227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</a:t>
            </a:r>
            <a:r>
              <a:rPr lang="en-IN" b="1" dirty="0" err="1">
                <a:solidFill>
                  <a:srgbClr val="001F5F"/>
                </a:solidFill>
                <a:latin typeface="Arial"/>
                <a:cs typeface="Arial"/>
              </a:rPr>
              <a:t>ukesh</a:t>
            </a: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 Prajapati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0722" y="7993819"/>
            <a:ext cx="2825456" cy="664252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Btech</a:t>
            </a:r>
            <a:r>
              <a:rPr sz="1400" b="1" spc="71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(</a:t>
            </a:r>
            <a:r>
              <a:rPr sz="1400" b="1" spc="-4" dirty="0" err="1">
                <a:solidFill>
                  <a:srgbClr val="001F5F"/>
                </a:solidFill>
                <a:latin typeface="Arial"/>
                <a:cs typeface="Arial"/>
              </a:rPr>
              <a:t>Cse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  Industry integrated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)</a:t>
            </a:r>
            <a:endParaRPr sz="1400" b="1" dirty="0">
              <a:latin typeface="Arial"/>
              <a:cs typeface="Arial"/>
            </a:endParaRPr>
          </a:p>
          <a:p>
            <a:pPr>
              <a:spcBef>
                <a:spcPts val="86"/>
              </a:spcBef>
            </a:pPr>
            <a:endParaRPr sz="1400" b="1" dirty="0">
              <a:latin typeface="Arial"/>
              <a:cs typeface="Arial"/>
            </a:endParaRPr>
          </a:p>
          <a:p>
            <a:pPr marL="5048"/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Roll</a:t>
            </a:r>
            <a:r>
              <a:rPr sz="1400" b="1" spc="94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No</a:t>
            </a:r>
            <a:r>
              <a:rPr sz="1400" b="1" spc="99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13" dirty="0">
                <a:solidFill>
                  <a:srgbClr val="001F5F"/>
                </a:solidFill>
                <a:latin typeface="Arial"/>
                <a:cs typeface="Arial"/>
              </a:rPr>
              <a:t>–</a:t>
            </a:r>
            <a:r>
              <a:rPr sz="1400" b="1" spc="9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202410101230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007</a:t>
            </a:r>
            <a:endParaRPr sz="1400" b="1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1650" y="2770952"/>
            <a:ext cx="6900449" cy="386612"/>
          </a:xfrm>
          <a:prstGeom prst="rect">
            <a:avLst/>
          </a:prstGeom>
        </p:spPr>
        <p:txBody>
          <a:bodyPr vert="horz" wrap="square" lIns="0" tIns="5048" rIns="0" bIns="0" rtlCol="0" anchor="ctr">
            <a:spAutoFit/>
          </a:bodyPr>
          <a:lstStyle/>
          <a:p>
            <a:pPr marL="5048">
              <a:spcBef>
                <a:spcPts val="40"/>
              </a:spcBef>
            </a:pPr>
            <a:r>
              <a:rPr sz="2479" b="1" spc="-74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SHREE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95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RAMSWAROOP</a:t>
            </a:r>
            <a:r>
              <a:rPr sz="2479" b="1" spc="1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117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MEMORIAL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7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UNIVERSITY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93307B-AF8A-69AB-5775-B72EB91AD6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08" y="3676003"/>
            <a:ext cx="1425154" cy="114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076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80"/>
            <a:ext cx="4350385" cy="47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1.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Design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Progress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Update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Form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(JSP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Page)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latin typeface="Calibri"/>
                <a:cs typeface="Calibri"/>
              </a:rPr>
              <a:t>This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JSP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page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allows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view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update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progress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specific</a:t>
            </a:r>
            <a:r>
              <a:rPr sz="1100" spc="-10" dirty="0">
                <a:latin typeface="Calibri"/>
                <a:cs typeface="Calibri"/>
              </a:rPr>
              <a:t> task.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485899"/>
            <a:ext cx="5696584" cy="59916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79321"/>
            <a:ext cx="5154930" cy="664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2.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Develop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Progress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Tracking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Servlet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10000"/>
              </a:lnSpc>
              <a:spcBef>
                <a:spcPts val="805"/>
              </a:spcBef>
            </a:pPr>
            <a:r>
              <a:rPr sz="1100" dirty="0">
                <a:latin typeface="Calibri"/>
                <a:cs typeface="Calibri"/>
              </a:rPr>
              <a:t>This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servlet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processes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progress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update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submission,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updates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task’s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completion percentage,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sets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new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status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accordingly.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240952"/>
            <a:ext cx="5883529" cy="73571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80"/>
            <a:ext cx="4351020" cy="47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3.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Update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Database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Schema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latin typeface="Calibri"/>
                <a:cs typeface="Calibri"/>
              </a:rPr>
              <a:t>Ensure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database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table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includes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columns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tracking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progress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status.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180714"/>
            <a:ext cx="4989195" cy="48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4.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Modify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JPA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Entity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(Task.java)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100" dirty="0">
                <a:latin typeface="Calibri"/>
                <a:cs typeface="Calibri"/>
              </a:rPr>
              <a:t>Update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Task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entity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class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include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new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fields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completion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percentage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status.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485899"/>
            <a:ext cx="3790950" cy="13141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058411"/>
            <a:ext cx="5219700" cy="53582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80"/>
            <a:ext cx="3722370" cy="362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35" indent="-140335">
              <a:lnSpc>
                <a:spcPct val="100000"/>
              </a:lnSpc>
              <a:spcBef>
                <a:spcPts val="100"/>
              </a:spcBef>
              <a:buAutoNum type="arabicPeriod" startAt="5"/>
              <a:tabLst>
                <a:tab pos="153035" algn="l"/>
              </a:tabLst>
            </a:pPr>
            <a:r>
              <a:rPr sz="1100" b="1" dirty="0">
                <a:latin typeface="Calibri"/>
                <a:cs typeface="Calibri"/>
              </a:rPr>
              <a:t>Output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/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Expected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Result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100" b="1" dirty="0">
                <a:latin typeface="Calibri"/>
                <a:cs typeface="Calibri"/>
              </a:rPr>
              <a:t>Browser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View:</a:t>
            </a:r>
            <a:endParaRPr sz="11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JSP</a:t>
            </a:r>
            <a:r>
              <a:rPr sz="1100" spc="-10" dirty="0">
                <a:latin typeface="Calibri"/>
                <a:cs typeface="Calibri"/>
              </a:rPr>
              <a:t> displays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task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title,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current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progress,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status.</a:t>
            </a:r>
            <a:endParaRPr sz="11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numeric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input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allows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enter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progress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(0–100%).</a:t>
            </a:r>
            <a:endParaRPr sz="11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Upon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submission:</a:t>
            </a:r>
            <a:endParaRPr sz="1100">
              <a:latin typeface="Calibri"/>
              <a:cs typeface="Calibri"/>
            </a:endParaRPr>
          </a:p>
          <a:p>
            <a:pPr marL="926465" lvl="2" indent="-228600">
              <a:lnSpc>
                <a:spcPct val="100000"/>
              </a:lnSpc>
              <a:spcBef>
                <a:spcPts val="925"/>
              </a:spcBef>
              <a:buSzPct val="90909"/>
              <a:buFont typeface="Courier New"/>
              <a:buChar char="o"/>
              <a:tabLst>
                <a:tab pos="926465" algn="l"/>
              </a:tabLst>
            </a:pPr>
            <a:r>
              <a:rPr sz="1100" dirty="0">
                <a:latin typeface="Calibri"/>
                <a:cs typeface="Calibri"/>
              </a:rPr>
              <a:t>Status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changes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automatically:</a:t>
            </a:r>
            <a:endParaRPr sz="1100">
              <a:latin typeface="Calibri"/>
              <a:cs typeface="Calibri"/>
            </a:endParaRPr>
          </a:p>
          <a:p>
            <a:pPr marL="1383665" lvl="3" indent="-228600">
              <a:lnSpc>
                <a:spcPct val="100000"/>
              </a:lnSpc>
              <a:spcBef>
                <a:spcPts val="935"/>
              </a:spcBef>
              <a:buSzPct val="90909"/>
              <a:buFont typeface="Wingdings"/>
              <a:buChar char=""/>
              <a:tabLst>
                <a:tab pos="1383665" algn="l"/>
              </a:tabLst>
            </a:pPr>
            <a:r>
              <a:rPr sz="1100" b="1" dirty="0">
                <a:latin typeface="Calibri"/>
                <a:cs typeface="Calibri"/>
              </a:rPr>
              <a:t>0%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→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Not</a:t>
            </a:r>
            <a:r>
              <a:rPr sz="1100" b="1" spc="-10" dirty="0">
                <a:latin typeface="Calibri"/>
                <a:cs typeface="Calibri"/>
              </a:rPr>
              <a:t> Started</a:t>
            </a:r>
            <a:endParaRPr sz="1100">
              <a:latin typeface="Calibri"/>
              <a:cs typeface="Calibri"/>
            </a:endParaRPr>
          </a:p>
          <a:p>
            <a:pPr marL="1383665" lvl="3" indent="-228600">
              <a:lnSpc>
                <a:spcPct val="100000"/>
              </a:lnSpc>
              <a:spcBef>
                <a:spcPts val="925"/>
              </a:spcBef>
              <a:buSzPct val="90909"/>
              <a:buFont typeface="Wingdings"/>
              <a:buChar char=""/>
              <a:tabLst>
                <a:tab pos="1383665" algn="l"/>
              </a:tabLst>
            </a:pPr>
            <a:r>
              <a:rPr sz="1100" b="1" dirty="0">
                <a:latin typeface="Calibri"/>
                <a:cs typeface="Calibri"/>
              </a:rPr>
              <a:t>1–99%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→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In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Progress</a:t>
            </a:r>
            <a:endParaRPr sz="1100">
              <a:latin typeface="Calibri"/>
              <a:cs typeface="Calibri"/>
            </a:endParaRPr>
          </a:p>
          <a:p>
            <a:pPr marL="1383665" lvl="3" indent="-228600">
              <a:lnSpc>
                <a:spcPct val="100000"/>
              </a:lnSpc>
              <a:spcBef>
                <a:spcPts val="925"/>
              </a:spcBef>
              <a:buSzPct val="90909"/>
              <a:buFont typeface="Wingdings"/>
              <a:buChar char=""/>
              <a:tabLst>
                <a:tab pos="1383665" algn="l"/>
              </a:tabLst>
            </a:pPr>
            <a:r>
              <a:rPr sz="1100" b="1" dirty="0">
                <a:latin typeface="Calibri"/>
                <a:cs typeface="Calibri"/>
              </a:rPr>
              <a:t>100%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→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Completed</a:t>
            </a:r>
            <a:endParaRPr sz="1100">
              <a:latin typeface="Calibri"/>
              <a:cs typeface="Calibri"/>
            </a:endParaRPr>
          </a:p>
          <a:p>
            <a:pPr marL="926465" lvl="2" indent="-228600">
              <a:lnSpc>
                <a:spcPct val="100000"/>
              </a:lnSpc>
              <a:spcBef>
                <a:spcPts val="935"/>
              </a:spcBef>
              <a:buSzPct val="90909"/>
              <a:buFont typeface="Courier New"/>
              <a:buChar char="o"/>
              <a:tabLst>
                <a:tab pos="926465" algn="l"/>
              </a:tabLst>
            </a:pPr>
            <a:r>
              <a:rPr sz="1100" dirty="0">
                <a:latin typeface="Calibri"/>
                <a:cs typeface="Calibri"/>
              </a:rPr>
              <a:t>Data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saved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database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via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JPA.</a:t>
            </a:r>
            <a:endParaRPr sz="1100">
              <a:latin typeface="Calibri"/>
              <a:cs typeface="Calibri"/>
            </a:endParaRPr>
          </a:p>
          <a:p>
            <a:pPr marL="926465" lvl="2" indent="-228600">
              <a:lnSpc>
                <a:spcPct val="100000"/>
              </a:lnSpc>
              <a:spcBef>
                <a:spcPts val="925"/>
              </a:spcBef>
              <a:buSzPct val="90909"/>
              <a:buFont typeface="Courier New"/>
              <a:buChar char="o"/>
              <a:tabLst>
                <a:tab pos="926465" algn="l"/>
              </a:tabLst>
            </a:pPr>
            <a:r>
              <a:rPr sz="1100" spc="-10" dirty="0">
                <a:latin typeface="Calibri"/>
                <a:cs typeface="Calibri"/>
              </a:rPr>
              <a:t>Redirects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task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page.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Calibri"/>
                <a:cs typeface="Calibri"/>
              </a:rPr>
              <a:t>Example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UI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(Simulation):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009256"/>
            <a:ext cx="101282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After</a:t>
            </a:r>
            <a:r>
              <a:rPr sz="11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submission: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8305038"/>
            <a:ext cx="14039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When</a:t>
            </a:r>
            <a:r>
              <a:rPr sz="11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updated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1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100%: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4627625"/>
            <a:ext cx="2543175" cy="19907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7314183"/>
            <a:ext cx="1990725" cy="6000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" y="8610624"/>
            <a:ext cx="1647825" cy="561568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213</Words>
  <Application>Microsoft Office PowerPoint</Application>
  <PresentationFormat>Custom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Arial</vt:lpstr>
      <vt:lpstr>Arial Black</vt:lpstr>
      <vt:lpstr>Calibri</vt:lpstr>
      <vt:lpstr>Carlito</vt:lpstr>
      <vt:lpstr>Century Gothic</vt:lpstr>
      <vt:lpstr>Courier New</vt:lpstr>
      <vt:lpstr>Symbol</vt:lpstr>
      <vt:lpstr>Wingdings</vt:lpstr>
      <vt:lpstr>Wingdings 3</vt:lpstr>
      <vt:lpstr>Ion</vt:lpstr>
      <vt:lpstr>SHREE RAMSWAROOP MEMORIAL UNIVERSITY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guptashrijaya@gmail.com</dc:creator>
  <cp:lastModifiedBy>acer</cp:lastModifiedBy>
  <cp:revision>1</cp:revision>
  <dcterms:created xsi:type="dcterms:W3CDTF">2025-10-31T20:27:12Z</dcterms:created>
  <dcterms:modified xsi:type="dcterms:W3CDTF">2025-11-03T19:13:17Z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2025-10-23T00:00:00Z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2025-10-31T00:00:00Z</vt:filetime>
  </property>
  <property fmtid="{D5CDD505-2E9C-101B-9397-08002B2CF9AE}" pid="5" name="Producer">
    <vt:lpwstr>3-Heights(TM) PDF Security Shell 4.8.25.2 (http://www.pdf-tools.com)</vt:lpwstr>
  </property>
</Properties>
</file>