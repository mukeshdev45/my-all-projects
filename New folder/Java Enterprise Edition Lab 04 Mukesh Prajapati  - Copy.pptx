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6" r:id="rId1"/>
  </p:sldMasterIdLst>
  <p:sldIdLst>
    <p:sldId id="274" r:id="rId2"/>
    <p:sldId id="257" r:id="rId3"/>
    <p:sldId id="258" r:id="rId4"/>
    <p:sldId id="259" r:id="rId5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296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60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40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21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13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4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8669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403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75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26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913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22742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196758" y="5880238"/>
            <a:ext cx="4513041" cy="53353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2550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518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6460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063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83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86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831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</p:sldLayoutIdLst>
  <p:txStyles>
    <p:titleStyle>
      <a:lvl1pPr algn="l" defTabSz="377836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8" indent="-28337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84" indent="-23614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92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28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63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100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936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73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609" indent="-188918" algn="l" defTabSz="377836" rtl="0" eaLnBrk="1" latinLnBrk="0" hangingPunct="1">
        <a:spcBef>
          <a:spcPts val="826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6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73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508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46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82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018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54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91" algn="l" defTabSz="377836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Assignment:-4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</a:t>
            </a:r>
            <a:r>
              <a:rPr lang="en-IN" sz="1400" b="1" u="sng" spc="-4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- 04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773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Step</a:t>
            </a:r>
            <a:r>
              <a:rPr spc="-55" dirty="0"/>
              <a:t> </a:t>
            </a:r>
            <a:r>
              <a:rPr dirty="0"/>
              <a:t>1:</a:t>
            </a:r>
            <a:r>
              <a:rPr spc="-50" dirty="0"/>
              <a:t> </a:t>
            </a:r>
            <a:r>
              <a:rPr spc="-10" dirty="0"/>
              <a:t>Configure</a:t>
            </a:r>
            <a:r>
              <a:rPr spc="-6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dirty="0"/>
              <a:t>Data</a:t>
            </a:r>
            <a:r>
              <a:rPr spc="-50" dirty="0"/>
              <a:t> </a:t>
            </a:r>
            <a:r>
              <a:rPr dirty="0"/>
              <a:t>Source</a:t>
            </a:r>
            <a:r>
              <a:rPr spc="-50" dirty="0"/>
              <a:t> </a:t>
            </a:r>
            <a:r>
              <a:rPr dirty="0"/>
              <a:t>in</a:t>
            </a:r>
            <a:r>
              <a:rPr spc="-60" dirty="0"/>
              <a:t> </a:t>
            </a:r>
            <a:r>
              <a:rPr spc="-10" dirty="0"/>
              <a:t>Tomcat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3655"/>
            <a:ext cx="5744845" cy="116967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b="1" i="1" dirty="0">
                <a:latin typeface="Calibri"/>
                <a:cs typeface="Calibri"/>
              </a:rPr>
              <a:t>Locate</a:t>
            </a:r>
            <a:r>
              <a:rPr sz="1600" b="1" i="1" spc="-40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the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Context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b="1" i="1" spc="-10" dirty="0">
                <a:latin typeface="Calibri"/>
                <a:cs typeface="Calibri"/>
              </a:rPr>
              <a:t>Configuration</a:t>
            </a:r>
            <a:r>
              <a:rPr sz="1600" b="1" i="1" spc="-45" dirty="0">
                <a:latin typeface="Calibri"/>
                <a:cs typeface="Calibri"/>
              </a:rPr>
              <a:t> </a:t>
            </a:r>
            <a:r>
              <a:rPr sz="1600" b="1" i="1" spc="-20" dirty="0">
                <a:latin typeface="Calibri"/>
                <a:cs typeface="Calibri"/>
              </a:rPr>
              <a:t>File: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10000"/>
              </a:lnSpc>
            </a:pP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context.xml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file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located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either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conf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directory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20" dirty="0">
                <a:latin typeface="Calibri"/>
                <a:cs typeface="Calibri"/>
              </a:rPr>
              <a:t>Tomcat </a:t>
            </a:r>
            <a:r>
              <a:rPr sz="1600" i="1" spc="-25" dirty="0">
                <a:latin typeface="Calibri"/>
                <a:cs typeface="Calibri"/>
              </a:rPr>
              <a:t>or </a:t>
            </a:r>
            <a:r>
              <a:rPr sz="1600" i="1" dirty="0">
                <a:latin typeface="Calibri"/>
                <a:cs typeface="Calibri"/>
              </a:rPr>
              <a:t>inside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50" dirty="0">
                <a:latin typeface="Calibri"/>
                <a:cs typeface="Calibri"/>
              </a:rPr>
              <a:t>META-</a:t>
            </a:r>
            <a:r>
              <a:rPr sz="1600" i="1" dirty="0">
                <a:latin typeface="Calibri"/>
                <a:cs typeface="Calibri"/>
              </a:rPr>
              <a:t>INF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folder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of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your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web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application.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5"/>
              </a:spcBef>
            </a:pPr>
            <a:r>
              <a:rPr sz="1400" b="1" dirty="0">
                <a:latin typeface="Calibri"/>
                <a:cs typeface="Calibri"/>
              </a:rPr>
              <a:t>Add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the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Resource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Configuration: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832859"/>
            <a:ext cx="5731509" cy="37387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40611"/>
            <a:ext cx="5431155" cy="161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200" b="1" dirty="0">
                <a:latin typeface="Calibri"/>
                <a:cs typeface="Calibri"/>
              </a:rPr>
              <a:t>Step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2: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Integrate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Data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Source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with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the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Java </a:t>
            </a:r>
            <a:r>
              <a:rPr sz="2200" b="1" dirty="0">
                <a:latin typeface="Calibri"/>
                <a:cs typeface="Calibri"/>
              </a:rPr>
              <a:t>EE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Application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i="1" dirty="0">
                <a:latin typeface="Calibri"/>
                <a:cs typeface="Calibri"/>
              </a:rPr>
              <a:t>Update</a:t>
            </a:r>
            <a:r>
              <a:rPr sz="1600" i="1" spc="-8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persistence.xml: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2004" y="6224396"/>
            <a:ext cx="29159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dirty="0">
                <a:latin typeface="Calibri"/>
                <a:cs typeface="Calibri"/>
              </a:rPr>
              <a:t>Use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JNDI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Lookup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in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Your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Java</a:t>
            </a:r>
            <a:r>
              <a:rPr sz="1600" i="1" spc="-3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Code: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531615"/>
            <a:ext cx="5731509" cy="174243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984618"/>
            <a:ext cx="5731509" cy="13011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89761"/>
            <a:ext cx="41351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3:</a:t>
            </a:r>
            <a:r>
              <a:rPr sz="2200" spc="-50" dirty="0">
                <a:latin typeface="Calibri"/>
                <a:cs typeface="Calibri"/>
              </a:rPr>
              <a:t> Test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Verify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Configuration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0604" y="1812391"/>
            <a:ext cx="4883785" cy="233616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6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sz="1400" b="1" i="1" dirty="0">
                <a:latin typeface="Calibri"/>
                <a:cs typeface="Calibri"/>
              </a:rPr>
              <a:t>Deploy</a:t>
            </a:r>
            <a:r>
              <a:rPr sz="1400" b="1" i="1" spc="-45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the</a:t>
            </a:r>
            <a:r>
              <a:rPr sz="1400" b="1" i="1" spc="-3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Application:</a:t>
            </a:r>
            <a:endParaRPr sz="1400" dirty="0">
              <a:latin typeface="Calibri"/>
              <a:cs typeface="Calibri"/>
            </a:endParaRPr>
          </a:p>
          <a:p>
            <a:pPr marL="240665" marR="856615">
              <a:lnSpc>
                <a:spcPct val="109300"/>
              </a:lnSpc>
              <a:spcBef>
                <a:spcPts val="10"/>
              </a:spcBef>
            </a:pPr>
            <a:r>
              <a:rPr sz="1400" i="1" spc="-10" dirty="0">
                <a:latin typeface="Calibri"/>
                <a:cs typeface="Calibri"/>
              </a:rPr>
              <a:t>Upload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your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web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app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Tomcat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and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start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server. </a:t>
            </a:r>
            <a:r>
              <a:rPr sz="1400" i="1" dirty="0">
                <a:latin typeface="Calibri"/>
                <a:cs typeface="Calibri"/>
              </a:rPr>
              <a:t>Check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catalina.out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logs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for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any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datasource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errors.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7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sz="1400" b="1" i="1" spc="-10" dirty="0">
                <a:latin typeface="Calibri"/>
                <a:cs typeface="Calibri"/>
              </a:rPr>
              <a:t>Verify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Database</a:t>
            </a:r>
            <a:r>
              <a:rPr sz="1400" b="1" i="1" spc="-5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Calibri"/>
                <a:cs typeface="Calibri"/>
              </a:rPr>
              <a:t>Connectivity:</a:t>
            </a:r>
            <a:endParaRPr sz="1400" dirty="0">
              <a:latin typeface="Calibri"/>
              <a:cs typeface="Calibri"/>
            </a:endParaRPr>
          </a:p>
          <a:p>
            <a:pPr marL="240665" marR="5080">
              <a:lnSpc>
                <a:spcPct val="108600"/>
              </a:lnSpc>
              <a:spcBef>
                <a:spcPts val="25"/>
              </a:spcBef>
            </a:pPr>
            <a:r>
              <a:rPr sz="1400" i="1" dirty="0">
                <a:latin typeface="Calibri"/>
                <a:cs typeface="Calibri"/>
              </a:rPr>
              <a:t>Run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feature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that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connects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to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database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(like</a:t>
            </a:r>
            <a:r>
              <a:rPr sz="1400" i="1" spc="-30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fetching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tasks). </a:t>
            </a:r>
            <a:r>
              <a:rPr sz="1400" i="1" dirty="0">
                <a:latin typeface="Calibri"/>
                <a:cs typeface="Calibri"/>
              </a:rPr>
              <a:t>If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successful,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the</a:t>
            </a:r>
            <a:r>
              <a:rPr sz="1400" i="1" spc="-2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data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source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is</a:t>
            </a:r>
            <a:r>
              <a:rPr sz="1400" i="1" spc="-10" dirty="0">
                <a:latin typeface="Calibri"/>
                <a:cs typeface="Calibri"/>
              </a:rPr>
              <a:t> configured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properly.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98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sz="1400" b="1" i="1" dirty="0">
                <a:latin typeface="Calibri"/>
                <a:cs typeface="Calibri"/>
              </a:rPr>
              <a:t>Monitor</a:t>
            </a:r>
            <a:r>
              <a:rPr sz="1400" b="1" i="1" spc="-60" dirty="0">
                <a:latin typeface="Calibri"/>
                <a:cs typeface="Calibri"/>
              </a:rPr>
              <a:t> </a:t>
            </a:r>
            <a:r>
              <a:rPr sz="1400" b="1" i="1" dirty="0">
                <a:latin typeface="Calibri"/>
                <a:cs typeface="Calibri"/>
              </a:rPr>
              <a:t>Connection</a:t>
            </a:r>
            <a:r>
              <a:rPr sz="1400" b="1" i="1" spc="-70" dirty="0">
                <a:latin typeface="Calibri"/>
                <a:cs typeface="Calibri"/>
              </a:rPr>
              <a:t> </a:t>
            </a:r>
            <a:r>
              <a:rPr sz="1400" b="1" i="1" spc="-20" dirty="0">
                <a:latin typeface="Calibri"/>
                <a:cs typeface="Calibri"/>
              </a:rPr>
              <a:t>Pool:</a:t>
            </a:r>
            <a:endParaRPr sz="1400" dirty="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70"/>
              </a:spcBef>
            </a:pPr>
            <a:r>
              <a:rPr sz="1400" i="1" dirty="0">
                <a:latin typeface="Calibri"/>
                <a:cs typeface="Calibri"/>
              </a:rPr>
              <a:t>Check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how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Tomcat</a:t>
            </a:r>
            <a:r>
              <a:rPr sz="1400" i="1" spc="-5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manages</a:t>
            </a:r>
            <a:r>
              <a:rPr sz="1400" i="1" spc="-4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connections.</a:t>
            </a:r>
            <a:endParaRPr sz="1400" dirty="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spcBef>
                <a:spcPts val="140"/>
              </a:spcBef>
            </a:pPr>
            <a:r>
              <a:rPr sz="1400" i="1" spc="-10" dirty="0">
                <a:latin typeface="Calibri"/>
                <a:cs typeface="Calibri"/>
              </a:rPr>
              <a:t>Adjust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parameters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like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20" dirty="0">
                <a:latin typeface="Calibri"/>
                <a:cs typeface="Calibri"/>
              </a:rPr>
              <a:t>maxTotal,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maxIdle,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etc.,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if</a:t>
            </a:r>
            <a:r>
              <a:rPr sz="1400" i="1" spc="-3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needed.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004" y="5956172"/>
            <a:ext cx="4519295" cy="1581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Step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4: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Review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Optimize</a:t>
            </a:r>
            <a:endParaRPr sz="22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90"/>
              </a:spcBef>
            </a:pPr>
            <a:endParaRPr sz="22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1600" i="1" spc="-10" dirty="0">
                <a:latin typeface="Calibri"/>
                <a:cs typeface="Calibri"/>
              </a:rPr>
              <a:t>Tune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connection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pool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settings</a:t>
            </a:r>
            <a:r>
              <a:rPr sz="1600" i="1" spc="-6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performance.</a:t>
            </a:r>
            <a:endParaRPr sz="16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94"/>
              </a:spcBef>
              <a:buSzPct val="62500"/>
              <a:buFont typeface="Symbol"/>
              <a:buChar char=""/>
              <a:tabLst>
                <a:tab pos="469265" algn="l"/>
              </a:tabLst>
            </a:pPr>
            <a:r>
              <a:rPr sz="1600" i="1" spc="-10" dirty="0">
                <a:latin typeface="Calibri"/>
                <a:cs typeface="Calibri"/>
              </a:rPr>
              <a:t>Document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all</a:t>
            </a:r>
            <a:r>
              <a:rPr sz="1600" i="1" spc="-2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configuration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details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future</a:t>
            </a:r>
            <a:r>
              <a:rPr sz="1600" i="1" spc="-20" dirty="0">
                <a:latin typeface="Calibri"/>
                <a:cs typeface="Calibri"/>
              </a:rPr>
              <a:t> use.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6096" y="7999704"/>
            <a:ext cx="5071110" cy="1709166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208</Words>
  <Application>Microsoft Office PowerPoint</Application>
  <PresentationFormat>Custom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Carlito</vt:lpstr>
      <vt:lpstr>Century Gothic</vt:lpstr>
      <vt:lpstr>Symbol</vt:lpstr>
      <vt:lpstr>Wingdings 3</vt:lpstr>
      <vt:lpstr>Ion</vt:lpstr>
      <vt:lpstr>SHREE RAMSWAROOP MEMORIAL UNIVERSITY</vt:lpstr>
      <vt:lpstr>Step 1: Configure the Data Source in Tomcat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2025-10-31T05:03:05Z</dcterms:created>
  <dcterms:modified xsi:type="dcterms:W3CDTF">2025-11-03T18:21:21Z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