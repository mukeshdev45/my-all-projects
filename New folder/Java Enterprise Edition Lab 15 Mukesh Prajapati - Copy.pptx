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74" r:id="rId2"/>
    <p:sldId id="257" r:id="rId3"/>
    <p:sldId id="258" r:id="rId4"/>
    <p:sldId id="259" r:id="rId5"/>
    <p:sldId id="260" r:id="rId6"/>
    <p:sldId id="261" r:id="rId7"/>
  </p:sldIdLst>
  <p:sldSz cx="7556500" cy="10693400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944" y="2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6018" y="2257498"/>
            <a:ext cx="5471494" cy="5191680"/>
          </a:xfrm>
        </p:spPr>
        <p:txBody>
          <a:bodyPr anchor="b"/>
          <a:lstStyle>
            <a:lvl1pPr>
              <a:defRPr sz="59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6018" y="7449174"/>
            <a:ext cx="5471494" cy="1343177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377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55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334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8891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266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6448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0226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550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110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4462186"/>
            <a:ext cx="5471494" cy="2986990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all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041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002" y="3212973"/>
            <a:ext cx="2725524" cy="6542282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05521" y="3205983"/>
            <a:ext cx="2725526" cy="6549271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07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2970389"/>
            <a:ext cx="272552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00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505522" y="2970389"/>
            <a:ext cx="2725524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505522" y="3920913"/>
            <a:ext cx="2725524" cy="5834340"/>
          </a:xfrm>
        </p:spPr>
        <p:txBody>
          <a:bodyPr>
            <a:normAutofit/>
          </a:bodyPr>
          <a:lstStyle>
            <a:lvl1pPr>
              <a:defRPr sz="1488"/>
            </a:lvl1pPr>
            <a:lvl2pPr>
              <a:defRPr sz="1322"/>
            </a:lvl2pPr>
            <a:lvl3pPr>
              <a:defRPr sz="1157"/>
            </a:lvl3pPr>
            <a:lvl4pPr>
              <a:defRPr sz="992"/>
            </a:lvl4pPr>
            <a:lvl5pPr>
              <a:defRPr sz="992"/>
            </a:lvl5pPr>
            <a:lvl6pPr>
              <a:defRPr sz="992"/>
            </a:lvl6pPr>
            <a:lvl7pPr>
              <a:defRPr sz="992"/>
            </a:lvl7pPr>
            <a:lvl8pPr>
              <a:defRPr sz="992"/>
            </a:lvl8pPr>
            <a:lvl9pPr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5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957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88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7" y="2257495"/>
            <a:ext cx="2108500" cy="2257496"/>
          </a:xfrm>
        </p:spPr>
        <p:txBody>
          <a:bodyPr anchor="b"/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66238" y="2257496"/>
            <a:ext cx="3221275" cy="7128933"/>
          </a:xfrm>
        </p:spPr>
        <p:txBody>
          <a:bodyPr anchor="ctr">
            <a:normAutofit/>
          </a:bodyPr>
          <a:lstStyle>
            <a:lvl1pPr>
              <a:defRPr sz="1653"/>
            </a:lvl1pPr>
            <a:lvl2pPr>
              <a:defRPr sz="1488"/>
            </a:lvl2pPr>
            <a:lvl3pPr>
              <a:defRPr sz="1322"/>
            </a:lvl3pPr>
            <a:lvl4pPr>
              <a:defRPr sz="1157"/>
            </a:lvl4pPr>
            <a:lvl5pPr>
              <a:defRPr sz="1157"/>
            </a:lvl5pPr>
            <a:lvl6pPr>
              <a:defRPr sz="1157"/>
            </a:lvl6pPr>
            <a:lvl7pPr>
              <a:defRPr sz="1157"/>
            </a:lvl7pPr>
            <a:lvl8pPr>
              <a:defRPr sz="1157"/>
            </a:lvl8pPr>
            <a:lvl9pPr>
              <a:defRPr sz="115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4879361"/>
            <a:ext cx="2108500" cy="4514990"/>
          </a:xfrm>
        </p:spPr>
        <p:txBody>
          <a:bodyPr/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0883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68" y="2891166"/>
            <a:ext cx="3157363" cy="2455534"/>
          </a:xfrm>
        </p:spPr>
        <p:txBody>
          <a:bodyPr anchor="b">
            <a:normAutofit/>
          </a:bodyPr>
          <a:lstStyle>
            <a:lvl1pPr algn="l">
              <a:defRPr sz="2975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08393" y="1782234"/>
            <a:ext cx="1984098" cy="7128933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7" y="5703147"/>
            <a:ext cx="3152449" cy="2138680"/>
          </a:xfrm>
        </p:spPr>
        <p:txBody>
          <a:bodyPr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02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9" y="7485360"/>
            <a:ext cx="5471494" cy="883691"/>
          </a:xfrm>
        </p:spPr>
        <p:txBody>
          <a:bodyPr anchor="b">
            <a:normAutofit/>
          </a:bodyPr>
          <a:lstStyle>
            <a:lvl1pPr algn="l">
              <a:defRPr sz="1983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16018" y="1069340"/>
            <a:ext cx="5471494" cy="56767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9" y="8369051"/>
            <a:ext cx="5471493" cy="769825"/>
          </a:xfrm>
        </p:spPr>
        <p:txBody>
          <a:bodyPr>
            <a:normAutofit/>
          </a:bodyPr>
          <a:lstStyle>
            <a:lvl1pPr marL="0" indent="0">
              <a:buNone/>
              <a:defRPr sz="992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88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2257496"/>
            <a:ext cx="5471494" cy="3089204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5703147"/>
            <a:ext cx="5471494" cy="368328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14789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6304" y="2257496"/>
            <a:ext cx="4959200" cy="3613816"/>
          </a:xfrm>
        </p:spPr>
        <p:txBody>
          <a:bodyPr/>
          <a:lstStyle>
            <a:lvl1pPr>
              <a:defRPr sz="39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02008" y="5871311"/>
            <a:ext cx="4503713" cy="533538"/>
          </a:xfrm>
        </p:spPr>
        <p:txBody>
          <a:bodyPr anchor="t">
            <a:normAutofit/>
          </a:bodyPr>
          <a:lstStyle>
            <a:lvl1pPr marL="0" indent="0">
              <a:buNone/>
              <a:defRPr lang="en-US" sz="1157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716018" y="6783802"/>
            <a:ext cx="5471494" cy="2613942"/>
          </a:xfrm>
        </p:spPr>
        <p:txBody>
          <a:bodyPr anchor="ctr">
            <a:normAutofit/>
          </a:bodyPr>
          <a:lstStyle>
            <a:lvl1pPr marL="0" indent="0">
              <a:buNone/>
              <a:defRPr sz="1488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556901" y="1514435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4467" y="4075572"/>
            <a:ext cx="497148" cy="1643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0082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9171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6018" y="4871439"/>
            <a:ext cx="5471495" cy="2577736"/>
          </a:xfrm>
        </p:spPr>
        <p:txBody>
          <a:bodyPr anchor="b"/>
          <a:lstStyle>
            <a:lvl1pPr algn="l">
              <a:defRPr sz="3306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6018" y="7449175"/>
            <a:ext cx="5471494" cy="1341587"/>
          </a:xfrm>
        </p:spPr>
        <p:txBody>
          <a:bodyPr anchor="t"/>
          <a:lstStyle>
            <a:lvl1pPr marL="0" indent="0" algn="l">
              <a:buNone/>
              <a:defRPr sz="1653" cap="none">
                <a:solidFill>
                  <a:schemeClr val="accent1"/>
                </a:solidFill>
              </a:defRPr>
            </a:lvl1pPr>
            <a:lvl2pPr marL="37783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2pPr>
            <a:lvl3pPr marL="755660" indent="0">
              <a:buNone/>
              <a:defRPr sz="1322">
                <a:solidFill>
                  <a:schemeClr val="tx1">
                    <a:tint val="75000"/>
                  </a:schemeClr>
                </a:solidFill>
              </a:defRPr>
            </a:lvl3pPr>
            <a:lvl4pPr marL="113349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4pPr>
            <a:lvl5pPr marL="151132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5pPr>
            <a:lvl6pPr marL="188915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6pPr>
            <a:lvl7pPr marL="2266980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7pPr>
            <a:lvl8pPr marL="264481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8pPr>
            <a:lvl9pPr marL="3022641" indent="0">
              <a:buNone/>
              <a:defRPr sz="11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258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98" y="3089204"/>
            <a:ext cx="1826919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04497" y="4158544"/>
            <a:ext cx="1814819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07688" y="3089204"/>
            <a:ext cx="1820331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401144" y="4158544"/>
            <a:ext cx="1826874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3089204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4416980" y="4158544"/>
            <a:ext cx="1817773" cy="5596709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097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4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4497" y="6628332"/>
            <a:ext cx="182269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04497" y="3445651"/>
            <a:ext cx="182269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04497" y="7526876"/>
            <a:ext cx="1822693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411231" y="6628332"/>
            <a:ext cx="1816788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411230" y="3445651"/>
            <a:ext cx="1816788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410391" y="7526874"/>
            <a:ext cx="1819194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416980" y="6628332"/>
            <a:ext cx="1817773" cy="898542"/>
          </a:xfrm>
        </p:spPr>
        <p:txBody>
          <a:bodyPr anchor="b">
            <a:noAutofit/>
          </a:bodyPr>
          <a:lstStyle>
            <a:lvl1pPr marL="0" indent="0">
              <a:buNone/>
              <a:defRPr sz="1983" b="0">
                <a:solidFill>
                  <a:schemeClr val="accent1"/>
                </a:solidFill>
              </a:defRPr>
            </a:lvl1pPr>
            <a:lvl2pPr marL="377830" indent="0">
              <a:buNone/>
              <a:defRPr sz="1653" b="1"/>
            </a:lvl2pPr>
            <a:lvl3pPr marL="755660" indent="0">
              <a:buNone/>
              <a:defRPr sz="1488" b="1"/>
            </a:lvl3pPr>
            <a:lvl4pPr marL="1133490" indent="0">
              <a:buNone/>
              <a:defRPr sz="1322" b="1"/>
            </a:lvl4pPr>
            <a:lvl5pPr marL="1511320" indent="0">
              <a:buNone/>
              <a:defRPr sz="1322" b="1"/>
            </a:lvl5pPr>
            <a:lvl6pPr marL="1889150" indent="0">
              <a:buNone/>
              <a:defRPr sz="1322" b="1"/>
            </a:lvl6pPr>
            <a:lvl7pPr marL="2266980" indent="0">
              <a:buNone/>
              <a:defRPr sz="1322" b="1"/>
            </a:lvl7pPr>
            <a:lvl8pPr marL="2644811" indent="0">
              <a:buNone/>
              <a:defRPr sz="1322" b="1"/>
            </a:lvl8pPr>
            <a:lvl9pPr marL="3022641" indent="0">
              <a:buNone/>
              <a:defRPr sz="132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4416979" y="3445651"/>
            <a:ext cx="1817773" cy="237631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322"/>
            </a:lvl1pPr>
            <a:lvl2pPr marL="377830" indent="0">
              <a:buNone/>
              <a:defRPr sz="1322"/>
            </a:lvl2pPr>
            <a:lvl3pPr marL="755660" indent="0">
              <a:buNone/>
              <a:defRPr sz="1322"/>
            </a:lvl3pPr>
            <a:lvl4pPr marL="1133490" indent="0">
              <a:buNone/>
              <a:defRPr sz="1322"/>
            </a:lvl4pPr>
            <a:lvl5pPr marL="1511320" indent="0">
              <a:buNone/>
              <a:defRPr sz="1322"/>
            </a:lvl5pPr>
            <a:lvl6pPr marL="1889150" indent="0">
              <a:buNone/>
              <a:defRPr sz="1322"/>
            </a:lvl6pPr>
            <a:lvl7pPr marL="2266980" indent="0">
              <a:buNone/>
              <a:defRPr sz="1322"/>
            </a:lvl7pPr>
            <a:lvl8pPr marL="2644811" indent="0">
              <a:buNone/>
              <a:defRPr sz="1322"/>
            </a:lvl8pPr>
            <a:lvl9pPr marL="3022641" indent="0">
              <a:buNone/>
              <a:defRPr sz="132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4416904" y="7526871"/>
            <a:ext cx="1820180" cy="1027847"/>
          </a:xfrm>
        </p:spPr>
        <p:txBody>
          <a:bodyPr anchor="t">
            <a:normAutofit/>
          </a:bodyPr>
          <a:lstStyle>
            <a:lvl1pPr marL="0" indent="0">
              <a:buNone/>
              <a:defRPr sz="1157"/>
            </a:lvl1pPr>
            <a:lvl2pPr marL="377830" indent="0">
              <a:buNone/>
              <a:defRPr sz="992"/>
            </a:lvl2pPr>
            <a:lvl3pPr marL="755660" indent="0">
              <a:buNone/>
              <a:defRPr sz="826"/>
            </a:lvl3pPr>
            <a:lvl4pPr marL="1133490" indent="0">
              <a:buNone/>
              <a:defRPr sz="744"/>
            </a:lvl4pPr>
            <a:lvl5pPr marL="1511320" indent="0">
              <a:buNone/>
              <a:defRPr sz="744"/>
            </a:lvl5pPr>
            <a:lvl6pPr marL="1889150" indent="0">
              <a:buNone/>
              <a:defRPr sz="744"/>
            </a:lvl6pPr>
            <a:lvl7pPr marL="2266980" indent="0">
              <a:buNone/>
              <a:defRPr sz="744"/>
            </a:lvl7pPr>
            <a:lvl8pPr marL="2644811" indent="0">
              <a:buNone/>
              <a:defRPr sz="744"/>
            </a:lvl8pPr>
            <a:lvl9pPr marL="3022641" indent="0">
              <a:buNone/>
              <a:defRPr sz="74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310033" y="3326836"/>
            <a:ext cx="0" cy="617840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316254" y="3326836"/>
            <a:ext cx="0" cy="6185397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867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105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48223" y="670816"/>
            <a:ext cx="1086530" cy="908443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497" y="1205627"/>
            <a:ext cx="4602004" cy="8549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354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5205781" y="2613942"/>
            <a:ext cx="2329921" cy="439617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4702014" y="-712894"/>
            <a:ext cx="1322388" cy="2495127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73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5205781" y="9505245"/>
            <a:ext cx="818621" cy="154460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4000"/>
                </a:schemeClr>
              </a:gs>
              <a:gs pos="66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27254" y="4158544"/>
            <a:ext cx="3463396" cy="6534856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11000"/>
                </a:schemeClr>
              </a:gs>
              <a:gs pos="75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693992" y="4514991"/>
            <a:ext cx="1952096" cy="3683282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8000"/>
                </a:schemeClr>
              </a:gs>
              <a:gs pos="72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6400914" y="0"/>
            <a:ext cx="566738" cy="17143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0559" y="705905"/>
            <a:ext cx="5830488" cy="218378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002" y="3201043"/>
            <a:ext cx="5546436" cy="6541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5830786" y="2935318"/>
            <a:ext cx="1544601" cy="188961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3736795" y="5172231"/>
            <a:ext cx="6018421" cy="188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9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18093" y="461130"/>
            <a:ext cx="519644" cy="119702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315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37949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377830" rtl="0" eaLnBrk="1" latinLnBrk="0" hangingPunct="1">
        <a:spcBef>
          <a:spcPct val="0"/>
        </a:spcBef>
        <a:buNone/>
        <a:defRPr sz="3471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3373" indent="-283373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53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613974" indent="-236144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88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94457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2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32240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170023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078065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45589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283372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211556" indent="-188915" algn="l" defTabSz="377830" rtl="0" eaLnBrk="1" latinLnBrk="0" hangingPunct="1">
        <a:spcBef>
          <a:spcPts val="826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57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83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66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49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32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15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6980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481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2641" algn="l" defTabSz="377830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8149" y="684175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to: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8149" y="7327900"/>
            <a:ext cx="2156212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Vidushi Srivastava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1086" y="5066199"/>
            <a:ext cx="3439272" cy="632373"/>
          </a:xfrm>
          <a:prstGeom prst="rect">
            <a:avLst/>
          </a:prstGeom>
        </p:spPr>
        <p:txBody>
          <a:bodyPr vert="horz" wrap="square" lIns="0" tIns="57297" rIns="0" bIns="0" rtlCol="0">
            <a:spAutoFit/>
          </a:bodyPr>
          <a:lstStyle/>
          <a:p>
            <a:pPr marL="53256">
              <a:spcBef>
                <a:spcPts val="451"/>
              </a:spcBef>
            </a:pPr>
            <a:r>
              <a:rPr lang="en-IN" sz="2000" b="1" dirty="0">
                <a:solidFill>
                  <a:srgbClr val="C45811"/>
                </a:solidFill>
                <a:latin typeface="Arial"/>
                <a:cs typeface="Arial"/>
              </a:rPr>
              <a:t>    Assignment:-15</a:t>
            </a:r>
            <a:endParaRPr sz="2000" dirty="0">
              <a:latin typeface="Arial"/>
              <a:cs typeface="Arial"/>
            </a:endParaRPr>
          </a:p>
          <a:p>
            <a:pPr marL="5048">
              <a:spcBef>
                <a:spcPts val="375"/>
              </a:spcBef>
            </a:pPr>
            <a:r>
              <a:rPr lang="en-IN" sz="900" b="1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latin typeface="Arial"/>
                <a:cs typeface="Arial"/>
              </a:rPr>
              <a:t>  </a:t>
            </a:r>
            <a:r>
              <a:rPr lang="en-IN" sz="1400" b="1" spc="-4" dirty="0">
                <a:cs typeface="Carlito"/>
              </a:rPr>
              <a:t> </a:t>
            </a:r>
            <a:r>
              <a:rPr lang="en-IN" sz="1400" b="1" u="sng" spc="-4" dirty="0">
                <a:solidFill>
                  <a:srgbClr val="1F4E79"/>
                </a:solidFill>
                <a:uFill>
                  <a:solidFill>
                    <a:srgbClr val="1F4E79"/>
                  </a:solidFill>
                </a:uFill>
                <a:cs typeface="Arial"/>
              </a:rPr>
              <a:t>Java Enterprise Edition  Lab - 15</a:t>
            </a:r>
            <a:endParaRPr sz="1400" dirty="0">
              <a:cs typeface="Carlit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14692" y="6945424"/>
            <a:ext cx="2335850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dirty="0">
                <a:latin typeface="Arial Black"/>
                <a:cs typeface="Arial Black"/>
              </a:rPr>
              <a:t>Submitted</a:t>
            </a:r>
            <a:r>
              <a:rPr spc="-28" dirty="0">
                <a:latin typeface="Arial Black"/>
                <a:cs typeface="Arial Black"/>
              </a:rPr>
              <a:t> </a:t>
            </a:r>
            <a:r>
              <a:rPr spc="-10" dirty="0">
                <a:latin typeface="Arial Black"/>
                <a:cs typeface="Arial Black"/>
              </a:rPr>
              <a:t>by:</a:t>
            </a:r>
            <a:endParaRPr dirty="0">
              <a:latin typeface="Arial Black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0722" y="7417784"/>
            <a:ext cx="2458227" cy="282096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</a:t>
            </a:r>
            <a:r>
              <a:rPr lang="en-IN" b="1" dirty="0" err="1">
                <a:solidFill>
                  <a:srgbClr val="001F5F"/>
                </a:solidFill>
                <a:latin typeface="Arial"/>
                <a:cs typeface="Arial"/>
              </a:rPr>
              <a:t>ukesh</a:t>
            </a:r>
            <a:r>
              <a:rPr lang="en-IN" b="1" dirty="0">
                <a:solidFill>
                  <a:srgbClr val="001F5F"/>
                </a:solidFill>
                <a:latin typeface="Arial"/>
                <a:cs typeface="Arial"/>
              </a:rPr>
              <a:t> Prajapati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0722" y="7993819"/>
            <a:ext cx="2825456" cy="664252"/>
          </a:xfrm>
          <a:prstGeom prst="rect">
            <a:avLst/>
          </a:prstGeom>
        </p:spPr>
        <p:txBody>
          <a:bodyPr vert="horz" wrap="square" lIns="0" tIns="5048" rIns="0" bIns="0" rtlCol="0">
            <a:spAutoFit/>
          </a:bodyPr>
          <a:lstStyle/>
          <a:p>
            <a:pPr marL="5048">
              <a:spcBef>
                <a:spcPts val="40"/>
              </a:spcBef>
            </a:pP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Btech</a:t>
            </a:r>
            <a:r>
              <a:rPr sz="1400" b="1" spc="71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(</a:t>
            </a:r>
            <a:r>
              <a:rPr sz="1400" b="1" spc="-4" dirty="0" err="1">
                <a:solidFill>
                  <a:srgbClr val="001F5F"/>
                </a:solidFill>
                <a:latin typeface="Arial"/>
                <a:cs typeface="Arial"/>
              </a:rPr>
              <a:t>Cse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  Industry integrated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)</a:t>
            </a:r>
            <a:endParaRPr sz="1400" b="1" dirty="0">
              <a:latin typeface="Arial"/>
              <a:cs typeface="Arial"/>
            </a:endParaRPr>
          </a:p>
          <a:p>
            <a:pPr>
              <a:spcBef>
                <a:spcPts val="86"/>
              </a:spcBef>
            </a:pPr>
            <a:endParaRPr sz="1400" b="1" dirty="0">
              <a:latin typeface="Arial"/>
              <a:cs typeface="Arial"/>
            </a:endParaRPr>
          </a:p>
          <a:p>
            <a:pPr marL="5048"/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Roll</a:t>
            </a:r>
            <a:r>
              <a:rPr sz="1400" b="1" spc="94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001F5F"/>
                </a:solidFill>
                <a:latin typeface="Arial"/>
                <a:cs typeface="Arial"/>
              </a:rPr>
              <a:t>No</a:t>
            </a:r>
            <a:r>
              <a:rPr sz="1400" b="1" spc="99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113" dirty="0">
                <a:solidFill>
                  <a:srgbClr val="001F5F"/>
                </a:solidFill>
                <a:latin typeface="Arial"/>
                <a:cs typeface="Arial"/>
              </a:rPr>
              <a:t>–</a:t>
            </a:r>
            <a:r>
              <a:rPr sz="1400" b="1" spc="95" dirty="0">
                <a:solidFill>
                  <a:srgbClr val="001F5F"/>
                </a:solidFill>
                <a:latin typeface="Arial"/>
                <a:cs typeface="Arial"/>
              </a:rPr>
              <a:t> </a:t>
            </a:r>
            <a:r>
              <a:rPr sz="1400" b="1" spc="-4" dirty="0">
                <a:solidFill>
                  <a:srgbClr val="001F5F"/>
                </a:solidFill>
                <a:latin typeface="Arial"/>
                <a:cs typeface="Arial"/>
              </a:rPr>
              <a:t>202410101230</a:t>
            </a:r>
            <a:r>
              <a:rPr lang="en-IN" sz="1400" b="1" spc="-4" dirty="0">
                <a:solidFill>
                  <a:srgbClr val="001F5F"/>
                </a:solidFill>
                <a:latin typeface="Arial"/>
                <a:cs typeface="Arial"/>
              </a:rPr>
              <a:t>007</a:t>
            </a:r>
            <a:endParaRPr sz="1400" b="1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01650" y="2770952"/>
            <a:ext cx="6900449" cy="386612"/>
          </a:xfrm>
          <a:prstGeom prst="rect">
            <a:avLst/>
          </a:prstGeom>
        </p:spPr>
        <p:txBody>
          <a:bodyPr vert="horz" wrap="square" lIns="0" tIns="5048" rIns="0" bIns="0" rtlCol="0" anchor="ctr">
            <a:spAutoFit/>
          </a:bodyPr>
          <a:lstStyle/>
          <a:p>
            <a:pPr marL="5048">
              <a:spcBef>
                <a:spcPts val="40"/>
              </a:spcBef>
            </a:pPr>
            <a:r>
              <a:rPr sz="2479" b="1" spc="-74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SHREE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95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RAMSWAROOP</a:t>
            </a:r>
            <a:r>
              <a:rPr sz="2479" b="1" spc="10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117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MEMORIAL</a:t>
            </a:r>
            <a:r>
              <a:rPr sz="2479" b="1" spc="12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sz="2479" b="1" spc="-7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UNIVERSITY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3307B-AF8A-69AB-5775-B72EB91AD6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3508" y="3676003"/>
            <a:ext cx="1425154" cy="1140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61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2004" y="894080"/>
            <a:ext cx="3870325" cy="1908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1: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Functional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Testing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(Unit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and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Integration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Tests)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Use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JUnit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individual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classes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methods.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sz="1100" b="1" dirty="0">
                <a:latin typeface="Calibri"/>
                <a:cs typeface="Calibri"/>
              </a:rPr>
              <a:t>JUnit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Key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Annotations: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20" dirty="0">
                <a:latin typeface="Calibri"/>
                <a:cs typeface="Calibri"/>
              </a:rPr>
              <a:t>@Test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Marks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method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test.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Calibri"/>
                <a:cs typeface="Calibri"/>
              </a:rPr>
              <a:t>@BeforeEach </a:t>
            </a:r>
            <a:r>
              <a:rPr sz="1100" dirty="0">
                <a:latin typeface="Calibri"/>
                <a:cs typeface="Calibri"/>
              </a:rPr>
              <a:t>/</a:t>
            </a:r>
            <a:r>
              <a:rPr sz="1100" spc="-10" dirty="0">
                <a:latin typeface="Calibri"/>
                <a:cs typeface="Calibri"/>
              </a:rPr>
              <a:t> @BeforeAll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Runs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setup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code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before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tests.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Calibri"/>
                <a:cs typeface="Calibri"/>
              </a:rPr>
              <a:t>@AfterEach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/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@AfterAll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Runs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cleanup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code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tests.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@Disabled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Temporarily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disables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test.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3199510"/>
            <a:ext cx="410527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3051174"/>
            <a:ext cx="5733415" cy="20320"/>
            <a:chOff x="914400" y="3051174"/>
            <a:chExt cx="5733415" cy="20320"/>
          </a:xfrm>
        </p:grpSpPr>
        <p:sp>
          <p:nvSpPr>
            <p:cNvPr id="3" name="object 3"/>
            <p:cNvSpPr/>
            <p:nvPr/>
          </p:nvSpPr>
          <p:spPr>
            <a:xfrm>
              <a:off x="914400" y="305117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44385" y="305130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04" y="3051314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44385" y="305434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04" y="306806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704" y="3068065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2004" y="894080"/>
            <a:ext cx="4490720" cy="4230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2:</a:t>
            </a:r>
            <a:r>
              <a:rPr sz="1100" b="1" spc="-10" dirty="0">
                <a:latin typeface="Calibri"/>
                <a:cs typeface="Calibri"/>
              </a:rPr>
              <a:t> Usability Testing</a:t>
            </a:r>
            <a:endParaRPr sz="1100">
              <a:latin typeface="Calibri"/>
              <a:cs typeface="Calibri"/>
            </a:endParaRPr>
          </a:p>
          <a:p>
            <a:pPr marL="12700" marR="2251710">
              <a:lnSpc>
                <a:spcPts val="2260"/>
              </a:lnSpc>
              <a:spcBef>
                <a:spcPts val="220"/>
              </a:spcBef>
            </a:pPr>
            <a:r>
              <a:rPr sz="1100" spc="-20" dirty="0">
                <a:latin typeface="Calibri"/>
                <a:cs typeface="Calibri"/>
              </a:rPr>
              <a:t>Test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application’s</a:t>
            </a:r>
            <a:r>
              <a:rPr sz="110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user-friendliness</a:t>
            </a:r>
            <a:r>
              <a:rPr sz="1100" spc="-10" dirty="0">
                <a:latin typeface="Calibri"/>
                <a:cs typeface="Calibri"/>
              </a:rPr>
              <a:t>. </a:t>
            </a:r>
            <a:r>
              <a:rPr sz="1100" b="1" spc="-10" dirty="0">
                <a:latin typeface="Calibri"/>
                <a:cs typeface="Calibri"/>
              </a:rPr>
              <a:t>Process: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690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Create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realistic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scenarios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(e.g.,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assign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task,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profile).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Have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attempt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these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tasks.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Observe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ease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navigation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gather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feedback.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spc="-315" dirty="0">
                <a:solidFill>
                  <a:srgbClr val="46A3FA"/>
                </a:solidFill>
                <a:latin typeface="Segoe UI Emoji"/>
                <a:cs typeface="Segoe UI Emoji"/>
              </a:rPr>
              <a:t>´</a:t>
            </a:r>
            <a:r>
              <a:rPr sz="1100" spc="-300" dirty="0">
                <a:solidFill>
                  <a:srgbClr val="50E1FF"/>
                </a:solidFill>
                <a:latin typeface="Segoe UI Emoji"/>
                <a:cs typeface="Segoe UI Emoji"/>
              </a:rPr>
              <a:t> </a:t>
            </a:r>
            <a:r>
              <a:rPr sz="1100" spc="-120" dirty="0">
                <a:solidFill>
                  <a:srgbClr val="9B9B9B"/>
                </a:solidFill>
                <a:latin typeface="Segoe UI Emoji"/>
                <a:cs typeface="Segoe UI Emoji"/>
              </a:rPr>
              <a:t>’</a:t>
            </a:r>
            <a:r>
              <a:rPr sz="1100" spc="-825" dirty="0">
                <a:solidFill>
                  <a:srgbClr val="F8302E"/>
                </a:solidFill>
                <a:latin typeface="Segoe UI Emoji"/>
                <a:cs typeface="Segoe UI Emoji"/>
              </a:rPr>
              <a:t>◎</a:t>
            </a:r>
            <a:r>
              <a:rPr sz="1100" spc="-305" dirty="0">
                <a:solidFill>
                  <a:srgbClr val="46A3FA"/>
                </a:solidFill>
                <a:latin typeface="Segoe UI Emoji"/>
                <a:cs typeface="Segoe UI Emoji"/>
              </a:rPr>
              <a:t>"</a:t>
            </a:r>
            <a:r>
              <a:rPr sz="1100" spc="135" dirty="0">
                <a:solidFill>
                  <a:srgbClr val="F4F4F4"/>
                </a:solidFill>
                <a:latin typeface="Segoe UI Emoji"/>
                <a:cs typeface="Segoe UI Emoji"/>
              </a:rPr>
              <a:t>●</a:t>
            </a:r>
            <a:r>
              <a:rPr sz="1100" spc="-55" dirty="0">
                <a:solidFill>
                  <a:srgbClr val="F4F4F4"/>
                </a:solidFill>
                <a:latin typeface="Segoe UI Emoji"/>
                <a:cs typeface="Segoe UI Emoji"/>
              </a:rPr>
              <a:t> </a:t>
            </a:r>
            <a:r>
              <a:rPr sz="1100" i="1" dirty="0">
                <a:latin typeface="Calibri"/>
                <a:cs typeface="Calibri"/>
              </a:rPr>
              <a:t>Goal:</a:t>
            </a:r>
            <a:r>
              <a:rPr sz="1100" i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Identify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points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layout,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labeling,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navigation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improve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UX.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3: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Security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Testing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latin typeface="Calibri"/>
                <a:cs typeface="Calibri"/>
              </a:rPr>
              <a:t>Perform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vulnerability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assessments</a:t>
            </a:r>
            <a:r>
              <a:rPr sz="1100" b="1" spc="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for: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SQL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Injection</a:t>
            </a:r>
            <a:endParaRPr sz="1100">
              <a:latin typeface="Calibri"/>
              <a:cs typeface="Calibri"/>
            </a:endParaRPr>
          </a:p>
          <a:p>
            <a:pPr marL="469265" lvl="1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spc="-10" dirty="0">
                <a:latin typeface="Calibri"/>
                <a:cs typeface="Calibri"/>
              </a:rPr>
              <a:t>Cross-</a:t>
            </a:r>
            <a:r>
              <a:rPr sz="1100" b="1" dirty="0">
                <a:latin typeface="Calibri"/>
                <a:cs typeface="Calibri"/>
              </a:rPr>
              <a:t>Site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Scripting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(XSS)</a:t>
            </a:r>
            <a:endParaRPr sz="1100">
              <a:latin typeface="Calibri"/>
              <a:cs typeface="Calibri"/>
            </a:endParaRPr>
          </a:p>
          <a:p>
            <a:pPr marL="12700" marR="2072639" lvl="1" indent="456565">
              <a:lnSpc>
                <a:spcPct val="170000"/>
              </a:lnSpc>
              <a:spcBef>
                <a:spcPts val="1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spc="-10" dirty="0">
                <a:latin typeface="Calibri"/>
                <a:cs typeface="Calibri"/>
              </a:rPr>
              <a:t>Cross-</a:t>
            </a:r>
            <a:r>
              <a:rPr sz="1100" b="1" dirty="0">
                <a:latin typeface="Calibri"/>
                <a:cs typeface="Calibri"/>
              </a:rPr>
              <a:t>Site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Request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Forgery</a:t>
            </a:r>
            <a:r>
              <a:rPr sz="1100" b="1" spc="-4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(CSRF) </a:t>
            </a:r>
            <a:r>
              <a:rPr sz="1100" b="1" dirty="0">
                <a:latin typeface="Calibri"/>
                <a:cs typeface="Calibri"/>
              </a:rPr>
              <a:t>Example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–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SQL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Injection: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100" spc="765" dirty="0">
                <a:solidFill>
                  <a:srgbClr val="F82E5F"/>
                </a:solidFill>
                <a:latin typeface="Segoe UI Emoji"/>
                <a:cs typeface="Segoe UI Emoji"/>
              </a:rPr>
              <a:t>+</a:t>
            </a:r>
            <a:r>
              <a:rPr sz="1100" spc="-55" dirty="0">
                <a:solidFill>
                  <a:srgbClr val="F82E5F"/>
                </a:solidFill>
                <a:latin typeface="Segoe UI Emoji"/>
                <a:cs typeface="Segoe UI Emoji"/>
              </a:rPr>
              <a:t> </a:t>
            </a:r>
            <a:r>
              <a:rPr sz="1100" spc="-10" dirty="0">
                <a:latin typeface="Calibri"/>
                <a:cs typeface="Calibri"/>
              </a:rPr>
              <a:t>Vulnerable: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6113144"/>
            <a:ext cx="6699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1520" dirty="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100" spc="285" dirty="0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100" spc="-10" dirty="0">
                <a:latin typeface="Calibri"/>
                <a:cs typeface="Calibri"/>
              </a:rPr>
              <a:t>Secure: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004" y="7504556"/>
            <a:ext cx="3245485" cy="479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Example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–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XSS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Protection: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Use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OWASP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ZAP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Burp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Suite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scan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vulnerabilities.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236717"/>
            <a:ext cx="5143500" cy="4667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6419087"/>
            <a:ext cx="4057650" cy="6945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2480944"/>
            <a:ext cx="5733415" cy="20320"/>
            <a:chOff x="914400" y="2480944"/>
            <a:chExt cx="5733415" cy="20320"/>
          </a:xfrm>
        </p:grpSpPr>
        <p:sp>
          <p:nvSpPr>
            <p:cNvPr id="3" name="object 3"/>
            <p:cNvSpPr/>
            <p:nvPr/>
          </p:nvSpPr>
          <p:spPr>
            <a:xfrm>
              <a:off x="914400" y="2480956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5731497" y="19672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644385" y="24813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14704" y="248132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644385" y="24843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704" y="24980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704" y="249808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02004" y="894080"/>
            <a:ext cx="3924935" cy="335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4:</a:t>
            </a:r>
            <a:r>
              <a:rPr sz="1100" b="1" spc="-10" dirty="0">
                <a:latin typeface="Calibri"/>
                <a:cs typeface="Calibri"/>
              </a:rPr>
              <a:t> Penetration Testing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Simulate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real-</a:t>
            </a:r>
            <a:r>
              <a:rPr sz="1100" dirty="0">
                <a:latin typeface="Calibri"/>
                <a:cs typeface="Calibri"/>
              </a:rPr>
              <a:t>world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attacks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using: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Burp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Suite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manual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attack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simulation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(SQLi,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XSS,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CSRF).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spc="-10" dirty="0">
                <a:latin typeface="Calibri"/>
                <a:cs typeface="Calibri"/>
              </a:rPr>
              <a:t>OWASP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ZAP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—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automated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scanning.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100" spc="-960" dirty="0">
                <a:solidFill>
                  <a:srgbClr val="F4F4F4"/>
                </a:solidFill>
                <a:latin typeface="Segoe UI Emoji"/>
                <a:cs typeface="Segoe UI Emoji"/>
              </a:rPr>
              <a:t>●</a:t>
            </a:r>
            <a:r>
              <a:rPr sz="1100" spc="-960" dirty="0">
                <a:solidFill>
                  <a:srgbClr val="F8302E"/>
                </a:solidFill>
                <a:latin typeface="Segoe UI Emoji"/>
                <a:cs typeface="Segoe UI Emoji"/>
              </a:rPr>
              <a:t>◎</a:t>
            </a:r>
            <a:r>
              <a:rPr sz="1100" spc="-254" dirty="0">
                <a:solidFill>
                  <a:srgbClr val="9B9B9B"/>
                </a:solidFill>
                <a:latin typeface="Segoe UI Emoji"/>
                <a:cs typeface="Segoe UI Emoji"/>
              </a:rPr>
              <a:t>’</a:t>
            </a:r>
            <a:r>
              <a:rPr sz="1100" spc="-440" dirty="0">
                <a:solidFill>
                  <a:srgbClr val="46A3FA"/>
                </a:solidFill>
                <a:latin typeface="Segoe UI Emoji"/>
                <a:cs typeface="Segoe UI Emoji"/>
              </a:rPr>
              <a:t>"</a:t>
            </a:r>
            <a:r>
              <a:rPr sz="1100" spc="-300" dirty="0">
                <a:solidFill>
                  <a:srgbClr val="50E1FF"/>
                </a:solidFill>
                <a:latin typeface="Segoe UI Emoji"/>
                <a:cs typeface="Segoe UI Emoji"/>
              </a:rPr>
              <a:t> </a:t>
            </a:r>
            <a:r>
              <a:rPr sz="1100" spc="1200" dirty="0">
                <a:solidFill>
                  <a:srgbClr val="46A3FA"/>
                </a:solidFill>
                <a:latin typeface="Segoe UI Emoji"/>
                <a:cs typeface="Segoe UI Emoji"/>
              </a:rPr>
              <a:t>´</a:t>
            </a:r>
            <a:r>
              <a:rPr sz="1100" spc="-50" dirty="0">
                <a:solidFill>
                  <a:srgbClr val="46A3FA"/>
                </a:solidFill>
                <a:latin typeface="Segoe UI Emoji"/>
                <a:cs typeface="Segoe UI Emoji"/>
              </a:rPr>
              <a:t> </a:t>
            </a:r>
            <a:r>
              <a:rPr sz="1100" i="1" dirty="0">
                <a:latin typeface="Calibri"/>
                <a:cs typeface="Calibri"/>
              </a:rPr>
              <a:t>Purpose: </a:t>
            </a:r>
            <a:r>
              <a:rPr sz="1100" spc="-10" dirty="0">
                <a:latin typeface="Calibri"/>
                <a:cs typeface="Calibri"/>
              </a:rPr>
              <a:t>Verify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defenses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against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realistic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threats.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5:</a:t>
            </a:r>
            <a:r>
              <a:rPr sz="1100" b="1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Fix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Security</a:t>
            </a:r>
            <a:r>
              <a:rPr sz="1100" b="1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Vulnerabilities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dirty="0">
                <a:latin typeface="Calibri"/>
                <a:cs typeface="Calibri"/>
              </a:rPr>
              <a:t>After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identifying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issues,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update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code: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spc="-10" dirty="0">
                <a:latin typeface="Calibri"/>
                <a:cs typeface="Calibri"/>
              </a:rPr>
              <a:t>Validate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sanitize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0" dirty="0">
                <a:latin typeface="Calibri"/>
                <a:cs typeface="Calibri"/>
              </a:rPr>
              <a:t> input.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2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Use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prepared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statements</a:t>
            </a:r>
            <a:r>
              <a:rPr sz="1100" b="1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(prevent SQLi).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35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Use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CSRF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tokens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sensitive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actions.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b="1" dirty="0">
                <a:latin typeface="Calibri"/>
                <a:cs typeface="Calibri"/>
              </a:rPr>
              <a:t>Example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–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CSRF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5" dirty="0">
                <a:latin typeface="Calibri"/>
                <a:cs typeface="Calibri"/>
              </a:rPr>
              <a:t>Token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Implementation: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004" y="5579744"/>
            <a:ext cx="3848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In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JSP: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914400" y="8176259"/>
            <a:ext cx="5733415" cy="21590"/>
            <a:chOff x="914400" y="8176259"/>
            <a:chExt cx="5733415" cy="21590"/>
          </a:xfrm>
        </p:grpSpPr>
        <p:sp>
          <p:nvSpPr>
            <p:cNvPr id="12" name="object 12"/>
            <p:cNvSpPr/>
            <p:nvPr/>
          </p:nvSpPr>
          <p:spPr>
            <a:xfrm>
              <a:off x="914400" y="8176259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4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44385" y="817752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14704" y="8177542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5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44385" y="8180577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70">
                  <a:moveTo>
                    <a:pt x="3047" y="0"/>
                  </a:moveTo>
                  <a:lnTo>
                    <a:pt x="0" y="0"/>
                  </a:lnTo>
                  <a:lnTo>
                    <a:pt x="0" y="13715"/>
                  </a:lnTo>
                  <a:lnTo>
                    <a:pt x="3047" y="13715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14704" y="8194293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4704" y="8194306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35"/>
                  </a:lnTo>
                  <a:lnTo>
                    <a:pt x="3048" y="3035"/>
                  </a:lnTo>
                  <a:lnTo>
                    <a:pt x="5729605" y="3035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902004" y="6609968"/>
            <a:ext cx="3870325" cy="2868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6:</a:t>
            </a:r>
            <a:r>
              <a:rPr sz="1100" b="1" spc="-25" dirty="0">
                <a:latin typeface="Calibri"/>
                <a:cs typeface="Calibri"/>
              </a:rPr>
              <a:t> Test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Automation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1100" spc="-10" dirty="0">
                <a:latin typeface="Calibri"/>
                <a:cs typeface="Calibri"/>
              </a:rPr>
              <a:t>Automate: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Backend</a:t>
            </a:r>
            <a:r>
              <a:rPr sz="1100" b="1" spc="-4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tests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JUnit.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19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b="1" dirty="0">
                <a:latin typeface="Calibri"/>
                <a:cs typeface="Calibri"/>
              </a:rPr>
              <a:t>UI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tests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→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with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Selenium</a:t>
            </a:r>
            <a:r>
              <a:rPr sz="1100" b="1" spc="-3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WebDriver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sz="1100" dirty="0">
                <a:latin typeface="Calibri"/>
                <a:cs typeface="Calibri"/>
              </a:rPr>
              <a:t>Automation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ensures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consistency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quick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detection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regressions.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1100">
              <a:latin typeface="Calibri"/>
              <a:cs typeface="Calibri"/>
            </a:endParaRPr>
          </a:p>
          <a:p>
            <a:pPr marL="41275" marR="2466340" indent="-29209">
              <a:lnSpc>
                <a:spcPct val="187300"/>
              </a:lnSpc>
              <a:spcBef>
                <a:spcPts val="5"/>
              </a:spcBef>
              <a:tabLst>
                <a:tab pos="743585" algn="l"/>
              </a:tabLst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7:</a:t>
            </a:r>
            <a:r>
              <a:rPr sz="1100" b="1" spc="-20" dirty="0">
                <a:latin typeface="Calibri"/>
                <a:cs typeface="Calibri"/>
              </a:rPr>
              <a:t> Testing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Checklist </a:t>
            </a:r>
            <a:r>
              <a:rPr sz="1100" b="1" spc="-25" dirty="0">
                <a:latin typeface="Calibri"/>
                <a:cs typeface="Calibri"/>
              </a:rPr>
              <a:t>Test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Type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10" dirty="0">
                <a:latin typeface="Calibri"/>
                <a:cs typeface="Calibri"/>
              </a:rPr>
              <a:t>Purpose</a:t>
            </a:r>
            <a:endParaRPr sz="1100">
              <a:latin typeface="Calibri"/>
              <a:cs typeface="Calibri"/>
            </a:endParaRPr>
          </a:p>
          <a:p>
            <a:pPr marL="41275" marR="1283970">
              <a:lnSpc>
                <a:spcPct val="192700"/>
              </a:lnSpc>
              <a:spcBef>
                <a:spcPts val="10"/>
              </a:spcBef>
              <a:tabLst>
                <a:tab pos="743585" algn="l"/>
              </a:tabLst>
            </a:pPr>
            <a:r>
              <a:rPr sz="1100" dirty="0">
                <a:latin typeface="Calibri"/>
                <a:cs typeface="Calibri"/>
              </a:rPr>
              <a:t>Functional</a:t>
            </a:r>
            <a:r>
              <a:rPr sz="1100" spc="160" dirty="0">
                <a:latin typeface="Calibri"/>
                <a:cs typeface="Calibri"/>
              </a:rPr>
              <a:t>  </a:t>
            </a:r>
            <a:r>
              <a:rPr sz="1100" spc="-10" dirty="0">
                <a:latin typeface="Calibri"/>
                <a:cs typeface="Calibri"/>
              </a:rPr>
              <a:t>Verify</a:t>
            </a:r>
            <a:r>
              <a:rPr sz="1100" dirty="0">
                <a:latin typeface="Calibri"/>
                <a:cs typeface="Calibri"/>
              </a:rPr>
              <a:t> all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features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work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correctly Usability</a:t>
            </a:r>
            <a:r>
              <a:rPr sz="1100" dirty="0">
                <a:latin typeface="Calibri"/>
                <a:cs typeface="Calibri"/>
              </a:rPr>
              <a:t>	Ensure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smooth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user</a:t>
            </a:r>
            <a:r>
              <a:rPr sz="1100" spc="-10" dirty="0">
                <a:latin typeface="Calibri"/>
                <a:cs typeface="Calibri"/>
              </a:rPr>
              <a:t> experience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4646663"/>
            <a:ext cx="3867150" cy="5428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5885751"/>
            <a:ext cx="4562475" cy="3330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30960" y="923289"/>
            <a:ext cx="565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25" dirty="0">
                <a:latin typeface="Calibri"/>
                <a:cs typeface="Calibri"/>
              </a:rPr>
              <a:t>Test</a:t>
            </a:r>
            <a:r>
              <a:rPr sz="1100" b="1" spc="-30" dirty="0">
                <a:latin typeface="Calibri"/>
                <a:cs typeface="Calibri"/>
              </a:rPr>
              <a:t> </a:t>
            </a:r>
            <a:r>
              <a:rPr sz="1100" b="1" spc="-20" dirty="0">
                <a:latin typeface="Calibri"/>
                <a:cs typeface="Calibri"/>
              </a:rPr>
              <a:t>Type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33473" y="923289"/>
            <a:ext cx="5016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Calibri"/>
                <a:cs typeface="Calibri"/>
              </a:rPr>
              <a:t>Purpose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30960" y="1246377"/>
            <a:ext cx="3004185" cy="518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5010" algn="l"/>
              </a:tabLst>
            </a:pPr>
            <a:r>
              <a:rPr sz="1100" spc="-10" dirty="0">
                <a:latin typeface="Calibri"/>
                <a:cs typeface="Calibri"/>
              </a:rPr>
              <a:t>Security</a:t>
            </a:r>
            <a:r>
              <a:rPr sz="1100" dirty="0">
                <a:latin typeface="Calibri"/>
                <a:cs typeface="Calibri"/>
              </a:rPr>
              <a:t>	Identify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fix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vulnerabilities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100" dirty="0">
                <a:latin typeface="Calibri"/>
                <a:cs typeface="Calibri"/>
              </a:rPr>
              <a:t>Penetration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Simulate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real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attacks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validate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security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14400" y="2023744"/>
            <a:ext cx="5733415" cy="20320"/>
            <a:chOff x="914400" y="2023744"/>
            <a:chExt cx="5733415" cy="20320"/>
          </a:xfrm>
        </p:grpSpPr>
        <p:sp>
          <p:nvSpPr>
            <p:cNvPr id="6" name="object 6"/>
            <p:cNvSpPr/>
            <p:nvPr/>
          </p:nvSpPr>
          <p:spPr>
            <a:xfrm>
              <a:off x="914400" y="2023756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72"/>
                  </a:lnTo>
                  <a:lnTo>
                    <a:pt x="5731497" y="19672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44385" y="202412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14704" y="2024125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48"/>
                  </a:moveTo>
                  <a:lnTo>
                    <a:pt x="0" y="3048"/>
                  </a:lnTo>
                  <a:lnTo>
                    <a:pt x="0" y="16764"/>
                  </a:lnTo>
                  <a:lnTo>
                    <a:pt x="3048" y="16764"/>
                  </a:lnTo>
                  <a:lnTo>
                    <a:pt x="3048" y="3048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44385" y="2027173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14704" y="2040889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14704" y="2040889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14400" y="3165474"/>
            <a:ext cx="5733415" cy="20320"/>
            <a:chOff x="914400" y="3165474"/>
            <a:chExt cx="5733415" cy="20320"/>
          </a:xfrm>
        </p:grpSpPr>
        <p:sp>
          <p:nvSpPr>
            <p:cNvPr id="13" name="object 13"/>
            <p:cNvSpPr/>
            <p:nvPr/>
          </p:nvSpPr>
          <p:spPr>
            <a:xfrm>
              <a:off x="914400" y="3165474"/>
              <a:ext cx="5731510" cy="19685"/>
            </a:xfrm>
            <a:custGeom>
              <a:avLst/>
              <a:gdLst/>
              <a:ahLst/>
              <a:cxnLst/>
              <a:rect l="l" t="t" r="r" b="b"/>
              <a:pathLst>
                <a:path w="5731509" h="19685">
                  <a:moveTo>
                    <a:pt x="5731497" y="0"/>
                  </a:moveTo>
                  <a:lnTo>
                    <a:pt x="0" y="0"/>
                  </a:lnTo>
                  <a:lnTo>
                    <a:pt x="0" y="19685"/>
                  </a:lnTo>
                  <a:lnTo>
                    <a:pt x="5731497" y="19685"/>
                  </a:lnTo>
                  <a:lnTo>
                    <a:pt x="573149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644385" y="3165601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7"/>
                  </a:lnTo>
                  <a:lnTo>
                    <a:pt x="3047" y="3047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14704" y="3165614"/>
              <a:ext cx="5732780" cy="17145"/>
            </a:xfrm>
            <a:custGeom>
              <a:avLst/>
              <a:gdLst/>
              <a:ahLst/>
              <a:cxnLst/>
              <a:rect l="l" t="t" r="r" b="b"/>
              <a:pathLst>
                <a:path w="5732780" h="17144">
                  <a:moveTo>
                    <a:pt x="3048" y="3035"/>
                  </a:moveTo>
                  <a:lnTo>
                    <a:pt x="0" y="3035"/>
                  </a:lnTo>
                  <a:lnTo>
                    <a:pt x="0" y="16751"/>
                  </a:lnTo>
                  <a:lnTo>
                    <a:pt x="3048" y="16751"/>
                  </a:lnTo>
                  <a:lnTo>
                    <a:pt x="3048" y="3035"/>
                  </a:lnTo>
                  <a:close/>
                </a:path>
                <a:path w="5732780" h="17144">
                  <a:moveTo>
                    <a:pt x="5732716" y="0"/>
                  </a:moveTo>
                  <a:lnTo>
                    <a:pt x="5729668" y="0"/>
                  </a:lnTo>
                  <a:lnTo>
                    <a:pt x="5729668" y="3035"/>
                  </a:lnTo>
                  <a:lnTo>
                    <a:pt x="5732716" y="3035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644385" y="3168649"/>
              <a:ext cx="3175" cy="13970"/>
            </a:xfrm>
            <a:custGeom>
              <a:avLst/>
              <a:gdLst/>
              <a:ahLst/>
              <a:cxnLst/>
              <a:rect l="l" t="t" r="r" b="b"/>
              <a:pathLst>
                <a:path w="3175" h="13969">
                  <a:moveTo>
                    <a:pt x="3047" y="0"/>
                  </a:moveTo>
                  <a:lnTo>
                    <a:pt x="0" y="0"/>
                  </a:lnTo>
                  <a:lnTo>
                    <a:pt x="0" y="13716"/>
                  </a:lnTo>
                  <a:lnTo>
                    <a:pt x="3047" y="13716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14704" y="3182365"/>
              <a:ext cx="3175" cy="3175"/>
            </a:xfrm>
            <a:custGeom>
              <a:avLst/>
              <a:gdLst/>
              <a:ahLst/>
              <a:cxnLst/>
              <a:rect l="l" t="t" r="r" b="b"/>
              <a:pathLst>
                <a:path w="3175" h="3175">
                  <a:moveTo>
                    <a:pt x="3047" y="0"/>
                  </a:moveTo>
                  <a:lnTo>
                    <a:pt x="0" y="0"/>
                  </a:lnTo>
                  <a:lnTo>
                    <a:pt x="0" y="3048"/>
                  </a:lnTo>
                  <a:lnTo>
                    <a:pt x="3047" y="3048"/>
                  </a:lnTo>
                  <a:lnTo>
                    <a:pt x="304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14704" y="3182365"/>
              <a:ext cx="5732780" cy="3175"/>
            </a:xfrm>
            <a:custGeom>
              <a:avLst/>
              <a:gdLst/>
              <a:ahLst/>
              <a:cxnLst/>
              <a:rect l="l" t="t" r="r" b="b"/>
              <a:pathLst>
                <a:path w="5732780" h="3175">
                  <a:moveTo>
                    <a:pt x="5729605" y="0"/>
                  </a:moveTo>
                  <a:lnTo>
                    <a:pt x="3048" y="0"/>
                  </a:lnTo>
                  <a:lnTo>
                    <a:pt x="0" y="0"/>
                  </a:lnTo>
                  <a:lnTo>
                    <a:pt x="0" y="3048"/>
                  </a:lnTo>
                  <a:lnTo>
                    <a:pt x="3048" y="3048"/>
                  </a:lnTo>
                  <a:lnTo>
                    <a:pt x="5729605" y="3048"/>
                  </a:lnTo>
                  <a:lnTo>
                    <a:pt x="5729605" y="0"/>
                  </a:lnTo>
                  <a:close/>
                </a:path>
                <a:path w="5732780" h="3175">
                  <a:moveTo>
                    <a:pt x="5732716" y="0"/>
                  </a:moveTo>
                  <a:lnTo>
                    <a:pt x="5729668" y="0"/>
                  </a:lnTo>
                  <a:lnTo>
                    <a:pt x="5729668" y="3048"/>
                  </a:lnTo>
                  <a:lnTo>
                    <a:pt x="5732716" y="3048"/>
                  </a:lnTo>
                  <a:lnTo>
                    <a:pt x="57327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02004" y="2169921"/>
            <a:ext cx="3314065" cy="2250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8: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Error</a:t>
            </a:r>
            <a:r>
              <a:rPr sz="1100" b="1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Handling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40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Display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user-</a:t>
            </a:r>
            <a:r>
              <a:rPr sz="1100" dirty="0">
                <a:latin typeface="Calibri"/>
                <a:cs typeface="Calibri"/>
              </a:rPr>
              <a:t>friendly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error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messages.</a:t>
            </a:r>
            <a:endParaRPr sz="11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919"/>
              </a:spcBef>
              <a:buSzPct val="90909"/>
              <a:buFont typeface="Symbol"/>
              <a:buChar char=""/>
              <a:tabLst>
                <a:tab pos="469265" algn="l"/>
              </a:tabLst>
            </a:pPr>
            <a:r>
              <a:rPr sz="1100" dirty="0">
                <a:latin typeface="Calibri"/>
                <a:cs typeface="Calibri"/>
              </a:rPr>
              <a:t>Log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security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events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auditing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investigation.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100" b="1" dirty="0">
                <a:latin typeface="Calibri"/>
                <a:cs typeface="Calibri"/>
              </a:rPr>
              <a:t>Step</a:t>
            </a:r>
            <a:r>
              <a:rPr sz="1100" b="1" spc="-25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9: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dirty="0">
                <a:latin typeface="Calibri"/>
                <a:cs typeface="Calibri"/>
              </a:rPr>
              <a:t>Final</a:t>
            </a:r>
            <a:r>
              <a:rPr sz="1100" b="1" spc="-2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Outcomes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100" spc="-1520" dirty="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100" spc="285" dirty="0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100" dirty="0">
                <a:latin typeface="Calibri"/>
                <a:cs typeface="Calibri"/>
              </a:rPr>
              <a:t>Fully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tested for </a:t>
            </a:r>
            <a:r>
              <a:rPr sz="1100" b="1" spc="-10" dirty="0">
                <a:latin typeface="Calibri"/>
                <a:cs typeface="Calibri"/>
              </a:rPr>
              <a:t>functionality</a:t>
            </a:r>
            <a:r>
              <a:rPr sz="1100" spc="-10" dirty="0">
                <a:latin typeface="Calibri"/>
                <a:cs typeface="Calibri"/>
              </a:rPr>
              <a:t>, </a:t>
            </a:r>
            <a:r>
              <a:rPr sz="1100" b="1" spc="-10" dirty="0">
                <a:latin typeface="Calibri"/>
                <a:cs typeface="Calibri"/>
              </a:rPr>
              <a:t>usability</a:t>
            </a:r>
            <a:r>
              <a:rPr sz="1100" spc="-10" dirty="0">
                <a:latin typeface="Calibri"/>
                <a:cs typeface="Calibri"/>
              </a:rPr>
              <a:t>,</a:t>
            </a:r>
            <a:r>
              <a:rPr sz="1100" dirty="0">
                <a:latin typeface="Calibri"/>
                <a:cs typeface="Calibri"/>
              </a:rPr>
              <a:t> 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security</a:t>
            </a:r>
            <a:r>
              <a:rPr sz="1100" spc="-10" dirty="0">
                <a:latin typeface="Calibri"/>
                <a:cs typeface="Calibri"/>
              </a:rPr>
              <a:t>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1100" spc="-1520" dirty="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100" spc="285" dirty="0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identified</a:t>
            </a:r>
            <a:r>
              <a:rPr sz="1100" spc="-10" dirty="0">
                <a:latin typeface="Calibri"/>
                <a:cs typeface="Calibri"/>
              </a:rPr>
              <a:t> vulnerabilities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resolved.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spc="-1520" dirty="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100" spc="280" dirty="0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100" dirty="0">
                <a:latin typeface="Calibri"/>
                <a:cs typeface="Calibri"/>
              </a:rPr>
              <a:t>Detailed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documentation </a:t>
            </a:r>
            <a:r>
              <a:rPr sz="1100" dirty="0">
                <a:latin typeface="Calibri"/>
                <a:cs typeface="Calibri"/>
              </a:rPr>
              <a:t>of tests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results </a:t>
            </a:r>
            <a:r>
              <a:rPr sz="1100" spc="-10" dirty="0">
                <a:latin typeface="Calibri"/>
                <a:cs typeface="Calibri"/>
              </a:rPr>
              <a:t>prepared.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100" spc="-1520" dirty="0">
                <a:solidFill>
                  <a:srgbClr val="00D26A"/>
                </a:solidFill>
                <a:latin typeface="Segoe UI Emoji"/>
                <a:cs typeface="Segoe UI Emoji"/>
              </a:rPr>
              <a:t>⬛</a:t>
            </a:r>
            <a:r>
              <a:rPr sz="1100" spc="280" dirty="0">
                <a:solidFill>
                  <a:srgbClr val="F4F4F4"/>
                </a:solidFill>
                <a:latin typeface="Segoe UI Emoji"/>
                <a:cs typeface="Segoe UI Emoji"/>
              </a:rPr>
              <a:t>   </a:t>
            </a:r>
            <a:r>
              <a:rPr sz="1100" spc="-10" dirty="0">
                <a:latin typeface="Calibri"/>
                <a:cs typeface="Calibri"/>
              </a:rPr>
              <a:t>Application </a:t>
            </a:r>
            <a:r>
              <a:rPr sz="1100" dirty="0">
                <a:latin typeface="Calibri"/>
                <a:cs typeface="Calibri"/>
              </a:rPr>
              <a:t>ready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deployment.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2004" y="5084190"/>
            <a:ext cx="166497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Example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Code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–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TaskManage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5388863"/>
            <a:ext cx="4514850" cy="3457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85899"/>
            <a:ext cx="5544058" cy="7067931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</TotalTime>
  <Words>428</Words>
  <Application>Microsoft Office PowerPoint</Application>
  <PresentationFormat>Custom</PresentationFormat>
  <Paragraphs>71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Arial Black</vt:lpstr>
      <vt:lpstr>Calibri</vt:lpstr>
      <vt:lpstr>Carlito</vt:lpstr>
      <vt:lpstr>Century Gothic</vt:lpstr>
      <vt:lpstr>Segoe UI Emoji</vt:lpstr>
      <vt:lpstr>Symbol</vt:lpstr>
      <vt:lpstr>Wingdings 3</vt:lpstr>
      <vt:lpstr>Ion</vt:lpstr>
      <vt:lpstr>SHREE RAMSWAROOP MEMORIAL UNIVERSITY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guptashrijaya@gmail.com</dc:creator>
  <cp:lastModifiedBy>acer</cp:lastModifiedBy>
  <cp:revision>1</cp:revision>
  <dcterms:created xsi:type="dcterms:W3CDTF">2025-10-31T20:38:58Z</dcterms:created>
  <dcterms:modified xsi:type="dcterms:W3CDTF">2025-11-03T19:24:33Z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2025-10-23T00:00:00Z</vt:filetime>
  </property>
  <property fmtid="{D5CDD505-2E9C-101B-9397-08002B2CF9AE}" pid="3" name="Creator">
    <vt:lpwstr>Microsoft® Word 2021</vt:lpwstr>
  </property>
  <property fmtid="{D5CDD505-2E9C-101B-9397-08002B2CF9AE}" pid="4" name="LastSaved">
    <vt:filetime>2025-10-31T00:00:00Z</vt:filetime>
  </property>
  <property fmtid="{D5CDD505-2E9C-101B-9397-08002B2CF9AE}" pid="5" name="Producer">
    <vt:lpwstr>3-Heights(TM) PDF Security Shell 4.8.25.2 (http://www.pdf-tools.com)</vt:lpwstr>
  </property>
</Properties>
</file>