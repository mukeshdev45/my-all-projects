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7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1430000" cy="8426450"/>
  <p:notesSz cx="11430000" cy="84264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0583" y="-10404"/>
            <a:ext cx="11462255" cy="8447258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244" y="2954460"/>
            <a:ext cx="7283399" cy="2022817"/>
          </a:xfrm>
        </p:spPr>
        <p:txBody>
          <a:bodyPr anchor="b">
            <a:noAutofit/>
          </a:bodyPr>
          <a:lstStyle>
            <a:lvl1pPr algn="r">
              <a:defRPr sz="663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3244" y="4977275"/>
            <a:ext cx="7283399" cy="134776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17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3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47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08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2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94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56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8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8" y="3318567"/>
            <a:ext cx="7934644" cy="2244327"/>
          </a:xfrm>
        </p:spPr>
        <p:txBody>
          <a:bodyPr anchor="b"/>
          <a:lstStyle>
            <a:lvl1pPr algn="l">
              <a:defRPr sz="491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8" y="5562892"/>
            <a:ext cx="7934644" cy="1057177"/>
          </a:xfrm>
        </p:spPr>
        <p:txBody>
          <a:bodyPr anchor="t"/>
          <a:lstStyle>
            <a:lvl1pPr marL="0" indent="0" algn="l">
              <a:buNone/>
              <a:defRPr sz="2457">
                <a:solidFill>
                  <a:schemeClr val="tx1"/>
                </a:solidFill>
              </a:defRPr>
            </a:lvl1pPr>
            <a:lvl2pPr marL="561762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2pPr>
            <a:lvl3pPr marL="1123523" indent="0">
              <a:buNone/>
              <a:defRPr sz="1966">
                <a:solidFill>
                  <a:schemeClr val="tx1">
                    <a:tint val="75000"/>
                  </a:schemeClr>
                </a:solidFill>
              </a:defRPr>
            </a:lvl3pPr>
            <a:lvl4pPr marL="168528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2247047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808808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337057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932331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4494093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02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49018"/>
            <a:ext cx="7934643" cy="1622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2654724"/>
            <a:ext cx="3860136" cy="4768319"/>
          </a:xfrm>
        </p:spPr>
        <p:txBody>
          <a:bodyPr>
            <a:normAutofit/>
          </a:bodyPr>
          <a:lstStyle>
            <a:lvl1pPr>
              <a:defRPr sz="2212"/>
            </a:lvl1pPr>
            <a:lvl2pPr>
              <a:defRPr sz="1966"/>
            </a:lvl2pPr>
            <a:lvl3pPr>
              <a:defRPr sz="1720"/>
            </a:lvl3pPr>
            <a:lvl4pPr>
              <a:defRPr sz="1474"/>
            </a:lvl4pPr>
            <a:lvl5pPr>
              <a:defRPr sz="1474"/>
            </a:lvl5pPr>
            <a:lvl6pPr>
              <a:defRPr sz="1474"/>
            </a:lvl6pPr>
            <a:lvl7pPr>
              <a:defRPr sz="1474"/>
            </a:lvl7pPr>
            <a:lvl8pPr>
              <a:defRPr sz="1474"/>
            </a:lvl8pPr>
            <a:lvl9pPr>
              <a:defRPr sz="14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6505" y="2654726"/>
            <a:ext cx="3860138" cy="4768320"/>
          </a:xfrm>
        </p:spPr>
        <p:txBody>
          <a:bodyPr>
            <a:normAutofit/>
          </a:bodyPr>
          <a:lstStyle>
            <a:lvl1pPr>
              <a:defRPr sz="2212"/>
            </a:lvl1pPr>
            <a:lvl2pPr>
              <a:defRPr sz="1966"/>
            </a:lvl2pPr>
            <a:lvl3pPr>
              <a:defRPr sz="1720"/>
            </a:lvl3pPr>
            <a:lvl4pPr>
              <a:defRPr sz="1474"/>
            </a:lvl4pPr>
            <a:lvl5pPr>
              <a:defRPr sz="1474"/>
            </a:lvl5pPr>
            <a:lvl6pPr>
              <a:defRPr sz="1474"/>
            </a:lvl6pPr>
            <a:lvl7pPr>
              <a:defRPr sz="1474"/>
            </a:lvl7pPr>
            <a:lvl8pPr>
              <a:defRPr sz="1474"/>
            </a:lvl8pPr>
            <a:lvl9pPr>
              <a:defRPr sz="14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41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49018"/>
            <a:ext cx="7934641" cy="162287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655208"/>
            <a:ext cx="3863340" cy="708055"/>
          </a:xfrm>
        </p:spPr>
        <p:txBody>
          <a:bodyPr anchor="b">
            <a:noAutofit/>
          </a:bodyPr>
          <a:lstStyle>
            <a:lvl1pPr marL="0" indent="0">
              <a:buNone/>
              <a:defRPr sz="2949" b="0"/>
            </a:lvl1pPr>
            <a:lvl2pPr marL="561762" indent="0">
              <a:buNone/>
              <a:defRPr sz="2457" b="1"/>
            </a:lvl2pPr>
            <a:lvl3pPr marL="1123523" indent="0">
              <a:buNone/>
              <a:defRPr sz="2212" b="1"/>
            </a:lvl3pPr>
            <a:lvl4pPr marL="1685285" indent="0">
              <a:buNone/>
              <a:defRPr sz="1966" b="1"/>
            </a:lvl4pPr>
            <a:lvl5pPr marL="2247047" indent="0">
              <a:buNone/>
              <a:defRPr sz="1966" b="1"/>
            </a:lvl5pPr>
            <a:lvl6pPr marL="2808808" indent="0">
              <a:buNone/>
              <a:defRPr sz="1966" b="1"/>
            </a:lvl6pPr>
            <a:lvl7pPr marL="3370570" indent="0">
              <a:buNone/>
              <a:defRPr sz="1966" b="1"/>
            </a:lvl7pPr>
            <a:lvl8pPr marL="3932331" indent="0">
              <a:buNone/>
              <a:defRPr sz="1966" b="1"/>
            </a:lvl8pPr>
            <a:lvl9pPr marL="4494093" indent="0">
              <a:buNone/>
              <a:defRPr sz="19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1999" y="3363265"/>
            <a:ext cx="3863340" cy="405978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3300" y="2655208"/>
            <a:ext cx="3863340" cy="708055"/>
          </a:xfrm>
        </p:spPr>
        <p:txBody>
          <a:bodyPr anchor="b">
            <a:noAutofit/>
          </a:bodyPr>
          <a:lstStyle>
            <a:lvl1pPr marL="0" indent="0">
              <a:buNone/>
              <a:defRPr sz="2949" b="0"/>
            </a:lvl1pPr>
            <a:lvl2pPr marL="561762" indent="0">
              <a:buNone/>
              <a:defRPr sz="2457" b="1"/>
            </a:lvl2pPr>
            <a:lvl3pPr marL="1123523" indent="0">
              <a:buNone/>
              <a:defRPr sz="2212" b="1"/>
            </a:lvl3pPr>
            <a:lvl4pPr marL="1685285" indent="0">
              <a:buNone/>
              <a:defRPr sz="1966" b="1"/>
            </a:lvl4pPr>
            <a:lvl5pPr marL="2247047" indent="0">
              <a:buNone/>
              <a:defRPr sz="1966" b="1"/>
            </a:lvl5pPr>
            <a:lvl6pPr marL="2808808" indent="0">
              <a:buNone/>
              <a:defRPr sz="1966" b="1"/>
            </a:lvl6pPr>
            <a:lvl7pPr marL="3370570" indent="0">
              <a:buNone/>
              <a:defRPr sz="1966" b="1"/>
            </a:lvl7pPr>
            <a:lvl8pPr marL="3932331" indent="0">
              <a:buNone/>
              <a:defRPr sz="1966" b="1"/>
            </a:lvl8pPr>
            <a:lvl9pPr marL="4494093" indent="0">
              <a:buNone/>
              <a:defRPr sz="19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33300" y="3363265"/>
            <a:ext cx="3863340" cy="405978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00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749018"/>
            <a:ext cx="7934643" cy="1622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35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8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1841340"/>
            <a:ext cx="3487728" cy="1570856"/>
          </a:xfrm>
        </p:spPr>
        <p:txBody>
          <a:bodyPr anchor="b">
            <a:normAutofit/>
          </a:bodyPr>
          <a:lstStyle>
            <a:lvl1pPr>
              <a:defRPr sz="2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4094" y="632691"/>
            <a:ext cx="4232546" cy="67903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1999" y="3412196"/>
            <a:ext cx="3487728" cy="3175522"/>
          </a:xfrm>
        </p:spPr>
        <p:txBody>
          <a:bodyPr>
            <a:normAutofit/>
          </a:bodyPr>
          <a:lstStyle>
            <a:lvl1pPr marL="0" indent="0">
              <a:buNone/>
              <a:defRPr sz="1720"/>
            </a:lvl1pPr>
            <a:lvl2pPr marL="421321" indent="0">
              <a:buNone/>
              <a:defRPr sz="1290"/>
            </a:lvl2pPr>
            <a:lvl3pPr marL="842642" indent="0">
              <a:buNone/>
              <a:defRPr sz="1106"/>
            </a:lvl3pPr>
            <a:lvl4pPr marL="1263964" indent="0">
              <a:buNone/>
              <a:defRPr sz="922"/>
            </a:lvl4pPr>
            <a:lvl5pPr marL="1685285" indent="0">
              <a:buNone/>
              <a:defRPr sz="922"/>
            </a:lvl5pPr>
            <a:lvl6pPr marL="2106606" indent="0">
              <a:buNone/>
              <a:defRPr sz="922"/>
            </a:lvl6pPr>
            <a:lvl7pPr marL="2527927" indent="0">
              <a:buNone/>
              <a:defRPr sz="922"/>
            </a:lvl7pPr>
            <a:lvl8pPr marL="2949249" indent="0">
              <a:buNone/>
              <a:defRPr sz="922"/>
            </a:lvl8pPr>
            <a:lvl9pPr marL="3370570" indent="0">
              <a:buNone/>
              <a:defRPr sz="9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8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5898515"/>
            <a:ext cx="7934643" cy="696353"/>
          </a:xfrm>
        </p:spPr>
        <p:txBody>
          <a:bodyPr anchor="b">
            <a:normAutofit/>
          </a:bodyPr>
          <a:lstStyle>
            <a:lvl1pPr algn="l">
              <a:defRPr sz="294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1999" y="749018"/>
            <a:ext cx="7934643" cy="4725248"/>
          </a:xfrm>
        </p:spPr>
        <p:txBody>
          <a:bodyPr anchor="t">
            <a:normAutofit/>
          </a:bodyPr>
          <a:lstStyle>
            <a:lvl1pPr marL="0" indent="0" algn="ctr">
              <a:buNone/>
              <a:defRPr sz="1966"/>
            </a:lvl1pPr>
            <a:lvl2pPr marL="561762" indent="0">
              <a:buNone/>
              <a:defRPr sz="1966"/>
            </a:lvl2pPr>
            <a:lvl3pPr marL="1123523" indent="0">
              <a:buNone/>
              <a:defRPr sz="1966"/>
            </a:lvl3pPr>
            <a:lvl4pPr marL="1685285" indent="0">
              <a:buNone/>
              <a:defRPr sz="1966"/>
            </a:lvl4pPr>
            <a:lvl5pPr marL="2247047" indent="0">
              <a:buNone/>
              <a:defRPr sz="1966"/>
            </a:lvl5pPr>
            <a:lvl6pPr marL="2808808" indent="0">
              <a:buNone/>
              <a:defRPr sz="1966"/>
            </a:lvl6pPr>
            <a:lvl7pPr marL="3370570" indent="0">
              <a:buNone/>
              <a:defRPr sz="1966"/>
            </a:lvl7pPr>
            <a:lvl8pPr marL="3932331" indent="0">
              <a:buNone/>
              <a:defRPr sz="1966"/>
            </a:lvl8pPr>
            <a:lvl9pPr marL="4494093" indent="0">
              <a:buNone/>
              <a:defRPr sz="19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1999" y="6594868"/>
            <a:ext cx="7934643" cy="828176"/>
          </a:xfrm>
        </p:spPr>
        <p:txBody>
          <a:bodyPr>
            <a:normAutofit/>
          </a:bodyPr>
          <a:lstStyle>
            <a:lvl1pPr marL="0" indent="0">
              <a:buNone/>
              <a:defRPr sz="1474"/>
            </a:lvl1pPr>
            <a:lvl2pPr marL="561762" indent="0">
              <a:buNone/>
              <a:defRPr sz="1474"/>
            </a:lvl2pPr>
            <a:lvl3pPr marL="1123523" indent="0">
              <a:buNone/>
              <a:defRPr sz="1229"/>
            </a:lvl3pPr>
            <a:lvl4pPr marL="1685285" indent="0">
              <a:buNone/>
              <a:defRPr sz="1106"/>
            </a:lvl4pPr>
            <a:lvl5pPr marL="2247047" indent="0">
              <a:buNone/>
              <a:defRPr sz="1106"/>
            </a:lvl5pPr>
            <a:lvl6pPr marL="2808808" indent="0">
              <a:buNone/>
              <a:defRPr sz="1106"/>
            </a:lvl6pPr>
            <a:lvl7pPr marL="3370570" indent="0">
              <a:buNone/>
              <a:defRPr sz="1106"/>
            </a:lvl7pPr>
            <a:lvl8pPr marL="3932331" indent="0">
              <a:buNone/>
              <a:defRPr sz="1106"/>
            </a:lvl8pPr>
            <a:lvl9pPr marL="4494093" indent="0">
              <a:buNone/>
              <a:defRPr sz="11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44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49018"/>
            <a:ext cx="7934643" cy="4182016"/>
          </a:xfrm>
        </p:spPr>
        <p:txBody>
          <a:bodyPr anchor="ctr">
            <a:normAutofit/>
          </a:bodyPr>
          <a:lstStyle>
            <a:lvl1pPr algn="l">
              <a:defRPr sz="54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5492797"/>
            <a:ext cx="7934643" cy="1930247"/>
          </a:xfrm>
        </p:spPr>
        <p:txBody>
          <a:bodyPr anchor="ctr">
            <a:normAutofit/>
          </a:bodyPr>
          <a:lstStyle>
            <a:lvl1pPr marL="0" indent="0" algn="l">
              <a:buNone/>
              <a:defRPr sz="221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1762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2pPr>
            <a:lvl3pPr marL="1123523" indent="0">
              <a:buNone/>
              <a:defRPr sz="1966">
                <a:solidFill>
                  <a:schemeClr val="tx1">
                    <a:tint val="75000"/>
                  </a:schemeClr>
                </a:solidFill>
              </a:defRPr>
            </a:lvl3pPr>
            <a:lvl4pPr marL="168528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2247047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808808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337057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932331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4494093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606" y="749018"/>
            <a:ext cx="7590228" cy="3713880"/>
          </a:xfrm>
        </p:spPr>
        <p:txBody>
          <a:bodyPr anchor="ctr">
            <a:normAutofit/>
          </a:bodyPr>
          <a:lstStyle>
            <a:lvl1pPr algn="l">
              <a:defRPr sz="54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76343" y="4462898"/>
            <a:ext cx="6774755" cy="468136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6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1762" indent="0">
              <a:buFontTx/>
              <a:buNone/>
              <a:defRPr/>
            </a:lvl2pPr>
            <a:lvl3pPr marL="1123523" indent="0">
              <a:buFontTx/>
              <a:buNone/>
              <a:defRPr/>
            </a:lvl3pPr>
            <a:lvl4pPr marL="1685285" indent="0">
              <a:buFontTx/>
              <a:buNone/>
              <a:defRPr/>
            </a:lvl4pPr>
            <a:lvl5pPr marL="2247047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8" y="5492797"/>
            <a:ext cx="7934644" cy="1930247"/>
          </a:xfrm>
        </p:spPr>
        <p:txBody>
          <a:bodyPr anchor="ctr">
            <a:normAutofit/>
          </a:bodyPr>
          <a:lstStyle>
            <a:lvl1pPr marL="0" indent="0" algn="l">
              <a:buNone/>
              <a:defRPr sz="221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1762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2pPr>
            <a:lvl3pPr marL="1123523" indent="0">
              <a:buNone/>
              <a:defRPr sz="1966">
                <a:solidFill>
                  <a:schemeClr val="tx1">
                    <a:tint val="75000"/>
                  </a:schemeClr>
                </a:solidFill>
              </a:defRPr>
            </a:lvl3pPr>
            <a:lvl4pPr marL="168528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2247047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808808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337057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932331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4494093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03389" y="971141"/>
            <a:ext cx="571649" cy="718516"/>
          </a:xfrm>
          <a:prstGeom prst="rect">
            <a:avLst/>
          </a:prstGeom>
        </p:spPr>
        <p:txBody>
          <a:bodyPr vert="horz" lIns="112353" tIns="56176" rIns="112353" bIns="56176" rtlCol="0" anchor="ctr">
            <a:noAutofit/>
          </a:bodyPr>
          <a:lstStyle/>
          <a:p>
            <a:pPr lvl="0"/>
            <a:r>
              <a:rPr lang="en-US" sz="983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4624" y="3546722"/>
            <a:ext cx="571649" cy="718516"/>
          </a:xfrm>
          <a:prstGeom prst="rect">
            <a:avLst/>
          </a:prstGeom>
        </p:spPr>
        <p:txBody>
          <a:bodyPr vert="horz" lIns="112353" tIns="56176" rIns="112353" bIns="56176" rtlCol="0" anchor="ctr">
            <a:noAutofit/>
          </a:bodyPr>
          <a:lstStyle/>
          <a:p>
            <a:pPr lvl="0"/>
            <a:r>
              <a:rPr lang="en-US" sz="983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4376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8" y="2373841"/>
            <a:ext cx="7934644" cy="3189051"/>
          </a:xfrm>
        </p:spPr>
        <p:txBody>
          <a:bodyPr anchor="b">
            <a:normAutofit/>
          </a:bodyPr>
          <a:lstStyle>
            <a:lvl1pPr algn="l">
              <a:defRPr sz="54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8" y="5562892"/>
            <a:ext cx="7934644" cy="1860152"/>
          </a:xfrm>
        </p:spPr>
        <p:txBody>
          <a:bodyPr anchor="t">
            <a:normAutofit/>
          </a:bodyPr>
          <a:lstStyle>
            <a:lvl1pPr marL="0" indent="0" algn="l">
              <a:buNone/>
              <a:defRPr sz="221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1762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2pPr>
            <a:lvl3pPr marL="1123523" indent="0">
              <a:buNone/>
              <a:defRPr sz="1966">
                <a:solidFill>
                  <a:schemeClr val="tx1">
                    <a:tint val="75000"/>
                  </a:schemeClr>
                </a:solidFill>
              </a:defRPr>
            </a:lvl3pPr>
            <a:lvl4pPr marL="168528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2247047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808808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337057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932331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4494093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136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606" y="749018"/>
            <a:ext cx="7590228" cy="3713880"/>
          </a:xfrm>
        </p:spPr>
        <p:txBody>
          <a:bodyPr anchor="ctr">
            <a:normAutofit/>
          </a:bodyPr>
          <a:lstStyle>
            <a:lvl1pPr algn="l">
              <a:defRPr sz="54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61996" y="4931034"/>
            <a:ext cx="7934645" cy="63185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9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1762" indent="0">
              <a:buFontTx/>
              <a:buNone/>
              <a:defRPr/>
            </a:lvl2pPr>
            <a:lvl3pPr marL="1123523" indent="0">
              <a:buFontTx/>
              <a:buNone/>
              <a:defRPr/>
            </a:lvl3pPr>
            <a:lvl4pPr marL="1685285" indent="0">
              <a:buFontTx/>
              <a:buNone/>
              <a:defRPr/>
            </a:lvl4pPr>
            <a:lvl5pPr marL="2247047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8" y="5562892"/>
            <a:ext cx="7934644" cy="1860152"/>
          </a:xfrm>
        </p:spPr>
        <p:txBody>
          <a:bodyPr anchor="t">
            <a:normAutofit/>
          </a:bodyPr>
          <a:lstStyle>
            <a:lvl1pPr marL="0" indent="0" algn="l">
              <a:buNone/>
              <a:defRPr sz="221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1762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2pPr>
            <a:lvl3pPr marL="1123523" indent="0">
              <a:buNone/>
              <a:defRPr sz="1966">
                <a:solidFill>
                  <a:schemeClr val="tx1">
                    <a:tint val="75000"/>
                  </a:schemeClr>
                </a:solidFill>
              </a:defRPr>
            </a:lvl3pPr>
            <a:lvl4pPr marL="168528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2247047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808808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337057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932331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4494093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03389" y="971141"/>
            <a:ext cx="571649" cy="718516"/>
          </a:xfrm>
          <a:prstGeom prst="rect">
            <a:avLst/>
          </a:prstGeom>
        </p:spPr>
        <p:txBody>
          <a:bodyPr vert="horz" lIns="112353" tIns="56176" rIns="112353" bIns="56176" rtlCol="0" anchor="ctr">
            <a:noAutofit/>
          </a:bodyPr>
          <a:lstStyle/>
          <a:p>
            <a:pPr lvl="0"/>
            <a:r>
              <a:rPr lang="en-US" sz="983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4624" y="3546722"/>
            <a:ext cx="571649" cy="718516"/>
          </a:xfrm>
          <a:prstGeom prst="rect">
            <a:avLst/>
          </a:prstGeom>
        </p:spPr>
        <p:txBody>
          <a:bodyPr vert="horz" lIns="112353" tIns="56176" rIns="112353" bIns="56176" rtlCol="0" anchor="ctr">
            <a:noAutofit/>
          </a:bodyPr>
          <a:lstStyle/>
          <a:p>
            <a:pPr lvl="0"/>
            <a:r>
              <a:rPr lang="en-US" sz="983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5922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811" y="749018"/>
            <a:ext cx="7926831" cy="3713880"/>
          </a:xfrm>
        </p:spPr>
        <p:txBody>
          <a:bodyPr anchor="ctr">
            <a:normAutofit/>
          </a:bodyPr>
          <a:lstStyle>
            <a:lvl1pPr algn="l">
              <a:defRPr sz="54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61996" y="4931034"/>
            <a:ext cx="7934645" cy="63185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949">
                <a:solidFill>
                  <a:schemeClr val="accent1"/>
                </a:solidFill>
              </a:defRPr>
            </a:lvl1pPr>
            <a:lvl2pPr marL="561762" indent="0">
              <a:buFontTx/>
              <a:buNone/>
              <a:defRPr/>
            </a:lvl2pPr>
            <a:lvl3pPr marL="1123523" indent="0">
              <a:buFontTx/>
              <a:buNone/>
              <a:defRPr/>
            </a:lvl3pPr>
            <a:lvl4pPr marL="1685285" indent="0">
              <a:buFontTx/>
              <a:buNone/>
              <a:defRPr/>
            </a:lvl4pPr>
            <a:lvl5pPr marL="2247047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8" y="5562892"/>
            <a:ext cx="7934644" cy="1860152"/>
          </a:xfrm>
        </p:spPr>
        <p:txBody>
          <a:bodyPr anchor="t">
            <a:normAutofit/>
          </a:bodyPr>
          <a:lstStyle>
            <a:lvl1pPr marL="0" indent="0" algn="l">
              <a:buNone/>
              <a:defRPr sz="221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1762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2pPr>
            <a:lvl3pPr marL="1123523" indent="0">
              <a:buNone/>
              <a:defRPr sz="1966">
                <a:solidFill>
                  <a:schemeClr val="tx1">
                    <a:tint val="75000"/>
                  </a:schemeClr>
                </a:solidFill>
              </a:defRPr>
            </a:lvl3pPr>
            <a:lvl4pPr marL="168528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2247047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808808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337057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932331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4494093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013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602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1640" y="749019"/>
            <a:ext cx="1223515" cy="64524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1999" y="749019"/>
            <a:ext cx="6493783" cy="6452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677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7375" y="2120900"/>
            <a:ext cx="561276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87375" y="3431540"/>
            <a:ext cx="5849620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54575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08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0583" y="-10404"/>
            <a:ext cx="11462256" cy="8447258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749018"/>
            <a:ext cx="7934641" cy="1622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654726"/>
            <a:ext cx="7934643" cy="4768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56573" y="7423046"/>
            <a:ext cx="855165" cy="448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0" y="7423046"/>
            <a:ext cx="5778716" cy="448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5845" y="7423046"/>
            <a:ext cx="640798" cy="448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6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33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txStyles>
    <p:titleStyle>
      <a:lvl1pPr algn="l" defTabSz="561762" rtl="0" eaLnBrk="1" latinLnBrk="0" hangingPunct="1">
        <a:spcBef>
          <a:spcPct val="0"/>
        </a:spcBef>
        <a:buNone/>
        <a:defRPr sz="4423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1321" indent="-42132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1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12863" indent="-35110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6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404404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66166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527927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89689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651451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213212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774974" indent="-280881" algn="l" defTabSz="561762" rtl="0" eaLnBrk="1" latinLnBrk="0" hangingPunct="1">
        <a:spcBef>
          <a:spcPts val="12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1pPr>
      <a:lvl2pPr marL="561762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2pPr>
      <a:lvl3pPr marL="1123523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3pPr>
      <a:lvl4pPr marL="1685285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4pPr>
      <a:lvl5pPr marL="2247047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5pPr>
      <a:lvl6pPr marL="2808808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6pPr>
      <a:lvl7pPr marL="3370570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7pPr>
      <a:lvl8pPr marL="3932331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8pPr>
      <a:lvl9pPr marL="4494093" algn="l" defTabSz="561762" rtl="0" eaLnBrk="1" latinLnBrk="0" hangingPunct="1">
        <a:defRPr sz="2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506" y="5391331"/>
            <a:ext cx="1699105" cy="281016"/>
          </a:xfrm>
          <a:prstGeom prst="rect">
            <a:avLst/>
          </a:prstGeom>
        </p:spPr>
        <p:txBody>
          <a:bodyPr vert="horz" wrap="square" lIns="0" tIns="3978" rIns="0" bIns="0" rtlCol="0">
            <a:spAutoFit/>
          </a:bodyPr>
          <a:lstStyle/>
          <a:p>
            <a:pPr marL="3978">
              <a:spcBef>
                <a:spcPts val="32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2" dirty="0">
                <a:latin typeface="Arial Black"/>
                <a:cs typeface="Arial Black"/>
              </a:rPr>
              <a:t> </a:t>
            </a:r>
            <a:r>
              <a:rPr spc="-8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1506" y="5774420"/>
            <a:ext cx="1699105" cy="558015"/>
          </a:xfrm>
          <a:prstGeom prst="rect">
            <a:avLst/>
          </a:prstGeom>
        </p:spPr>
        <p:txBody>
          <a:bodyPr vert="horz" wrap="square" lIns="0" tIns="3978" rIns="0" bIns="0" rtlCol="0">
            <a:spAutoFit/>
          </a:bodyPr>
          <a:lstStyle/>
          <a:p>
            <a:pPr marL="3978">
              <a:spcBef>
                <a:spcPts val="32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5036" y="3965079"/>
            <a:ext cx="2710163" cy="496292"/>
          </a:xfrm>
          <a:prstGeom prst="rect">
            <a:avLst/>
          </a:prstGeom>
        </p:spPr>
        <p:txBody>
          <a:bodyPr vert="horz" wrap="square" lIns="0" tIns="45150" rIns="0" bIns="0" rtlCol="0">
            <a:spAutoFit/>
          </a:bodyPr>
          <a:lstStyle/>
          <a:p>
            <a:pPr marL="41966">
              <a:spcBef>
                <a:spcPts val="355"/>
              </a:spcBef>
            </a:pPr>
            <a:r>
              <a:rPr lang="en-IN" sz="1576" b="1" dirty="0">
                <a:solidFill>
                  <a:srgbClr val="C45811"/>
                </a:solidFill>
                <a:latin typeface="Arial"/>
                <a:cs typeface="Arial"/>
              </a:rPr>
              <a:t>    Assignment:-2</a:t>
            </a:r>
            <a:endParaRPr sz="1576" dirty="0">
              <a:latin typeface="Arial"/>
              <a:cs typeface="Arial"/>
            </a:endParaRPr>
          </a:p>
          <a:p>
            <a:pPr marL="3978">
              <a:spcBef>
                <a:spcPts val="296"/>
              </a:spcBef>
            </a:pPr>
            <a:r>
              <a:rPr lang="en-IN" sz="709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103" b="1" spc="-3" dirty="0">
                <a:cs typeface="Carlito"/>
              </a:rPr>
              <a:t> </a:t>
            </a:r>
            <a:r>
              <a:rPr lang="en-IN" sz="1103" b="1" u="sng" spc="-3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- 02</a:t>
            </a:r>
            <a:endParaRPr sz="1103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0118" y="5473027"/>
            <a:ext cx="1840661" cy="281016"/>
          </a:xfrm>
          <a:prstGeom prst="rect">
            <a:avLst/>
          </a:prstGeom>
        </p:spPr>
        <p:txBody>
          <a:bodyPr vert="horz" wrap="square" lIns="0" tIns="3978" rIns="0" bIns="0" rtlCol="0">
            <a:spAutoFit/>
          </a:bodyPr>
          <a:lstStyle/>
          <a:p>
            <a:pPr marL="3978">
              <a:spcBef>
                <a:spcPts val="32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2" dirty="0">
                <a:latin typeface="Arial Black"/>
                <a:cs typeface="Arial Black"/>
              </a:rPr>
              <a:t> </a:t>
            </a:r>
            <a:r>
              <a:rPr spc="-8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9110" y="5845249"/>
            <a:ext cx="1937095" cy="281016"/>
          </a:xfrm>
          <a:prstGeom prst="rect">
            <a:avLst/>
          </a:prstGeom>
        </p:spPr>
        <p:txBody>
          <a:bodyPr vert="horz" wrap="square" lIns="0" tIns="3978" rIns="0" bIns="0" rtlCol="0">
            <a:spAutoFit/>
          </a:bodyPr>
          <a:lstStyle/>
          <a:p>
            <a:pPr marL="3978">
              <a:spcBef>
                <a:spcPts val="32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9109" y="6299167"/>
            <a:ext cx="2226473" cy="526019"/>
          </a:xfrm>
          <a:prstGeom prst="rect">
            <a:avLst/>
          </a:prstGeom>
        </p:spPr>
        <p:txBody>
          <a:bodyPr vert="horz" wrap="square" lIns="0" tIns="3978" rIns="0" bIns="0" rtlCol="0">
            <a:spAutoFit/>
          </a:bodyPr>
          <a:lstStyle/>
          <a:p>
            <a:pPr marL="3978">
              <a:spcBef>
                <a:spcPts val="32"/>
              </a:spcBef>
            </a:pPr>
            <a:r>
              <a:rPr sz="1103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103" b="1" spc="56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3" b="1" spc="-3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103" b="1" spc="-3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103" b="1" spc="-3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103" b="1" spc="-3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103" b="1" dirty="0">
              <a:latin typeface="Arial"/>
              <a:cs typeface="Arial"/>
            </a:endParaRPr>
          </a:p>
          <a:p>
            <a:pPr>
              <a:spcBef>
                <a:spcPts val="68"/>
              </a:spcBef>
            </a:pPr>
            <a:endParaRPr sz="1103" b="1" dirty="0">
              <a:latin typeface="Arial"/>
              <a:cs typeface="Arial"/>
            </a:endParaRPr>
          </a:p>
          <a:p>
            <a:pPr marL="3978"/>
            <a:r>
              <a:rPr sz="1103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103" b="1" spc="7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3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103" b="1" spc="78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3" b="1" spc="-89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103" b="1" spc="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3" b="1" spc="-3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103" b="1" spc="-3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103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33024" y="2183576"/>
            <a:ext cx="5437587" cy="304548"/>
          </a:xfrm>
          <a:prstGeom prst="rect">
            <a:avLst/>
          </a:prstGeom>
        </p:spPr>
        <p:txBody>
          <a:bodyPr vert="horz" wrap="square" lIns="0" tIns="3978" rIns="0" bIns="0" rtlCol="0" anchor="ctr">
            <a:spAutoFit/>
          </a:bodyPr>
          <a:lstStyle/>
          <a:p>
            <a:pPr marL="3978">
              <a:spcBef>
                <a:spcPts val="32"/>
              </a:spcBef>
            </a:pPr>
            <a:r>
              <a:rPr sz="1953" b="1" spc="-58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1953" b="1" spc="9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1953" b="1" spc="-7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1953" b="1" spc="8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1953" b="1" spc="-9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1953" b="1" spc="9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1953" b="1" spc="-56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611" y="2829767"/>
            <a:ext cx="1123028" cy="89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8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z="3350" spc="-75" dirty="0"/>
              <a:t>Mastering</a:t>
            </a:r>
            <a:r>
              <a:rPr sz="3350" spc="-225" dirty="0"/>
              <a:t> </a:t>
            </a:r>
            <a:r>
              <a:rPr sz="3350" spc="-105" dirty="0"/>
              <a:t>Database</a:t>
            </a:r>
            <a:r>
              <a:rPr sz="3350" spc="-220" dirty="0"/>
              <a:t> </a:t>
            </a:r>
            <a:r>
              <a:rPr sz="3350" spc="-30" dirty="0"/>
              <a:t>Design </a:t>
            </a:r>
            <a:r>
              <a:rPr sz="3350" spc="-70" dirty="0"/>
              <a:t>for</a:t>
            </a:r>
            <a:r>
              <a:rPr sz="3350" spc="-225" dirty="0"/>
              <a:t> </a:t>
            </a:r>
            <a:r>
              <a:rPr sz="3350" spc="-100" dirty="0"/>
              <a:t>Task</a:t>
            </a:r>
            <a:r>
              <a:rPr sz="3350" spc="-220" dirty="0"/>
              <a:t> </a:t>
            </a:r>
            <a:r>
              <a:rPr sz="3350" spc="-10" dirty="0"/>
              <a:t>Management</a:t>
            </a:r>
            <a:endParaRPr sz="33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spc="-70" dirty="0"/>
              <a:t>Welcome</a:t>
            </a:r>
            <a:r>
              <a:rPr spc="-170" dirty="0"/>
              <a:t> </a:t>
            </a:r>
            <a:r>
              <a:rPr spc="-40" dirty="0"/>
              <a:t>to</a:t>
            </a:r>
            <a:r>
              <a:rPr spc="-165" dirty="0"/>
              <a:t> </a:t>
            </a:r>
            <a:r>
              <a:rPr spc="-35" dirty="0"/>
              <a:t>this</a:t>
            </a:r>
            <a:r>
              <a:rPr spc="-165" dirty="0"/>
              <a:t> </a:t>
            </a:r>
            <a:r>
              <a:rPr spc="-65" dirty="0"/>
              <a:t>lab</a:t>
            </a:r>
            <a:r>
              <a:rPr spc="-165" dirty="0"/>
              <a:t> </a:t>
            </a:r>
            <a:r>
              <a:rPr spc="-50" dirty="0"/>
              <a:t>on</a:t>
            </a:r>
            <a:r>
              <a:rPr spc="-165" dirty="0"/>
              <a:t> </a:t>
            </a:r>
            <a:r>
              <a:rPr spc="-50" dirty="0"/>
              <a:t>designing</a:t>
            </a:r>
            <a:r>
              <a:rPr spc="-165" dirty="0"/>
              <a:t> </a:t>
            </a:r>
            <a:r>
              <a:rPr spc="-50" dirty="0"/>
              <a:t>robust</a:t>
            </a:r>
            <a:r>
              <a:rPr spc="-165" dirty="0"/>
              <a:t> </a:t>
            </a:r>
            <a:r>
              <a:rPr spc="-45" dirty="0"/>
              <a:t>database</a:t>
            </a:r>
            <a:r>
              <a:rPr spc="-165" dirty="0"/>
              <a:t> </a:t>
            </a:r>
            <a:r>
              <a:rPr spc="-60" dirty="0"/>
              <a:t>schemas.</a:t>
            </a:r>
            <a:r>
              <a:rPr spc="-165" dirty="0"/>
              <a:t> </a:t>
            </a:r>
            <a:r>
              <a:rPr spc="-114" dirty="0"/>
              <a:t>Today,</a:t>
            </a:r>
            <a:r>
              <a:rPr spc="-165" dirty="0"/>
              <a:t> </a:t>
            </a:r>
            <a:r>
              <a:rPr spc="-10" dirty="0"/>
              <a:t>we'll </a:t>
            </a:r>
            <a:r>
              <a:rPr spc="-65" dirty="0"/>
              <a:t>explore</a:t>
            </a:r>
            <a:r>
              <a:rPr spc="-165" dirty="0"/>
              <a:t> </a:t>
            </a:r>
            <a:r>
              <a:rPr spc="-70" dirty="0"/>
              <a:t>how</a:t>
            </a:r>
            <a:r>
              <a:rPr spc="-160" dirty="0"/>
              <a:t> </a:t>
            </a:r>
            <a:r>
              <a:rPr spc="-40" dirty="0"/>
              <a:t>to</a:t>
            </a:r>
            <a:r>
              <a:rPr spc="-165" dirty="0"/>
              <a:t> </a:t>
            </a:r>
            <a:r>
              <a:rPr spc="-40" dirty="0"/>
              <a:t>structure</a:t>
            </a:r>
            <a:r>
              <a:rPr spc="-160" dirty="0"/>
              <a:t> </a:t>
            </a:r>
            <a:r>
              <a:rPr spc="-50" dirty="0"/>
              <a:t>data</a:t>
            </a:r>
            <a:r>
              <a:rPr spc="-165" dirty="0"/>
              <a:t> </a:t>
            </a:r>
            <a:r>
              <a:rPr spc="-40" dirty="0"/>
              <a:t>efficiently</a:t>
            </a:r>
            <a:r>
              <a:rPr spc="-160" dirty="0"/>
              <a:t> </a:t>
            </a:r>
            <a:r>
              <a:rPr spc="-60" dirty="0"/>
              <a:t>for</a:t>
            </a:r>
            <a:r>
              <a:rPr spc="-160" dirty="0"/>
              <a:t> </a:t>
            </a:r>
            <a:r>
              <a:rPr spc="-65" dirty="0"/>
              <a:t>a</a:t>
            </a:r>
            <a:r>
              <a:rPr spc="-165" dirty="0"/>
              <a:t> </a:t>
            </a:r>
            <a:r>
              <a:rPr spc="-90" dirty="0"/>
              <a:t>'Task</a:t>
            </a:r>
            <a:r>
              <a:rPr spc="-160" dirty="0"/>
              <a:t> </a:t>
            </a:r>
            <a:r>
              <a:rPr spc="-65" dirty="0"/>
              <a:t>Management</a:t>
            </a:r>
            <a:r>
              <a:rPr spc="-165" dirty="0"/>
              <a:t> </a:t>
            </a:r>
            <a:r>
              <a:rPr spc="-85" dirty="0"/>
              <a:t>Tool'</a:t>
            </a:r>
            <a:r>
              <a:rPr spc="-160" dirty="0"/>
              <a:t> </a:t>
            </a:r>
            <a:r>
              <a:rPr spc="-25" dirty="0"/>
              <a:t>web </a:t>
            </a:r>
            <a:r>
              <a:rPr spc="-55" dirty="0"/>
              <a:t>application,</a:t>
            </a:r>
            <a:r>
              <a:rPr spc="-165" dirty="0"/>
              <a:t> </a:t>
            </a:r>
            <a:r>
              <a:rPr spc="-35" dirty="0"/>
              <a:t>focusing</a:t>
            </a:r>
            <a:r>
              <a:rPr spc="-165" dirty="0"/>
              <a:t> </a:t>
            </a:r>
            <a:r>
              <a:rPr spc="-50" dirty="0"/>
              <a:t>on</a:t>
            </a:r>
            <a:r>
              <a:rPr spc="-170" dirty="0"/>
              <a:t> </a:t>
            </a:r>
            <a:r>
              <a:rPr spc="-65" dirty="0"/>
              <a:t>tasks,</a:t>
            </a:r>
            <a:r>
              <a:rPr spc="-165" dirty="0"/>
              <a:t> </a:t>
            </a:r>
            <a:r>
              <a:rPr spc="-60" dirty="0"/>
              <a:t>users,</a:t>
            </a:r>
            <a:r>
              <a:rPr spc="-165" dirty="0"/>
              <a:t> </a:t>
            </a:r>
            <a:r>
              <a:rPr spc="-60" dirty="0"/>
              <a:t>and</a:t>
            </a:r>
            <a:r>
              <a:rPr spc="-165" dirty="0"/>
              <a:t> </a:t>
            </a:r>
            <a:r>
              <a:rPr spc="-10" dirty="0"/>
              <a:t>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375" y="839787"/>
            <a:ext cx="268287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0" dirty="0">
                <a:solidFill>
                  <a:srgbClr val="0C0D0E"/>
                </a:solidFill>
                <a:latin typeface="Verdana"/>
                <a:cs typeface="Verdana"/>
              </a:rPr>
              <a:t>Chapter</a:t>
            </a:r>
            <a:r>
              <a:rPr sz="1650" spc="-11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320" dirty="0">
                <a:solidFill>
                  <a:srgbClr val="0C0D0E"/>
                </a:solidFill>
                <a:latin typeface="Verdana"/>
                <a:cs typeface="Verdana"/>
              </a:rPr>
              <a:t>1:</a:t>
            </a:r>
            <a:r>
              <a:rPr sz="1650" spc="-1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1650" spc="-11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0C0D0E"/>
                </a:solidFill>
                <a:latin typeface="Verdana"/>
                <a:cs typeface="Verdana"/>
              </a:rPr>
              <a:t>Foundation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272222"/>
            <a:ext cx="724471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130" dirty="0"/>
              <a:t>Prerequisites</a:t>
            </a:r>
            <a:r>
              <a:rPr sz="4650" spc="-320" dirty="0"/>
              <a:t> </a:t>
            </a:r>
            <a:r>
              <a:rPr sz="4650" spc="-405" dirty="0"/>
              <a:t>&amp;</a:t>
            </a:r>
            <a:r>
              <a:rPr sz="4650" spc="-320" dirty="0"/>
              <a:t> </a:t>
            </a:r>
            <a:r>
              <a:rPr sz="4650" spc="-85" dirty="0"/>
              <a:t>Outcomes</a:t>
            </a:r>
            <a:endParaRPr sz="4650"/>
          </a:p>
        </p:txBody>
      </p:sp>
      <p:grpSp>
        <p:nvGrpSpPr>
          <p:cNvPr id="4" name="object 4"/>
          <p:cNvGrpSpPr/>
          <p:nvPr/>
        </p:nvGrpSpPr>
        <p:grpSpPr>
          <a:xfrm>
            <a:off x="600075" y="3038474"/>
            <a:ext cx="5029200" cy="2543175"/>
            <a:chOff x="600075" y="3038474"/>
            <a:chExt cx="5029200" cy="2543175"/>
          </a:xfrm>
        </p:grpSpPr>
        <p:sp>
          <p:nvSpPr>
            <p:cNvPr id="5" name="object 5"/>
            <p:cNvSpPr/>
            <p:nvPr/>
          </p:nvSpPr>
          <p:spPr>
            <a:xfrm>
              <a:off x="609600" y="3047999"/>
              <a:ext cx="5010150" cy="2524125"/>
            </a:xfrm>
            <a:custGeom>
              <a:avLst/>
              <a:gdLst/>
              <a:ahLst/>
              <a:cxnLst/>
              <a:rect l="l" t="t" r="r" b="b"/>
              <a:pathLst>
                <a:path w="5010150" h="2524125">
                  <a:moveTo>
                    <a:pt x="4898910" y="0"/>
                  </a:moveTo>
                  <a:lnTo>
                    <a:pt x="111244" y="0"/>
                  </a:lnTo>
                  <a:lnTo>
                    <a:pt x="103499" y="762"/>
                  </a:lnTo>
                  <a:lnTo>
                    <a:pt x="66278" y="12052"/>
                  </a:lnTo>
                  <a:lnTo>
                    <a:pt x="29343" y="40398"/>
                  </a:lnTo>
                  <a:lnTo>
                    <a:pt x="6071" y="80721"/>
                  </a:lnTo>
                  <a:lnTo>
                    <a:pt x="0" y="111239"/>
                  </a:lnTo>
                  <a:lnTo>
                    <a:pt x="0" y="2405063"/>
                  </a:lnTo>
                  <a:lnTo>
                    <a:pt x="0" y="2412876"/>
                  </a:lnTo>
                  <a:lnTo>
                    <a:pt x="12054" y="2457847"/>
                  </a:lnTo>
                  <a:lnTo>
                    <a:pt x="40402" y="2494776"/>
                  </a:lnTo>
                  <a:lnTo>
                    <a:pt x="80719" y="2518054"/>
                  </a:lnTo>
                  <a:lnTo>
                    <a:pt x="111244" y="2524121"/>
                  </a:lnTo>
                  <a:lnTo>
                    <a:pt x="4898910" y="2524121"/>
                  </a:lnTo>
                  <a:lnTo>
                    <a:pt x="4943868" y="2512066"/>
                  </a:lnTo>
                  <a:lnTo>
                    <a:pt x="4980800" y="2483723"/>
                  </a:lnTo>
                  <a:lnTo>
                    <a:pt x="5004079" y="2443401"/>
                  </a:lnTo>
                  <a:lnTo>
                    <a:pt x="5010150" y="2412876"/>
                  </a:lnTo>
                  <a:lnTo>
                    <a:pt x="5010150" y="111239"/>
                  </a:lnTo>
                  <a:lnTo>
                    <a:pt x="4998097" y="66268"/>
                  </a:lnTo>
                  <a:lnTo>
                    <a:pt x="4969751" y="29349"/>
                  </a:lnTo>
                  <a:lnTo>
                    <a:pt x="4929428" y="6070"/>
                  </a:lnTo>
                  <a:lnTo>
                    <a:pt x="4906645" y="762"/>
                  </a:lnTo>
                  <a:lnTo>
                    <a:pt x="4898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3047999"/>
              <a:ext cx="5010150" cy="2524125"/>
            </a:xfrm>
            <a:custGeom>
              <a:avLst/>
              <a:gdLst/>
              <a:ahLst/>
              <a:cxnLst/>
              <a:rect l="l" t="t" r="r" b="b"/>
              <a:pathLst>
                <a:path w="5010150" h="2524125">
                  <a:moveTo>
                    <a:pt x="0" y="2405063"/>
                  </a:moveTo>
                  <a:lnTo>
                    <a:pt x="0" y="119062"/>
                  </a:lnTo>
                  <a:lnTo>
                    <a:pt x="0" y="111239"/>
                  </a:lnTo>
                  <a:lnTo>
                    <a:pt x="764" y="103505"/>
                  </a:lnTo>
                  <a:lnTo>
                    <a:pt x="2287" y="95834"/>
                  </a:lnTo>
                  <a:lnTo>
                    <a:pt x="3815" y="88163"/>
                  </a:lnTo>
                  <a:lnTo>
                    <a:pt x="6071" y="80721"/>
                  </a:lnTo>
                  <a:lnTo>
                    <a:pt x="9063" y="73494"/>
                  </a:lnTo>
                  <a:lnTo>
                    <a:pt x="12054" y="66268"/>
                  </a:lnTo>
                  <a:lnTo>
                    <a:pt x="34870" y="34874"/>
                  </a:lnTo>
                  <a:lnTo>
                    <a:pt x="66278" y="12052"/>
                  </a:lnTo>
                  <a:lnTo>
                    <a:pt x="73501" y="9067"/>
                  </a:lnTo>
                  <a:lnTo>
                    <a:pt x="80719" y="6070"/>
                  </a:lnTo>
                  <a:lnTo>
                    <a:pt x="88165" y="3810"/>
                  </a:lnTo>
                  <a:lnTo>
                    <a:pt x="95835" y="2286"/>
                  </a:lnTo>
                  <a:lnTo>
                    <a:pt x="103499" y="762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4891087" y="0"/>
                  </a:lnTo>
                  <a:lnTo>
                    <a:pt x="4898910" y="0"/>
                  </a:lnTo>
                  <a:lnTo>
                    <a:pt x="4906645" y="762"/>
                  </a:lnTo>
                  <a:lnTo>
                    <a:pt x="4914315" y="2286"/>
                  </a:lnTo>
                  <a:lnTo>
                    <a:pt x="4921986" y="3810"/>
                  </a:lnTo>
                  <a:lnTo>
                    <a:pt x="4929428" y="6070"/>
                  </a:lnTo>
                  <a:lnTo>
                    <a:pt x="4936655" y="9067"/>
                  </a:lnTo>
                  <a:lnTo>
                    <a:pt x="4943868" y="12052"/>
                  </a:lnTo>
                  <a:lnTo>
                    <a:pt x="4975275" y="34874"/>
                  </a:lnTo>
                  <a:lnTo>
                    <a:pt x="4980800" y="40398"/>
                  </a:lnTo>
                  <a:lnTo>
                    <a:pt x="5001082" y="73494"/>
                  </a:lnTo>
                  <a:lnTo>
                    <a:pt x="5004079" y="80721"/>
                  </a:lnTo>
                  <a:lnTo>
                    <a:pt x="5006340" y="88163"/>
                  </a:lnTo>
                  <a:lnTo>
                    <a:pt x="5007864" y="95834"/>
                  </a:lnTo>
                  <a:lnTo>
                    <a:pt x="5009388" y="103505"/>
                  </a:lnTo>
                  <a:lnTo>
                    <a:pt x="5010150" y="111239"/>
                  </a:lnTo>
                  <a:lnTo>
                    <a:pt x="5010150" y="119062"/>
                  </a:lnTo>
                  <a:lnTo>
                    <a:pt x="5010150" y="2405063"/>
                  </a:lnTo>
                  <a:lnTo>
                    <a:pt x="5010150" y="2412876"/>
                  </a:lnTo>
                  <a:lnTo>
                    <a:pt x="5009388" y="2420621"/>
                  </a:lnTo>
                  <a:lnTo>
                    <a:pt x="5007864" y="2428290"/>
                  </a:lnTo>
                  <a:lnTo>
                    <a:pt x="5006340" y="2435955"/>
                  </a:lnTo>
                  <a:lnTo>
                    <a:pt x="5004079" y="2443401"/>
                  </a:lnTo>
                  <a:lnTo>
                    <a:pt x="5001082" y="2450625"/>
                  </a:lnTo>
                  <a:lnTo>
                    <a:pt x="4998097" y="2457847"/>
                  </a:lnTo>
                  <a:lnTo>
                    <a:pt x="4994427" y="2464709"/>
                  </a:lnTo>
                  <a:lnTo>
                    <a:pt x="4990084" y="2471207"/>
                  </a:lnTo>
                  <a:lnTo>
                    <a:pt x="4985740" y="2477706"/>
                  </a:lnTo>
                  <a:lnTo>
                    <a:pt x="4957229" y="2504059"/>
                  </a:lnTo>
                  <a:lnTo>
                    <a:pt x="4921986" y="2520311"/>
                  </a:lnTo>
                  <a:lnTo>
                    <a:pt x="4914315" y="2521833"/>
                  </a:lnTo>
                  <a:lnTo>
                    <a:pt x="4906645" y="2523361"/>
                  </a:lnTo>
                  <a:lnTo>
                    <a:pt x="4898910" y="2524121"/>
                  </a:lnTo>
                  <a:lnTo>
                    <a:pt x="4891087" y="2524126"/>
                  </a:lnTo>
                  <a:lnTo>
                    <a:pt x="119062" y="2524126"/>
                  </a:lnTo>
                  <a:lnTo>
                    <a:pt x="111244" y="2524121"/>
                  </a:lnTo>
                  <a:lnTo>
                    <a:pt x="103499" y="2523361"/>
                  </a:lnTo>
                  <a:lnTo>
                    <a:pt x="95835" y="2521833"/>
                  </a:lnTo>
                  <a:lnTo>
                    <a:pt x="88165" y="2520311"/>
                  </a:lnTo>
                  <a:lnTo>
                    <a:pt x="52913" y="2504059"/>
                  </a:lnTo>
                  <a:lnTo>
                    <a:pt x="24408" y="2477706"/>
                  </a:lnTo>
                  <a:lnTo>
                    <a:pt x="20067" y="2471207"/>
                  </a:lnTo>
                  <a:lnTo>
                    <a:pt x="15721" y="2464709"/>
                  </a:lnTo>
                  <a:lnTo>
                    <a:pt x="12054" y="2457847"/>
                  </a:lnTo>
                  <a:lnTo>
                    <a:pt x="9063" y="2450625"/>
                  </a:lnTo>
                  <a:lnTo>
                    <a:pt x="6071" y="2443401"/>
                  </a:lnTo>
                  <a:lnTo>
                    <a:pt x="3815" y="2435955"/>
                  </a:lnTo>
                  <a:lnTo>
                    <a:pt x="2287" y="2428290"/>
                  </a:lnTo>
                  <a:lnTo>
                    <a:pt x="764" y="2420621"/>
                  </a:lnTo>
                  <a:lnTo>
                    <a:pt x="0" y="2412876"/>
                  </a:lnTo>
                  <a:lnTo>
                    <a:pt x="0" y="2405063"/>
                  </a:lnTo>
                  <a:close/>
                </a:path>
              </a:pathLst>
            </a:custGeom>
            <a:ln w="19050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5" y="3057524"/>
              <a:ext cx="4991100" cy="509905"/>
            </a:xfrm>
            <a:custGeom>
              <a:avLst/>
              <a:gdLst/>
              <a:ahLst/>
              <a:cxnLst/>
              <a:rect l="l" t="t" r="r" b="b"/>
              <a:pathLst>
                <a:path w="4991100" h="509904">
                  <a:moveTo>
                    <a:pt x="4888750" y="0"/>
                  </a:moveTo>
                  <a:lnTo>
                    <a:pt x="102344" y="0"/>
                  </a:lnTo>
                  <a:lnTo>
                    <a:pt x="95220" y="698"/>
                  </a:lnTo>
                  <a:lnTo>
                    <a:pt x="54659" y="14465"/>
                  </a:lnTo>
                  <a:lnTo>
                    <a:pt x="22458" y="42697"/>
                  </a:lnTo>
                  <a:lnTo>
                    <a:pt x="3507" y="81114"/>
                  </a:lnTo>
                  <a:lnTo>
                    <a:pt x="0" y="102349"/>
                  </a:lnTo>
                  <a:lnTo>
                    <a:pt x="0" y="509587"/>
                  </a:lnTo>
                  <a:lnTo>
                    <a:pt x="4991100" y="509587"/>
                  </a:lnTo>
                  <a:lnTo>
                    <a:pt x="4991100" y="102349"/>
                  </a:lnTo>
                  <a:lnTo>
                    <a:pt x="4980012" y="60972"/>
                  </a:lnTo>
                  <a:lnTo>
                    <a:pt x="4953927" y="27000"/>
                  </a:lnTo>
                  <a:lnTo>
                    <a:pt x="4916830" y="5588"/>
                  </a:lnTo>
                  <a:lnTo>
                    <a:pt x="4888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5" y="3562349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9150" y="4229099"/>
              <a:ext cx="57150" cy="1057910"/>
            </a:xfrm>
            <a:custGeom>
              <a:avLst/>
              <a:gdLst/>
              <a:ahLst/>
              <a:cxnLst/>
              <a:rect l="l" t="t" r="r" b="b"/>
              <a:pathLst>
                <a:path w="57150" h="1057910">
                  <a:moveTo>
                    <a:pt x="57150" y="1024915"/>
                  </a:moveTo>
                  <a:lnTo>
                    <a:pt x="32359" y="1000137"/>
                  </a:lnTo>
                  <a:lnTo>
                    <a:pt x="24777" y="1000137"/>
                  </a:lnTo>
                  <a:lnTo>
                    <a:pt x="0" y="1024915"/>
                  </a:lnTo>
                  <a:lnTo>
                    <a:pt x="0" y="1032497"/>
                  </a:lnTo>
                  <a:lnTo>
                    <a:pt x="24777" y="1057287"/>
                  </a:lnTo>
                  <a:lnTo>
                    <a:pt x="32359" y="1057287"/>
                  </a:lnTo>
                  <a:lnTo>
                    <a:pt x="57150" y="1032497"/>
                  </a:lnTo>
                  <a:lnTo>
                    <a:pt x="57150" y="1028712"/>
                  </a:lnTo>
                  <a:lnTo>
                    <a:pt x="57150" y="1024915"/>
                  </a:lnTo>
                  <a:close/>
                </a:path>
                <a:path w="57150" h="1057910">
                  <a:moveTo>
                    <a:pt x="57150" y="691540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40"/>
                  </a:lnTo>
                  <a:lnTo>
                    <a:pt x="0" y="699109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1057910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57910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5457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7875" y="3725862"/>
            <a:ext cx="3823970" cy="163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What</a:t>
            </a:r>
            <a:r>
              <a:rPr sz="16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45" dirty="0">
                <a:solidFill>
                  <a:srgbClr val="545759"/>
                </a:solidFill>
                <a:latin typeface="Verdana"/>
                <a:cs typeface="Verdana"/>
              </a:rPr>
              <a:t>you</a:t>
            </a:r>
            <a:r>
              <a:rPr sz="16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545759"/>
                </a:solidFill>
                <a:latin typeface="Verdana"/>
                <a:cs typeface="Verdana"/>
              </a:rPr>
              <a:t>should</a:t>
            </a:r>
            <a:r>
              <a:rPr sz="16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know</a:t>
            </a:r>
            <a:endParaRPr sz="1650">
              <a:latin typeface="Verdana"/>
              <a:cs typeface="Verdana"/>
            </a:endParaRPr>
          </a:p>
          <a:p>
            <a:pPr marL="286385" marR="765175">
              <a:lnSpc>
                <a:spcPct val="162000"/>
              </a:lnSpc>
              <a:spcBef>
                <a:spcPts val="165"/>
              </a:spcBef>
            </a:pP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Basic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relational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database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concepts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Familiarity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-2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syntax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Database</a:t>
            </a:r>
            <a:r>
              <a:rPr sz="13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normalization</a:t>
            </a:r>
            <a:r>
              <a:rPr sz="1350" spc="-10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principles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Requirements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task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management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systems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00725" y="3038474"/>
            <a:ext cx="5029200" cy="2543175"/>
            <a:chOff x="5800725" y="3038474"/>
            <a:chExt cx="5029200" cy="2543175"/>
          </a:xfrm>
        </p:grpSpPr>
        <p:sp>
          <p:nvSpPr>
            <p:cNvPr id="12" name="object 12"/>
            <p:cNvSpPr/>
            <p:nvPr/>
          </p:nvSpPr>
          <p:spPr>
            <a:xfrm>
              <a:off x="5810250" y="3047999"/>
              <a:ext cx="5010150" cy="2524125"/>
            </a:xfrm>
            <a:custGeom>
              <a:avLst/>
              <a:gdLst/>
              <a:ahLst/>
              <a:cxnLst/>
              <a:rect l="l" t="t" r="r" b="b"/>
              <a:pathLst>
                <a:path w="5010150" h="2524125">
                  <a:moveTo>
                    <a:pt x="4898910" y="0"/>
                  </a:moveTo>
                  <a:lnTo>
                    <a:pt x="111239" y="0"/>
                  </a:lnTo>
                  <a:lnTo>
                    <a:pt x="103505" y="762"/>
                  </a:lnTo>
                  <a:lnTo>
                    <a:pt x="66281" y="12052"/>
                  </a:lnTo>
                  <a:lnTo>
                    <a:pt x="29349" y="40398"/>
                  </a:lnTo>
                  <a:lnTo>
                    <a:pt x="6070" y="80721"/>
                  </a:lnTo>
                  <a:lnTo>
                    <a:pt x="0" y="111239"/>
                  </a:lnTo>
                  <a:lnTo>
                    <a:pt x="0" y="2405063"/>
                  </a:lnTo>
                  <a:lnTo>
                    <a:pt x="0" y="2412876"/>
                  </a:lnTo>
                  <a:lnTo>
                    <a:pt x="12052" y="2457847"/>
                  </a:lnTo>
                  <a:lnTo>
                    <a:pt x="40398" y="2494776"/>
                  </a:lnTo>
                  <a:lnTo>
                    <a:pt x="80721" y="2518054"/>
                  </a:lnTo>
                  <a:lnTo>
                    <a:pt x="111239" y="2524121"/>
                  </a:lnTo>
                  <a:lnTo>
                    <a:pt x="4898910" y="2524121"/>
                  </a:lnTo>
                  <a:lnTo>
                    <a:pt x="4943868" y="2512066"/>
                  </a:lnTo>
                  <a:lnTo>
                    <a:pt x="4980800" y="2483723"/>
                  </a:lnTo>
                  <a:lnTo>
                    <a:pt x="5004079" y="2443401"/>
                  </a:lnTo>
                  <a:lnTo>
                    <a:pt x="5010150" y="2412876"/>
                  </a:lnTo>
                  <a:lnTo>
                    <a:pt x="5010150" y="111239"/>
                  </a:lnTo>
                  <a:lnTo>
                    <a:pt x="4998097" y="66268"/>
                  </a:lnTo>
                  <a:lnTo>
                    <a:pt x="4969751" y="29349"/>
                  </a:lnTo>
                  <a:lnTo>
                    <a:pt x="4929428" y="6070"/>
                  </a:lnTo>
                  <a:lnTo>
                    <a:pt x="4906645" y="762"/>
                  </a:lnTo>
                  <a:lnTo>
                    <a:pt x="4898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0250" y="3047999"/>
              <a:ext cx="5010150" cy="2524125"/>
            </a:xfrm>
            <a:custGeom>
              <a:avLst/>
              <a:gdLst/>
              <a:ahLst/>
              <a:cxnLst/>
              <a:rect l="l" t="t" r="r" b="b"/>
              <a:pathLst>
                <a:path w="5010150" h="2524125">
                  <a:moveTo>
                    <a:pt x="0" y="2405063"/>
                  </a:moveTo>
                  <a:lnTo>
                    <a:pt x="0" y="119062"/>
                  </a:lnTo>
                  <a:lnTo>
                    <a:pt x="0" y="111239"/>
                  </a:lnTo>
                  <a:lnTo>
                    <a:pt x="762" y="103505"/>
                  </a:lnTo>
                  <a:lnTo>
                    <a:pt x="2286" y="95834"/>
                  </a:lnTo>
                  <a:lnTo>
                    <a:pt x="3810" y="88163"/>
                  </a:lnTo>
                  <a:lnTo>
                    <a:pt x="6070" y="80721"/>
                  </a:lnTo>
                  <a:lnTo>
                    <a:pt x="9067" y="73494"/>
                  </a:lnTo>
                  <a:lnTo>
                    <a:pt x="12052" y="66268"/>
                  </a:lnTo>
                  <a:lnTo>
                    <a:pt x="15722" y="59410"/>
                  </a:lnTo>
                  <a:lnTo>
                    <a:pt x="20066" y="52908"/>
                  </a:lnTo>
                  <a:lnTo>
                    <a:pt x="24409" y="46418"/>
                  </a:lnTo>
                  <a:lnTo>
                    <a:pt x="29349" y="40398"/>
                  </a:lnTo>
                  <a:lnTo>
                    <a:pt x="34874" y="34874"/>
                  </a:lnTo>
                  <a:lnTo>
                    <a:pt x="40398" y="29349"/>
                  </a:lnTo>
                  <a:lnTo>
                    <a:pt x="73507" y="9067"/>
                  </a:lnTo>
                  <a:lnTo>
                    <a:pt x="80721" y="6070"/>
                  </a:lnTo>
                  <a:lnTo>
                    <a:pt x="88163" y="3810"/>
                  </a:lnTo>
                  <a:lnTo>
                    <a:pt x="95834" y="2286"/>
                  </a:lnTo>
                  <a:lnTo>
                    <a:pt x="103505" y="762"/>
                  </a:lnTo>
                  <a:lnTo>
                    <a:pt x="111239" y="0"/>
                  </a:lnTo>
                  <a:lnTo>
                    <a:pt x="119062" y="0"/>
                  </a:lnTo>
                  <a:lnTo>
                    <a:pt x="4891087" y="0"/>
                  </a:lnTo>
                  <a:lnTo>
                    <a:pt x="4898910" y="0"/>
                  </a:lnTo>
                  <a:lnTo>
                    <a:pt x="4906645" y="762"/>
                  </a:lnTo>
                  <a:lnTo>
                    <a:pt x="4914315" y="2286"/>
                  </a:lnTo>
                  <a:lnTo>
                    <a:pt x="4921986" y="3810"/>
                  </a:lnTo>
                  <a:lnTo>
                    <a:pt x="4929428" y="6070"/>
                  </a:lnTo>
                  <a:lnTo>
                    <a:pt x="4936655" y="9067"/>
                  </a:lnTo>
                  <a:lnTo>
                    <a:pt x="4943868" y="12052"/>
                  </a:lnTo>
                  <a:lnTo>
                    <a:pt x="4975275" y="34874"/>
                  </a:lnTo>
                  <a:lnTo>
                    <a:pt x="4998097" y="66268"/>
                  </a:lnTo>
                  <a:lnTo>
                    <a:pt x="5001082" y="73494"/>
                  </a:lnTo>
                  <a:lnTo>
                    <a:pt x="5004079" y="80721"/>
                  </a:lnTo>
                  <a:lnTo>
                    <a:pt x="5006340" y="88163"/>
                  </a:lnTo>
                  <a:lnTo>
                    <a:pt x="5007864" y="95834"/>
                  </a:lnTo>
                  <a:lnTo>
                    <a:pt x="5009388" y="103505"/>
                  </a:lnTo>
                  <a:lnTo>
                    <a:pt x="5010150" y="111239"/>
                  </a:lnTo>
                  <a:lnTo>
                    <a:pt x="5010150" y="119062"/>
                  </a:lnTo>
                  <a:lnTo>
                    <a:pt x="5010150" y="2405063"/>
                  </a:lnTo>
                  <a:lnTo>
                    <a:pt x="5010150" y="2412876"/>
                  </a:lnTo>
                  <a:lnTo>
                    <a:pt x="5009388" y="2420621"/>
                  </a:lnTo>
                  <a:lnTo>
                    <a:pt x="5007864" y="2428290"/>
                  </a:lnTo>
                  <a:lnTo>
                    <a:pt x="5006340" y="2435955"/>
                  </a:lnTo>
                  <a:lnTo>
                    <a:pt x="5004079" y="2443401"/>
                  </a:lnTo>
                  <a:lnTo>
                    <a:pt x="5001082" y="2450625"/>
                  </a:lnTo>
                  <a:lnTo>
                    <a:pt x="4998097" y="2457847"/>
                  </a:lnTo>
                  <a:lnTo>
                    <a:pt x="4994427" y="2464709"/>
                  </a:lnTo>
                  <a:lnTo>
                    <a:pt x="4990084" y="2471207"/>
                  </a:lnTo>
                  <a:lnTo>
                    <a:pt x="4985740" y="2477706"/>
                  </a:lnTo>
                  <a:lnTo>
                    <a:pt x="4957241" y="2504059"/>
                  </a:lnTo>
                  <a:lnTo>
                    <a:pt x="4921986" y="2520311"/>
                  </a:lnTo>
                  <a:lnTo>
                    <a:pt x="4914315" y="2521833"/>
                  </a:lnTo>
                  <a:lnTo>
                    <a:pt x="4906645" y="2523361"/>
                  </a:lnTo>
                  <a:lnTo>
                    <a:pt x="4898910" y="2524121"/>
                  </a:lnTo>
                  <a:lnTo>
                    <a:pt x="4891087" y="2524126"/>
                  </a:lnTo>
                  <a:lnTo>
                    <a:pt x="119062" y="2524126"/>
                  </a:lnTo>
                  <a:lnTo>
                    <a:pt x="111239" y="2524121"/>
                  </a:lnTo>
                  <a:lnTo>
                    <a:pt x="103505" y="2523361"/>
                  </a:lnTo>
                  <a:lnTo>
                    <a:pt x="95834" y="2521833"/>
                  </a:lnTo>
                  <a:lnTo>
                    <a:pt x="88163" y="2520311"/>
                  </a:lnTo>
                  <a:lnTo>
                    <a:pt x="80721" y="2518054"/>
                  </a:lnTo>
                  <a:lnTo>
                    <a:pt x="73507" y="2515062"/>
                  </a:lnTo>
                  <a:lnTo>
                    <a:pt x="66281" y="2512066"/>
                  </a:lnTo>
                  <a:lnTo>
                    <a:pt x="34874" y="2489250"/>
                  </a:lnTo>
                  <a:lnTo>
                    <a:pt x="20066" y="2471207"/>
                  </a:lnTo>
                  <a:lnTo>
                    <a:pt x="15722" y="2464709"/>
                  </a:lnTo>
                  <a:lnTo>
                    <a:pt x="12052" y="2457847"/>
                  </a:lnTo>
                  <a:lnTo>
                    <a:pt x="9067" y="2450625"/>
                  </a:lnTo>
                  <a:lnTo>
                    <a:pt x="6070" y="2443401"/>
                  </a:lnTo>
                  <a:lnTo>
                    <a:pt x="3810" y="2435955"/>
                  </a:lnTo>
                  <a:lnTo>
                    <a:pt x="2286" y="2428290"/>
                  </a:lnTo>
                  <a:lnTo>
                    <a:pt x="762" y="2420621"/>
                  </a:lnTo>
                  <a:lnTo>
                    <a:pt x="0" y="2412876"/>
                  </a:lnTo>
                  <a:lnTo>
                    <a:pt x="0" y="2405063"/>
                  </a:lnTo>
                  <a:close/>
                </a:path>
              </a:pathLst>
            </a:custGeom>
            <a:ln w="19050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9775" y="3057524"/>
              <a:ext cx="4991100" cy="509905"/>
            </a:xfrm>
            <a:custGeom>
              <a:avLst/>
              <a:gdLst/>
              <a:ahLst/>
              <a:cxnLst/>
              <a:rect l="l" t="t" r="r" b="b"/>
              <a:pathLst>
                <a:path w="4991100" h="509904">
                  <a:moveTo>
                    <a:pt x="4888750" y="0"/>
                  </a:moveTo>
                  <a:lnTo>
                    <a:pt x="102349" y="0"/>
                  </a:lnTo>
                  <a:lnTo>
                    <a:pt x="95224" y="698"/>
                  </a:lnTo>
                  <a:lnTo>
                    <a:pt x="54660" y="14465"/>
                  </a:lnTo>
                  <a:lnTo>
                    <a:pt x="22453" y="42697"/>
                  </a:lnTo>
                  <a:lnTo>
                    <a:pt x="3505" y="81114"/>
                  </a:lnTo>
                  <a:lnTo>
                    <a:pt x="0" y="102349"/>
                  </a:lnTo>
                  <a:lnTo>
                    <a:pt x="0" y="509587"/>
                  </a:lnTo>
                  <a:lnTo>
                    <a:pt x="4991100" y="509587"/>
                  </a:lnTo>
                  <a:lnTo>
                    <a:pt x="4991100" y="102349"/>
                  </a:lnTo>
                  <a:lnTo>
                    <a:pt x="4980012" y="60972"/>
                  </a:lnTo>
                  <a:lnTo>
                    <a:pt x="4953927" y="27000"/>
                  </a:lnTo>
                  <a:lnTo>
                    <a:pt x="4916830" y="5588"/>
                  </a:lnTo>
                  <a:lnTo>
                    <a:pt x="4888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9775" y="3562349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7375" y="2240914"/>
            <a:ext cx="1015174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Before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we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dive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into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specifics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schema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design,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let's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ensure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we're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on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same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page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regarding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foundational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knowledge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what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you'll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achieve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by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end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session.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350">
              <a:latin typeface="Verdana"/>
              <a:cs typeface="Verdana"/>
            </a:endParaRPr>
          </a:p>
          <a:p>
            <a:pPr marL="2474595">
              <a:lnSpc>
                <a:spcPct val="100000"/>
              </a:lnSpc>
              <a:tabLst>
                <a:tab pos="7649209" algn="l"/>
              </a:tabLst>
            </a:pPr>
            <a:r>
              <a:rPr sz="2000" spc="-509" dirty="0">
                <a:solidFill>
                  <a:srgbClr val="545759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545759"/>
                </a:solidFill>
                <a:latin typeface="Verdana"/>
                <a:cs typeface="Verdana"/>
              </a:rPr>
              <a:t>	</a:t>
            </a:r>
            <a:r>
              <a:rPr sz="2000" spc="-50" dirty="0">
                <a:solidFill>
                  <a:srgbClr val="545759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9800" y="4229100"/>
            <a:ext cx="57150" cy="1057910"/>
          </a:xfrm>
          <a:custGeom>
            <a:avLst/>
            <a:gdLst/>
            <a:ahLst/>
            <a:cxnLst/>
            <a:rect l="l" t="t" r="r" b="b"/>
            <a:pathLst>
              <a:path w="57150" h="1057910">
                <a:moveTo>
                  <a:pt x="57150" y="1024915"/>
                </a:moveTo>
                <a:lnTo>
                  <a:pt x="32346" y="1000137"/>
                </a:lnTo>
                <a:lnTo>
                  <a:pt x="24790" y="1000137"/>
                </a:lnTo>
                <a:lnTo>
                  <a:pt x="0" y="1024915"/>
                </a:lnTo>
                <a:lnTo>
                  <a:pt x="0" y="1032497"/>
                </a:lnTo>
                <a:lnTo>
                  <a:pt x="24790" y="1057287"/>
                </a:lnTo>
                <a:lnTo>
                  <a:pt x="32346" y="1057287"/>
                </a:lnTo>
                <a:lnTo>
                  <a:pt x="57150" y="1032497"/>
                </a:lnTo>
                <a:lnTo>
                  <a:pt x="57150" y="1028712"/>
                </a:lnTo>
                <a:lnTo>
                  <a:pt x="57150" y="1024915"/>
                </a:lnTo>
                <a:close/>
              </a:path>
              <a:path w="57150" h="1057910">
                <a:moveTo>
                  <a:pt x="57150" y="691540"/>
                </a:moveTo>
                <a:lnTo>
                  <a:pt x="32346" y="666750"/>
                </a:lnTo>
                <a:lnTo>
                  <a:pt x="24790" y="666750"/>
                </a:lnTo>
                <a:lnTo>
                  <a:pt x="0" y="691540"/>
                </a:lnTo>
                <a:lnTo>
                  <a:pt x="0" y="699109"/>
                </a:lnTo>
                <a:lnTo>
                  <a:pt x="24790" y="723900"/>
                </a:lnTo>
                <a:lnTo>
                  <a:pt x="32346" y="723900"/>
                </a:lnTo>
                <a:lnTo>
                  <a:pt x="57150" y="699109"/>
                </a:lnTo>
                <a:lnTo>
                  <a:pt x="57150" y="695325"/>
                </a:lnTo>
                <a:lnTo>
                  <a:pt x="57150" y="691540"/>
                </a:lnTo>
                <a:close/>
              </a:path>
              <a:path w="57150" h="1057910">
                <a:moveTo>
                  <a:pt x="57150" y="358165"/>
                </a:moveTo>
                <a:lnTo>
                  <a:pt x="32346" y="333375"/>
                </a:lnTo>
                <a:lnTo>
                  <a:pt x="24790" y="333375"/>
                </a:lnTo>
                <a:lnTo>
                  <a:pt x="0" y="358165"/>
                </a:lnTo>
                <a:lnTo>
                  <a:pt x="0" y="365734"/>
                </a:lnTo>
                <a:lnTo>
                  <a:pt x="24790" y="390525"/>
                </a:lnTo>
                <a:lnTo>
                  <a:pt x="32346" y="390525"/>
                </a:lnTo>
                <a:lnTo>
                  <a:pt x="57150" y="365734"/>
                </a:lnTo>
                <a:lnTo>
                  <a:pt x="57150" y="361950"/>
                </a:lnTo>
                <a:lnTo>
                  <a:pt x="57150" y="358165"/>
                </a:lnTo>
                <a:close/>
              </a:path>
              <a:path w="57150" h="1057910">
                <a:moveTo>
                  <a:pt x="57150" y="24790"/>
                </a:moveTo>
                <a:lnTo>
                  <a:pt x="32346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46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78525" y="3725862"/>
            <a:ext cx="3196590" cy="163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What</a:t>
            </a:r>
            <a:r>
              <a:rPr sz="16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45" dirty="0">
                <a:solidFill>
                  <a:srgbClr val="545759"/>
                </a:solidFill>
                <a:latin typeface="Verdana"/>
                <a:cs typeface="Verdana"/>
              </a:rPr>
              <a:t>you</a:t>
            </a:r>
            <a:r>
              <a:rPr sz="16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will</a:t>
            </a:r>
            <a:r>
              <a:rPr sz="16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learn</a:t>
            </a:r>
            <a:endParaRPr sz="16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  <a:spcBef>
                <a:spcPts val="165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Design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relational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database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schema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Create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-2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scripts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tables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Establish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table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relationships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Utilize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foreign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keys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effectively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375" y="801687"/>
            <a:ext cx="250317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0" dirty="0">
                <a:solidFill>
                  <a:srgbClr val="0C0D0E"/>
                </a:solidFill>
                <a:latin typeface="Verdana"/>
                <a:cs typeface="Verdana"/>
              </a:rPr>
              <a:t>Chapter</a:t>
            </a:r>
            <a:r>
              <a:rPr sz="1650" spc="-1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55" dirty="0">
                <a:solidFill>
                  <a:srgbClr val="0C0D0E"/>
                </a:solidFill>
                <a:latin typeface="Verdana"/>
                <a:cs typeface="Verdana"/>
              </a:rPr>
              <a:t>2:</a:t>
            </a:r>
            <a:r>
              <a:rPr sz="1650" spc="-1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1650" spc="-10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0C0D0E"/>
                </a:solidFill>
                <a:latin typeface="Verdana"/>
                <a:cs typeface="Verdana"/>
              </a:rPr>
              <a:t>Blueprint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234122"/>
            <a:ext cx="678370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114" dirty="0"/>
              <a:t>Analyzing</a:t>
            </a:r>
            <a:r>
              <a:rPr sz="4650" spc="-265" dirty="0"/>
              <a:t> </a:t>
            </a:r>
            <a:r>
              <a:rPr sz="4650" spc="-170" dirty="0"/>
              <a:t>Requirements</a:t>
            </a:r>
            <a:endParaRPr sz="4650"/>
          </a:p>
        </p:txBody>
      </p:sp>
      <p:sp>
        <p:nvSpPr>
          <p:cNvPr id="4" name="object 4"/>
          <p:cNvSpPr txBox="1"/>
          <p:nvPr/>
        </p:nvSpPr>
        <p:spPr>
          <a:xfrm>
            <a:off x="587375" y="2193289"/>
            <a:ext cx="1019683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Effective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database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design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begins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clear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understanding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system's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needs.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45759"/>
                </a:solidFill>
                <a:latin typeface="Verdana"/>
                <a:cs typeface="Verdana"/>
              </a:rPr>
              <a:t>We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need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identify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entities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their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essential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attributes.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4677" y="2985452"/>
            <a:ext cx="868044" cy="1327150"/>
            <a:chOff x="594677" y="2985452"/>
            <a:chExt cx="868044" cy="1327150"/>
          </a:xfrm>
        </p:grpSpPr>
        <p:sp>
          <p:nvSpPr>
            <p:cNvPr id="6" name="object 6"/>
            <p:cNvSpPr/>
            <p:nvPr/>
          </p:nvSpPr>
          <p:spPr>
            <a:xfrm>
              <a:off x="600075" y="2990849"/>
              <a:ext cx="857250" cy="1316355"/>
            </a:xfrm>
            <a:custGeom>
              <a:avLst/>
              <a:gdLst/>
              <a:ahLst/>
              <a:cxnLst/>
              <a:rect l="l" t="t" r="r" b="b"/>
              <a:pathLst>
                <a:path w="857250" h="1316354">
                  <a:moveTo>
                    <a:pt x="857250" y="0"/>
                  </a:moveTo>
                  <a:lnTo>
                    <a:pt x="0" y="257175"/>
                  </a:lnTo>
                  <a:lnTo>
                    <a:pt x="0" y="1315796"/>
                  </a:lnTo>
                  <a:lnTo>
                    <a:pt x="857250" y="1058621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0075" y="2990849"/>
              <a:ext cx="857250" cy="1316355"/>
            </a:xfrm>
            <a:custGeom>
              <a:avLst/>
              <a:gdLst/>
              <a:ahLst/>
              <a:cxnLst/>
              <a:rect l="l" t="t" r="r" b="b"/>
              <a:pathLst>
                <a:path w="857250" h="1316354">
                  <a:moveTo>
                    <a:pt x="0" y="1315796"/>
                  </a:moveTo>
                  <a:lnTo>
                    <a:pt x="0" y="257175"/>
                  </a:lnTo>
                  <a:lnTo>
                    <a:pt x="857250" y="0"/>
                  </a:lnTo>
                  <a:lnTo>
                    <a:pt x="857250" y="1058621"/>
                  </a:lnTo>
                  <a:lnTo>
                    <a:pt x="0" y="1315796"/>
                  </a:lnTo>
                  <a:close/>
                </a:path>
              </a:pathLst>
            </a:custGeom>
            <a:ln w="1071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3612" y="3473450"/>
            <a:ext cx="13017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9" dirty="0">
                <a:solidFill>
                  <a:srgbClr val="545759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3140075"/>
            <a:ext cx="8990330" cy="964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80" dirty="0">
                <a:solidFill>
                  <a:srgbClr val="545759"/>
                </a:solidFill>
                <a:latin typeface="Verdana"/>
                <a:cs typeface="Verdana"/>
              </a:rPr>
              <a:t>Identify</a:t>
            </a:r>
            <a:r>
              <a:rPr sz="2000" spc="-11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545759"/>
                </a:solidFill>
                <a:latin typeface="Verdana"/>
                <a:cs typeface="Verdana"/>
              </a:rPr>
              <a:t>Key</a:t>
            </a:r>
            <a:r>
              <a:rPr sz="2000" spc="-11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45759"/>
                </a:solidFill>
                <a:latin typeface="Verdana"/>
                <a:cs typeface="Verdana"/>
              </a:rPr>
              <a:t>Entities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770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Focus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on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primary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components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our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task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management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system: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60" dirty="0">
                <a:solidFill>
                  <a:srgbClr val="545759"/>
                </a:solidFill>
                <a:latin typeface="Arial Black"/>
                <a:cs typeface="Arial Black"/>
              </a:rPr>
              <a:t>Tasks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545759"/>
                </a:solidFill>
                <a:latin typeface="Arial Black"/>
                <a:cs typeface="Arial Black"/>
              </a:rPr>
              <a:t>Users</a:t>
            </a:r>
            <a:r>
              <a:rPr sz="1350" spc="-120" dirty="0">
                <a:solidFill>
                  <a:srgbClr val="545759"/>
                </a:solidFill>
                <a:latin typeface="Verdana"/>
                <a:cs typeface="Verdana"/>
              </a:rPr>
              <a:t>,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Arial Black"/>
                <a:cs typeface="Arial Black"/>
              </a:rPr>
              <a:t>Categories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.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These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form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the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our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structure.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4717" y="4299942"/>
            <a:ext cx="868044" cy="1326515"/>
            <a:chOff x="594717" y="4299942"/>
            <a:chExt cx="868044" cy="1326515"/>
          </a:xfrm>
        </p:grpSpPr>
        <p:sp>
          <p:nvSpPr>
            <p:cNvPr id="11" name="object 11"/>
            <p:cNvSpPr/>
            <p:nvPr/>
          </p:nvSpPr>
          <p:spPr>
            <a:xfrm>
              <a:off x="600075" y="4305300"/>
              <a:ext cx="857250" cy="1316355"/>
            </a:xfrm>
            <a:custGeom>
              <a:avLst/>
              <a:gdLst/>
              <a:ahLst/>
              <a:cxnLst/>
              <a:rect l="l" t="t" r="r" b="b"/>
              <a:pathLst>
                <a:path w="857250" h="1316354">
                  <a:moveTo>
                    <a:pt x="857250" y="0"/>
                  </a:moveTo>
                  <a:lnTo>
                    <a:pt x="0" y="257175"/>
                  </a:lnTo>
                  <a:lnTo>
                    <a:pt x="0" y="1315789"/>
                  </a:lnTo>
                  <a:lnTo>
                    <a:pt x="857250" y="1058614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75" y="4305300"/>
              <a:ext cx="857250" cy="1316355"/>
            </a:xfrm>
            <a:custGeom>
              <a:avLst/>
              <a:gdLst/>
              <a:ahLst/>
              <a:cxnLst/>
              <a:rect l="l" t="t" r="r" b="b"/>
              <a:pathLst>
                <a:path w="857250" h="1316354">
                  <a:moveTo>
                    <a:pt x="0" y="1315789"/>
                  </a:moveTo>
                  <a:lnTo>
                    <a:pt x="0" y="257175"/>
                  </a:lnTo>
                  <a:lnTo>
                    <a:pt x="857250" y="0"/>
                  </a:lnTo>
                  <a:lnTo>
                    <a:pt x="857250" y="1058614"/>
                  </a:lnTo>
                  <a:lnTo>
                    <a:pt x="0" y="1315789"/>
                  </a:lnTo>
                  <a:close/>
                </a:path>
              </a:pathLst>
            </a:custGeom>
            <a:ln w="1071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7567" y="4787900"/>
            <a:ext cx="18224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545759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075" y="4454525"/>
            <a:ext cx="9182735" cy="974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75" dirty="0">
                <a:solidFill>
                  <a:srgbClr val="545759"/>
                </a:solidFill>
                <a:latin typeface="Verdana"/>
                <a:cs typeface="Verdana"/>
              </a:rPr>
              <a:t>Determine</a:t>
            </a:r>
            <a:r>
              <a:rPr sz="2000" spc="-13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45759"/>
                </a:solidFill>
                <a:latin typeface="Verdana"/>
                <a:cs typeface="Verdana"/>
              </a:rPr>
              <a:t>Attributes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95"/>
              </a:spcBef>
            </a:pP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each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entity,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pinpoint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necessary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information.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What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do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we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need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store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about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task,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user,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or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category?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Think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about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every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detail.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5" name="object 1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Chapter</a:t>
            </a:r>
            <a:r>
              <a:rPr spc="-105" dirty="0"/>
              <a:t> </a:t>
            </a:r>
            <a:r>
              <a:rPr spc="-155" dirty="0"/>
              <a:t>3: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-3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891222"/>
            <a:ext cx="9963785" cy="1537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140" dirty="0">
                <a:solidFill>
                  <a:srgbClr val="0C0D0E"/>
                </a:solidFill>
                <a:latin typeface="Verdana"/>
                <a:cs typeface="Verdana"/>
              </a:rPr>
              <a:t>Designing</a:t>
            </a:r>
            <a:r>
              <a:rPr sz="4650" spc="-30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215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4650" spc="-30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85" dirty="0">
                <a:solidFill>
                  <a:srgbClr val="0C0D0E"/>
                </a:solidFill>
                <a:latin typeface="Verdana"/>
                <a:cs typeface="Verdana"/>
              </a:rPr>
              <a:t>Core</a:t>
            </a:r>
            <a:r>
              <a:rPr sz="4650" spc="-30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0" dirty="0">
                <a:solidFill>
                  <a:srgbClr val="0C0D0E"/>
                </a:solidFill>
                <a:latin typeface="Verdana"/>
                <a:cs typeface="Verdana"/>
              </a:rPr>
              <a:t>Tables</a:t>
            </a:r>
            <a:endParaRPr sz="4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2115"/>
              </a:spcBef>
            </a:pP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our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entities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defined,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we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can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now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structure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tables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that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will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hold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our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data.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Each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table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will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serve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distinct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purpose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within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database.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2847974"/>
            <a:ext cx="4905375" cy="4648200"/>
            <a:chOff x="600075" y="2847974"/>
            <a:chExt cx="4905375" cy="4648200"/>
          </a:xfrm>
        </p:grpSpPr>
        <p:sp>
          <p:nvSpPr>
            <p:cNvPr id="5" name="object 5"/>
            <p:cNvSpPr/>
            <p:nvPr/>
          </p:nvSpPr>
          <p:spPr>
            <a:xfrm>
              <a:off x="604837" y="2852737"/>
              <a:ext cx="4895850" cy="4638675"/>
            </a:xfrm>
            <a:custGeom>
              <a:avLst/>
              <a:gdLst/>
              <a:ahLst/>
              <a:cxnLst/>
              <a:rect l="l" t="t" r="r" b="b"/>
              <a:pathLst>
                <a:path w="4895850" h="4638675">
                  <a:moveTo>
                    <a:pt x="4780153" y="0"/>
                  </a:moveTo>
                  <a:lnTo>
                    <a:pt x="115694" y="0"/>
                  </a:lnTo>
                  <a:lnTo>
                    <a:pt x="107642" y="800"/>
                  </a:lnTo>
                  <a:lnTo>
                    <a:pt x="68926" y="12534"/>
                  </a:lnTo>
                  <a:lnTo>
                    <a:pt x="30519" y="42011"/>
                  </a:lnTo>
                  <a:lnTo>
                    <a:pt x="6315" y="83947"/>
                  </a:lnTo>
                  <a:lnTo>
                    <a:pt x="0" y="115697"/>
                  </a:lnTo>
                  <a:lnTo>
                    <a:pt x="0" y="4514851"/>
                  </a:lnTo>
                  <a:lnTo>
                    <a:pt x="0" y="4522976"/>
                  </a:lnTo>
                  <a:lnTo>
                    <a:pt x="12536" y="4569743"/>
                  </a:lnTo>
                  <a:lnTo>
                    <a:pt x="42014" y="4608156"/>
                  </a:lnTo>
                  <a:lnTo>
                    <a:pt x="83949" y="4632360"/>
                  </a:lnTo>
                  <a:lnTo>
                    <a:pt x="115694" y="4638671"/>
                  </a:lnTo>
                  <a:lnTo>
                    <a:pt x="4780153" y="4638671"/>
                  </a:lnTo>
                  <a:lnTo>
                    <a:pt x="4826927" y="4626135"/>
                  </a:lnTo>
                  <a:lnTo>
                    <a:pt x="4865331" y="4596657"/>
                  </a:lnTo>
                  <a:lnTo>
                    <a:pt x="4889538" y="4554721"/>
                  </a:lnTo>
                  <a:lnTo>
                    <a:pt x="4895850" y="4522976"/>
                  </a:lnTo>
                  <a:lnTo>
                    <a:pt x="4895850" y="115697"/>
                  </a:lnTo>
                  <a:lnTo>
                    <a:pt x="4883315" y="68922"/>
                  </a:lnTo>
                  <a:lnTo>
                    <a:pt x="4853825" y="30518"/>
                  </a:lnTo>
                  <a:lnTo>
                    <a:pt x="4811903" y="6311"/>
                  </a:lnTo>
                  <a:lnTo>
                    <a:pt x="4788204" y="800"/>
                  </a:lnTo>
                  <a:lnTo>
                    <a:pt x="4780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2852737"/>
              <a:ext cx="4895850" cy="4638675"/>
            </a:xfrm>
            <a:custGeom>
              <a:avLst/>
              <a:gdLst/>
              <a:ahLst/>
              <a:cxnLst/>
              <a:rect l="l" t="t" r="r" b="b"/>
              <a:pathLst>
                <a:path w="4895850" h="4638675">
                  <a:moveTo>
                    <a:pt x="0" y="4514851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4772025" y="0"/>
                  </a:lnTo>
                  <a:lnTo>
                    <a:pt x="4780153" y="0"/>
                  </a:lnTo>
                  <a:lnTo>
                    <a:pt x="4788204" y="800"/>
                  </a:lnTo>
                  <a:lnTo>
                    <a:pt x="4796180" y="2374"/>
                  </a:lnTo>
                  <a:lnTo>
                    <a:pt x="4804156" y="3962"/>
                  </a:lnTo>
                  <a:lnTo>
                    <a:pt x="4811903" y="6311"/>
                  </a:lnTo>
                  <a:lnTo>
                    <a:pt x="4819408" y="9423"/>
                  </a:lnTo>
                  <a:lnTo>
                    <a:pt x="4826927" y="12534"/>
                  </a:lnTo>
                  <a:lnTo>
                    <a:pt x="4859578" y="36271"/>
                  </a:lnTo>
                  <a:lnTo>
                    <a:pt x="4865331" y="42011"/>
                  </a:lnTo>
                  <a:lnTo>
                    <a:pt x="4870462" y="48272"/>
                  </a:lnTo>
                  <a:lnTo>
                    <a:pt x="4874983" y="55029"/>
                  </a:lnTo>
                  <a:lnTo>
                    <a:pt x="4879505" y="61785"/>
                  </a:lnTo>
                  <a:lnTo>
                    <a:pt x="4883315" y="68922"/>
                  </a:lnTo>
                  <a:lnTo>
                    <a:pt x="4886426" y="76441"/>
                  </a:lnTo>
                  <a:lnTo>
                    <a:pt x="4889538" y="83947"/>
                  </a:lnTo>
                  <a:lnTo>
                    <a:pt x="4891887" y="91694"/>
                  </a:lnTo>
                  <a:lnTo>
                    <a:pt x="4893475" y="99669"/>
                  </a:lnTo>
                  <a:lnTo>
                    <a:pt x="4895062" y="107645"/>
                  </a:lnTo>
                  <a:lnTo>
                    <a:pt x="4895850" y="115697"/>
                  </a:lnTo>
                  <a:lnTo>
                    <a:pt x="4895850" y="123825"/>
                  </a:lnTo>
                  <a:lnTo>
                    <a:pt x="4895850" y="4514851"/>
                  </a:lnTo>
                  <a:lnTo>
                    <a:pt x="4895850" y="4522976"/>
                  </a:lnTo>
                  <a:lnTo>
                    <a:pt x="4895062" y="4531033"/>
                  </a:lnTo>
                  <a:lnTo>
                    <a:pt x="4893475" y="4539005"/>
                  </a:lnTo>
                  <a:lnTo>
                    <a:pt x="4891887" y="4546978"/>
                  </a:lnTo>
                  <a:lnTo>
                    <a:pt x="4889538" y="4554721"/>
                  </a:lnTo>
                  <a:lnTo>
                    <a:pt x="4886426" y="4562232"/>
                  </a:lnTo>
                  <a:lnTo>
                    <a:pt x="4883315" y="4569743"/>
                  </a:lnTo>
                  <a:lnTo>
                    <a:pt x="4859578" y="4602406"/>
                  </a:lnTo>
                  <a:lnTo>
                    <a:pt x="4853825" y="4608156"/>
                  </a:lnTo>
                  <a:lnTo>
                    <a:pt x="4819408" y="4629245"/>
                  </a:lnTo>
                  <a:lnTo>
                    <a:pt x="4811903" y="4632360"/>
                  </a:lnTo>
                  <a:lnTo>
                    <a:pt x="4772025" y="4638676"/>
                  </a:lnTo>
                  <a:lnTo>
                    <a:pt x="123825" y="4638676"/>
                  </a:lnTo>
                  <a:lnTo>
                    <a:pt x="115694" y="4638671"/>
                  </a:lnTo>
                  <a:lnTo>
                    <a:pt x="107642" y="4637882"/>
                  </a:lnTo>
                  <a:lnTo>
                    <a:pt x="99669" y="4636295"/>
                  </a:lnTo>
                  <a:lnTo>
                    <a:pt x="91692" y="4634707"/>
                  </a:lnTo>
                  <a:lnTo>
                    <a:pt x="83949" y="4632360"/>
                  </a:lnTo>
                  <a:lnTo>
                    <a:pt x="76438" y="4629245"/>
                  </a:lnTo>
                  <a:lnTo>
                    <a:pt x="68926" y="4626135"/>
                  </a:lnTo>
                  <a:lnTo>
                    <a:pt x="36269" y="4602406"/>
                  </a:lnTo>
                  <a:lnTo>
                    <a:pt x="30519" y="4596657"/>
                  </a:lnTo>
                  <a:lnTo>
                    <a:pt x="9425" y="4562232"/>
                  </a:lnTo>
                  <a:lnTo>
                    <a:pt x="6315" y="4554721"/>
                  </a:lnTo>
                  <a:lnTo>
                    <a:pt x="3963" y="4546978"/>
                  </a:lnTo>
                  <a:lnTo>
                    <a:pt x="2381" y="4539005"/>
                  </a:lnTo>
                  <a:lnTo>
                    <a:pt x="793" y="4531033"/>
                  </a:lnTo>
                  <a:lnTo>
                    <a:pt x="0" y="4522976"/>
                  </a:lnTo>
                  <a:lnTo>
                    <a:pt x="0" y="4514851"/>
                  </a:lnTo>
                  <a:close/>
                </a:path>
              </a:pathLst>
            </a:custGeom>
            <a:ln w="952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2857499"/>
              <a:ext cx="4886325" cy="2314575"/>
            </a:xfrm>
            <a:custGeom>
              <a:avLst/>
              <a:gdLst/>
              <a:ahLst/>
              <a:cxnLst/>
              <a:rect l="l" t="t" r="r" b="b"/>
              <a:pathLst>
                <a:path w="4886325" h="2314575">
                  <a:moveTo>
                    <a:pt x="4766183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2314575"/>
                  </a:lnTo>
                  <a:lnTo>
                    <a:pt x="4886325" y="2314575"/>
                  </a:lnTo>
                  <a:lnTo>
                    <a:pt x="4886325" y="120142"/>
                  </a:lnTo>
                  <a:lnTo>
                    <a:pt x="4873307" y="71577"/>
                  </a:lnTo>
                  <a:lnTo>
                    <a:pt x="4842687" y="31686"/>
                  </a:lnTo>
                  <a:lnTo>
                    <a:pt x="4799152" y="6553"/>
                  </a:lnTo>
                  <a:lnTo>
                    <a:pt x="4766183" y="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625" y="3581399"/>
              <a:ext cx="57150" cy="1057275"/>
            </a:xfrm>
            <a:custGeom>
              <a:avLst/>
              <a:gdLst/>
              <a:ahLst/>
              <a:cxnLst/>
              <a:rect l="l" t="t" r="r" b="b"/>
              <a:pathLst>
                <a:path w="57150" h="1057275">
                  <a:moveTo>
                    <a:pt x="57150" y="1024915"/>
                  </a:moveTo>
                  <a:lnTo>
                    <a:pt x="32359" y="1000125"/>
                  </a:lnTo>
                  <a:lnTo>
                    <a:pt x="24777" y="1000125"/>
                  </a:lnTo>
                  <a:lnTo>
                    <a:pt x="0" y="1024915"/>
                  </a:lnTo>
                  <a:lnTo>
                    <a:pt x="0" y="1032484"/>
                  </a:lnTo>
                  <a:lnTo>
                    <a:pt x="24777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15"/>
                  </a:lnTo>
                  <a:close/>
                </a:path>
                <a:path w="57150" h="1057275">
                  <a:moveTo>
                    <a:pt x="57150" y="691540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40"/>
                  </a:lnTo>
                  <a:lnTo>
                    <a:pt x="0" y="699109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1057275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57275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8350" y="3011487"/>
            <a:ext cx="3449320" cy="1703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latin typeface="Verdana"/>
                <a:cs typeface="Verdana"/>
              </a:rPr>
              <a:t>Tasks</a:t>
            </a:r>
            <a:r>
              <a:rPr sz="1650" spc="-114" dirty="0">
                <a:latin typeface="Verdana"/>
                <a:cs typeface="Verdana"/>
              </a:rPr>
              <a:t> </a:t>
            </a:r>
            <a:r>
              <a:rPr sz="1650" spc="-10" dirty="0">
                <a:latin typeface="Verdana"/>
                <a:cs typeface="Verdana"/>
              </a:rPr>
              <a:t>Table</a:t>
            </a:r>
            <a:endParaRPr sz="1650">
              <a:latin typeface="Verdana"/>
              <a:cs typeface="Verdana"/>
            </a:endParaRPr>
          </a:p>
          <a:p>
            <a:pPr marL="286385" marR="1099820">
              <a:lnSpc>
                <a:spcPct val="162000"/>
              </a:lnSpc>
              <a:spcBef>
                <a:spcPts val="690"/>
              </a:spcBef>
            </a:pPr>
            <a:r>
              <a:rPr sz="1350" spc="-45" dirty="0">
                <a:latin typeface="Verdana"/>
                <a:cs typeface="Verdana"/>
              </a:rPr>
              <a:t>task_id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(Primary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20" dirty="0">
                <a:latin typeface="Verdana"/>
                <a:cs typeface="Verdana"/>
              </a:rPr>
              <a:t>Key) </a:t>
            </a:r>
            <a:r>
              <a:rPr sz="1350" spc="-55" dirty="0">
                <a:latin typeface="Verdana"/>
                <a:cs typeface="Verdana"/>
              </a:rPr>
              <a:t>title,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description,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45" dirty="0">
                <a:latin typeface="Verdana"/>
                <a:cs typeface="Verdana"/>
              </a:rPr>
              <a:t>deadline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</a:pPr>
            <a:r>
              <a:rPr sz="1350" spc="-90" dirty="0">
                <a:latin typeface="Verdana"/>
                <a:cs typeface="Verdana"/>
              </a:rPr>
              <a:t>priority,</a:t>
            </a:r>
            <a:r>
              <a:rPr sz="1350" spc="-135" dirty="0">
                <a:latin typeface="Verdana"/>
                <a:cs typeface="Verdana"/>
              </a:rPr>
              <a:t> </a:t>
            </a:r>
            <a:r>
              <a:rPr sz="1350" spc="-45" dirty="0">
                <a:latin typeface="Verdana"/>
                <a:cs typeface="Verdana"/>
              </a:rPr>
              <a:t>status,</a:t>
            </a:r>
            <a:r>
              <a:rPr sz="1350" spc="-135" dirty="0">
                <a:latin typeface="Verdana"/>
                <a:cs typeface="Verdana"/>
              </a:rPr>
              <a:t> </a:t>
            </a:r>
            <a:r>
              <a:rPr sz="1350" spc="-40" dirty="0">
                <a:latin typeface="Verdana"/>
                <a:cs typeface="Verdana"/>
              </a:rPr>
              <a:t>completion_percentage </a:t>
            </a:r>
            <a:r>
              <a:rPr sz="1350" spc="-45" dirty="0">
                <a:latin typeface="Verdana"/>
                <a:cs typeface="Verdana"/>
              </a:rPr>
              <a:t>category_id</a:t>
            </a:r>
            <a:r>
              <a:rPr sz="1350" spc="-130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(Foreign</a:t>
            </a:r>
            <a:r>
              <a:rPr sz="1350" spc="-130" dirty="0">
                <a:latin typeface="Verdana"/>
                <a:cs typeface="Verdana"/>
              </a:rPr>
              <a:t> </a:t>
            </a:r>
            <a:r>
              <a:rPr sz="1350" spc="-20" dirty="0">
                <a:latin typeface="Verdana"/>
                <a:cs typeface="Verdana"/>
              </a:rPr>
              <a:t>Key)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600" y="4967287"/>
            <a:ext cx="4886325" cy="2519680"/>
            <a:chOff x="609600" y="4967287"/>
            <a:chExt cx="4886325" cy="2519680"/>
          </a:xfrm>
        </p:grpSpPr>
        <p:sp>
          <p:nvSpPr>
            <p:cNvPr id="11" name="object 11"/>
            <p:cNvSpPr/>
            <p:nvPr/>
          </p:nvSpPr>
          <p:spPr>
            <a:xfrm>
              <a:off x="609600" y="5172075"/>
              <a:ext cx="4886325" cy="2314575"/>
            </a:xfrm>
            <a:custGeom>
              <a:avLst/>
              <a:gdLst/>
              <a:ahLst/>
              <a:cxnLst/>
              <a:rect l="l" t="t" r="r" b="b"/>
              <a:pathLst>
                <a:path w="4886325" h="2314575">
                  <a:moveTo>
                    <a:pt x="4886325" y="0"/>
                  </a:moveTo>
                  <a:lnTo>
                    <a:pt x="0" y="0"/>
                  </a:lnTo>
                  <a:lnTo>
                    <a:pt x="0" y="2185988"/>
                  </a:lnTo>
                  <a:lnTo>
                    <a:pt x="0" y="2194431"/>
                  </a:lnTo>
                  <a:lnTo>
                    <a:pt x="13017" y="2242994"/>
                  </a:lnTo>
                  <a:lnTo>
                    <a:pt x="43630" y="2282880"/>
                  </a:lnTo>
                  <a:lnTo>
                    <a:pt x="87179" y="2308018"/>
                  </a:lnTo>
                  <a:lnTo>
                    <a:pt x="120144" y="2314576"/>
                  </a:lnTo>
                  <a:lnTo>
                    <a:pt x="4766183" y="2314576"/>
                  </a:lnTo>
                  <a:lnTo>
                    <a:pt x="4814747" y="2301553"/>
                  </a:lnTo>
                  <a:lnTo>
                    <a:pt x="4854638" y="2270939"/>
                  </a:lnTo>
                  <a:lnTo>
                    <a:pt x="4879771" y="2227392"/>
                  </a:lnTo>
                  <a:lnTo>
                    <a:pt x="4886325" y="2194431"/>
                  </a:lnTo>
                  <a:lnTo>
                    <a:pt x="4886325" y="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00" y="5172075"/>
              <a:ext cx="4886325" cy="19050"/>
            </a:xfrm>
            <a:custGeom>
              <a:avLst/>
              <a:gdLst/>
              <a:ahLst/>
              <a:cxnLst/>
              <a:rect l="l" t="t" r="r" b="b"/>
              <a:pathLst>
                <a:path w="4886325" h="19050">
                  <a:moveTo>
                    <a:pt x="48794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4879428" y="19050"/>
                  </a:lnTo>
                  <a:lnTo>
                    <a:pt x="4881676" y="18122"/>
                  </a:lnTo>
                  <a:lnTo>
                    <a:pt x="4885397" y="14401"/>
                  </a:lnTo>
                  <a:lnTo>
                    <a:pt x="4886325" y="12153"/>
                  </a:lnTo>
                  <a:lnTo>
                    <a:pt x="4886325" y="6896"/>
                  </a:lnTo>
                  <a:lnTo>
                    <a:pt x="4885397" y="4648"/>
                  </a:lnTo>
                  <a:lnTo>
                    <a:pt x="4881676" y="927"/>
                  </a:lnTo>
                  <a:lnTo>
                    <a:pt x="4879428" y="0"/>
                  </a:lnTo>
                  <a:close/>
                </a:path>
              </a:pathLst>
            </a:custGeom>
            <a:solidFill>
              <a:srgbClr val="E55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8450" y="4967287"/>
              <a:ext cx="428625" cy="4286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9625" y="6153149"/>
              <a:ext cx="57150" cy="1057275"/>
            </a:xfrm>
            <a:custGeom>
              <a:avLst/>
              <a:gdLst/>
              <a:ahLst/>
              <a:cxnLst/>
              <a:rect l="l" t="t" r="r" b="b"/>
              <a:pathLst>
                <a:path w="57150" h="1057275">
                  <a:moveTo>
                    <a:pt x="57150" y="1024915"/>
                  </a:moveTo>
                  <a:lnTo>
                    <a:pt x="32359" y="1000137"/>
                  </a:lnTo>
                  <a:lnTo>
                    <a:pt x="24777" y="1000137"/>
                  </a:lnTo>
                  <a:lnTo>
                    <a:pt x="0" y="1024915"/>
                  </a:lnTo>
                  <a:lnTo>
                    <a:pt x="0" y="1032497"/>
                  </a:lnTo>
                  <a:lnTo>
                    <a:pt x="24777" y="1057275"/>
                  </a:lnTo>
                  <a:lnTo>
                    <a:pt x="32359" y="1057275"/>
                  </a:lnTo>
                  <a:lnTo>
                    <a:pt x="57150" y="1032497"/>
                  </a:lnTo>
                  <a:lnTo>
                    <a:pt x="57150" y="1028712"/>
                  </a:lnTo>
                  <a:lnTo>
                    <a:pt x="57150" y="1024915"/>
                  </a:lnTo>
                  <a:close/>
                </a:path>
                <a:path w="57150" h="1057275">
                  <a:moveTo>
                    <a:pt x="57150" y="691540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40"/>
                  </a:lnTo>
                  <a:lnTo>
                    <a:pt x="0" y="699109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1057275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57275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8350" y="5583237"/>
            <a:ext cx="2004695" cy="1703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latin typeface="Verdana"/>
                <a:cs typeface="Verdana"/>
              </a:rPr>
              <a:t>Users</a:t>
            </a:r>
            <a:r>
              <a:rPr sz="1650" spc="-110" dirty="0">
                <a:latin typeface="Verdana"/>
                <a:cs typeface="Verdana"/>
              </a:rPr>
              <a:t> </a:t>
            </a:r>
            <a:r>
              <a:rPr sz="1650" spc="-10" dirty="0">
                <a:latin typeface="Verdana"/>
                <a:cs typeface="Verdana"/>
              </a:rPr>
              <a:t>Table</a:t>
            </a:r>
            <a:endParaRPr sz="16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  <a:spcBef>
                <a:spcPts val="690"/>
              </a:spcBef>
            </a:pPr>
            <a:r>
              <a:rPr sz="1350" spc="-40" dirty="0">
                <a:latin typeface="Verdana"/>
                <a:cs typeface="Verdana"/>
              </a:rPr>
              <a:t>user_id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(Primary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Key) </a:t>
            </a:r>
            <a:r>
              <a:rPr sz="1350" spc="-65" dirty="0">
                <a:latin typeface="Verdana"/>
                <a:cs typeface="Verdana"/>
              </a:rPr>
              <a:t>username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(Unique) password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80" dirty="0">
                <a:latin typeface="Verdana"/>
                <a:cs typeface="Verdana"/>
              </a:rPr>
              <a:t>email</a:t>
            </a:r>
            <a:r>
              <a:rPr sz="1350" spc="-204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(Unique)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4075" y="2847974"/>
            <a:ext cx="4905374" cy="4905373"/>
          </a:xfrm>
          <a:prstGeom prst="rect">
            <a:avLst/>
          </a:prstGeom>
        </p:spPr>
      </p:pic>
      <p:pic>
        <p:nvPicPr>
          <p:cNvPr id="17" name="object 1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79072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001712"/>
            <a:ext cx="288099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Chapter</a:t>
            </a:r>
            <a:r>
              <a:rPr spc="-105" dirty="0"/>
              <a:t> </a:t>
            </a:r>
            <a:r>
              <a:rPr spc="-125" dirty="0"/>
              <a:t>4: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10" dirty="0"/>
              <a:t>Connections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434147"/>
            <a:ext cx="10201275" cy="1546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140" dirty="0">
                <a:solidFill>
                  <a:srgbClr val="0C0D0E"/>
                </a:solidFill>
                <a:latin typeface="Verdana"/>
                <a:cs typeface="Verdana"/>
              </a:rPr>
              <a:t>Establishing</a:t>
            </a:r>
            <a:r>
              <a:rPr sz="4650" spc="-29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55" dirty="0">
                <a:solidFill>
                  <a:srgbClr val="0C0D0E"/>
                </a:solidFill>
                <a:latin typeface="Verdana"/>
                <a:cs typeface="Verdana"/>
              </a:rPr>
              <a:t>Relationships</a:t>
            </a:r>
            <a:endParaRPr sz="4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2039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true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power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relational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databases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lies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in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linking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related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information.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Foreign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keys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are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crucial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maintaining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integrity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enabling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meaningful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queries.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4717" y="3195041"/>
            <a:ext cx="10240645" cy="696595"/>
            <a:chOff x="594717" y="3195041"/>
            <a:chExt cx="10240645" cy="696595"/>
          </a:xfrm>
        </p:grpSpPr>
        <p:sp>
          <p:nvSpPr>
            <p:cNvPr id="5" name="object 5"/>
            <p:cNvSpPr/>
            <p:nvPr/>
          </p:nvSpPr>
          <p:spPr>
            <a:xfrm>
              <a:off x="600075" y="320039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4943475" y="685800"/>
                  </a:lnTo>
                  <a:lnTo>
                    <a:pt x="5114925" y="342900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75" y="320039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5114925" y="342900"/>
                  </a:lnTo>
                  <a:lnTo>
                    <a:pt x="4943475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4943475" y="0"/>
                  </a:lnTo>
                  <a:close/>
                </a:path>
              </a:pathLst>
            </a:custGeom>
            <a:ln w="1071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3299" y="3404298"/>
              <a:ext cx="268476" cy="2684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15000" y="320039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4943475" y="685800"/>
                  </a:lnTo>
                  <a:lnTo>
                    <a:pt x="5114925" y="342900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15000" y="320039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5114925" y="342900"/>
                  </a:lnTo>
                  <a:lnTo>
                    <a:pt x="4943475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4943475" y="0"/>
                  </a:lnTo>
                  <a:close/>
                </a:path>
              </a:pathLst>
            </a:custGeom>
            <a:ln w="1071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224" y="3404298"/>
              <a:ext cx="268476" cy="268476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62000" y="4714875"/>
            <a:ext cx="923925" cy="228600"/>
          </a:xfrm>
          <a:custGeom>
            <a:avLst/>
            <a:gdLst/>
            <a:ahLst/>
            <a:cxnLst/>
            <a:rect l="l" t="t" r="r" b="b"/>
            <a:pathLst>
              <a:path w="923925" h="228600">
                <a:moveTo>
                  <a:pt x="905332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905332" y="228600"/>
                </a:lnTo>
                <a:lnTo>
                  <a:pt x="923925" y="210007"/>
                </a:lnTo>
                <a:lnTo>
                  <a:pt x="923925" y="18592"/>
                </a:lnTo>
                <a:lnTo>
                  <a:pt x="908075" y="546"/>
                </a:lnTo>
                <a:lnTo>
                  <a:pt x="9053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8825" y="4040187"/>
            <a:ext cx="473202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Categories</a:t>
            </a:r>
            <a:r>
              <a:rPr sz="16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6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Tasks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65" dirty="0">
                <a:solidFill>
                  <a:srgbClr val="545759"/>
                </a:solidFill>
                <a:latin typeface="Arial Black"/>
                <a:cs typeface="Arial Black"/>
              </a:rPr>
              <a:t>Tasks</a:t>
            </a:r>
            <a:r>
              <a:rPr sz="1350" spc="-14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table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will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reference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Arial Black"/>
                <a:cs typeface="Arial Black"/>
              </a:rPr>
              <a:t>Categories</a:t>
            </a:r>
            <a:r>
              <a:rPr sz="1350" spc="-14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table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using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category_id</a:t>
            </a:r>
            <a:r>
              <a:rPr sz="1350" spc="-1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as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foreign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key.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ensures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each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task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belongs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defined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category.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73750" y="4040187"/>
            <a:ext cx="470789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Tasks</a:t>
            </a:r>
            <a:r>
              <a:rPr sz="16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650" spc="-10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Users</a:t>
            </a:r>
            <a:r>
              <a:rPr sz="1650" spc="-10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(Optional)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130" dirty="0">
                <a:solidFill>
                  <a:srgbClr val="545759"/>
                </a:solidFill>
                <a:latin typeface="Verdana"/>
                <a:cs typeface="Verdana"/>
              </a:rPr>
              <a:t>If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tasks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can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be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assigned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multiple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users,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or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users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can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have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multiple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tasks,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545759"/>
                </a:solidFill>
                <a:latin typeface="Arial Black"/>
                <a:cs typeface="Arial Black"/>
              </a:rPr>
              <a:t>TaskAssignments</a:t>
            </a:r>
            <a:r>
              <a:rPr sz="1350" spc="-13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table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is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needed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to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manage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many-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to-</a:t>
            </a:r>
            <a:r>
              <a:rPr sz="1350" spc="-110" dirty="0">
                <a:solidFill>
                  <a:srgbClr val="545759"/>
                </a:solidFill>
                <a:latin typeface="Verdana"/>
                <a:cs typeface="Verdana"/>
              </a:rPr>
              <a:t>many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relationship.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4" name="object 14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116012"/>
            <a:ext cx="213487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Chapter</a:t>
            </a:r>
            <a:r>
              <a:rPr spc="-105" dirty="0"/>
              <a:t> </a:t>
            </a:r>
            <a:r>
              <a:rPr spc="-170" dirty="0"/>
              <a:t>5: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482" y="1548447"/>
            <a:ext cx="10210800" cy="197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z="4650" spc="-195" dirty="0">
                <a:solidFill>
                  <a:srgbClr val="0C0D0E"/>
                </a:solidFill>
                <a:latin typeface="Verdana"/>
                <a:cs typeface="Verdana"/>
              </a:rPr>
              <a:t>Writing</a:t>
            </a:r>
            <a:r>
              <a:rPr sz="4650" spc="-3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215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4650" spc="-3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00" dirty="0">
                <a:solidFill>
                  <a:srgbClr val="0C0D0E"/>
                </a:solidFill>
                <a:latin typeface="Verdana"/>
                <a:cs typeface="Verdana"/>
              </a:rPr>
              <a:t>SQL</a:t>
            </a:r>
            <a:r>
              <a:rPr sz="4650" spc="-3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0" dirty="0">
                <a:solidFill>
                  <a:srgbClr val="0C0D0E"/>
                </a:solidFill>
                <a:latin typeface="Verdana"/>
                <a:cs typeface="Verdana"/>
              </a:rPr>
              <a:t>Schema</a:t>
            </a:r>
            <a:endParaRPr sz="4650">
              <a:latin typeface="Verdana"/>
              <a:cs typeface="Verdana"/>
            </a:endParaRPr>
          </a:p>
          <a:p>
            <a:pPr marL="13335" marR="5080">
              <a:lnSpc>
                <a:spcPct val="134300"/>
              </a:lnSpc>
              <a:spcBef>
                <a:spcPts val="2039"/>
              </a:spcBef>
            </a:pP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Now,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let's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translate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our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design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into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executable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-2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statements.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These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scripts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will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define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our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tables,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their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columns,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types,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vital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primary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foreign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key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constraints.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460750" algn="l"/>
                <a:tab pos="6928484" algn="l"/>
              </a:tabLst>
            </a:pPr>
            <a:r>
              <a:rPr sz="1350" spc="-25" dirty="0">
                <a:solidFill>
                  <a:srgbClr val="545759"/>
                </a:solidFill>
                <a:latin typeface="Tahoma"/>
                <a:cs typeface="Tahoma"/>
              </a:rPr>
              <a:t>01</a:t>
            </a:r>
            <a:r>
              <a:rPr sz="1350" dirty="0">
                <a:solidFill>
                  <a:srgbClr val="545759"/>
                </a:solidFill>
                <a:latin typeface="Tahoma"/>
                <a:cs typeface="Tahoma"/>
              </a:rPr>
              <a:t>	</a:t>
            </a:r>
            <a:r>
              <a:rPr sz="1350" spc="60" dirty="0">
                <a:solidFill>
                  <a:srgbClr val="545759"/>
                </a:solidFill>
                <a:latin typeface="Tahoma"/>
                <a:cs typeface="Tahoma"/>
              </a:rPr>
              <a:t>02</a:t>
            </a:r>
            <a:r>
              <a:rPr sz="1350" dirty="0">
                <a:solidFill>
                  <a:srgbClr val="545759"/>
                </a:solidFill>
                <a:latin typeface="Tahoma"/>
                <a:cs typeface="Tahoma"/>
              </a:rPr>
              <a:t>	</a:t>
            </a:r>
            <a:r>
              <a:rPr sz="1350" spc="55" dirty="0">
                <a:solidFill>
                  <a:srgbClr val="545759"/>
                </a:solidFill>
                <a:latin typeface="Tahoma"/>
                <a:cs typeface="Tahoma"/>
              </a:rPr>
              <a:t>03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3581400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7275" y="4095750"/>
            <a:ext cx="1162050" cy="228600"/>
          </a:xfrm>
          <a:custGeom>
            <a:avLst/>
            <a:gdLst/>
            <a:ahLst/>
            <a:cxnLst/>
            <a:rect l="l" t="t" r="r" b="b"/>
            <a:pathLst>
              <a:path w="1162050" h="228600">
                <a:moveTo>
                  <a:pt x="114345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1143457" y="228600"/>
                </a:lnTo>
                <a:lnTo>
                  <a:pt x="1162050" y="210007"/>
                </a:lnTo>
                <a:lnTo>
                  <a:pt x="1162050" y="18592"/>
                </a:lnTo>
                <a:lnTo>
                  <a:pt x="1146200" y="546"/>
                </a:lnTo>
                <a:lnTo>
                  <a:pt x="11434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750" y="4648200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76245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762457" y="228600"/>
                </a:lnTo>
                <a:lnTo>
                  <a:pt x="781050" y="210007"/>
                </a:lnTo>
                <a:lnTo>
                  <a:pt x="781050" y="18592"/>
                </a:lnTo>
                <a:lnTo>
                  <a:pt x="765200" y="546"/>
                </a:lnTo>
                <a:lnTo>
                  <a:pt x="7624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14475" y="4648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671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267157" y="228600"/>
                </a:lnTo>
                <a:lnTo>
                  <a:pt x="285750" y="210007"/>
                </a:lnTo>
                <a:lnTo>
                  <a:pt x="285750" y="18592"/>
                </a:lnTo>
                <a:lnTo>
                  <a:pt x="269900" y="546"/>
                </a:lnTo>
                <a:lnTo>
                  <a:pt x="2671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57375" y="4648200"/>
            <a:ext cx="400050" cy="228600"/>
          </a:xfrm>
          <a:custGeom>
            <a:avLst/>
            <a:gdLst/>
            <a:ahLst/>
            <a:cxnLst/>
            <a:rect l="l" t="t" r="r" b="b"/>
            <a:pathLst>
              <a:path w="400050" h="228600">
                <a:moveTo>
                  <a:pt x="3814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381457" y="228600"/>
                </a:lnTo>
                <a:lnTo>
                  <a:pt x="400050" y="210007"/>
                </a:lnTo>
                <a:lnTo>
                  <a:pt x="400050" y="18592"/>
                </a:lnTo>
                <a:lnTo>
                  <a:pt x="384200" y="546"/>
                </a:lnTo>
                <a:lnTo>
                  <a:pt x="3814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24100" y="4648200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4195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419557" y="228600"/>
                </a:lnTo>
                <a:lnTo>
                  <a:pt x="438150" y="210007"/>
                </a:lnTo>
                <a:lnTo>
                  <a:pt x="438150" y="18592"/>
                </a:lnTo>
                <a:lnTo>
                  <a:pt x="422300" y="546"/>
                </a:lnTo>
                <a:lnTo>
                  <a:pt x="4195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7375" y="3687762"/>
            <a:ext cx="3271520" cy="1464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545759"/>
                </a:solidFill>
                <a:latin typeface="Verdana"/>
                <a:cs typeface="Verdana"/>
              </a:rPr>
              <a:t>Draft</a:t>
            </a:r>
            <a:r>
              <a:rPr sz="16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650" spc="-12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Statements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Write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CREATE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 TABLE</a:t>
            </a:r>
            <a:r>
              <a:rPr sz="1350" spc="-1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statements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each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entity,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specifying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appropriate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types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(</a:t>
            </a:r>
            <a:r>
              <a:rPr sz="1350" spc="-75" dirty="0">
                <a:solidFill>
                  <a:srgbClr val="545759"/>
                </a:solidFill>
                <a:latin typeface="Lucida Sans"/>
                <a:cs typeface="Lucida Sans"/>
              </a:rPr>
              <a:t>VARCHAR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Lucida Sans"/>
                <a:cs typeface="Lucida Sans"/>
              </a:rPr>
              <a:t>INT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Lucida Sans"/>
                <a:cs typeface="Lucida Sans"/>
              </a:rPr>
              <a:t>TEXT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DATE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)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constraints.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67175" y="3581400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19725" y="4095750"/>
            <a:ext cx="1076325" cy="228600"/>
          </a:xfrm>
          <a:custGeom>
            <a:avLst/>
            <a:gdLst/>
            <a:ahLst/>
            <a:cxnLst/>
            <a:rect l="l" t="t" r="r" b="b"/>
            <a:pathLst>
              <a:path w="1076325" h="228600">
                <a:moveTo>
                  <a:pt x="10577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1057732" y="228600"/>
                </a:lnTo>
                <a:lnTo>
                  <a:pt x="1076325" y="210007"/>
                </a:lnTo>
                <a:lnTo>
                  <a:pt x="1076325" y="18592"/>
                </a:lnTo>
                <a:lnTo>
                  <a:pt x="1060475" y="546"/>
                </a:lnTo>
                <a:lnTo>
                  <a:pt x="10577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57650" y="4648200"/>
            <a:ext cx="2143125" cy="228600"/>
          </a:xfrm>
          <a:custGeom>
            <a:avLst/>
            <a:gdLst/>
            <a:ahLst/>
            <a:cxnLst/>
            <a:rect l="l" t="t" r="r" b="b"/>
            <a:pathLst>
              <a:path w="2143125" h="228600">
                <a:moveTo>
                  <a:pt x="21245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2124532" y="228600"/>
                </a:lnTo>
                <a:lnTo>
                  <a:pt x="2143125" y="210007"/>
                </a:lnTo>
                <a:lnTo>
                  <a:pt x="2143125" y="18592"/>
                </a:lnTo>
                <a:lnTo>
                  <a:pt x="2127275" y="546"/>
                </a:lnTo>
                <a:lnTo>
                  <a:pt x="21245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54475" y="3687762"/>
            <a:ext cx="2947670" cy="1464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Define</a:t>
            </a:r>
            <a:r>
              <a:rPr sz="16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Keys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Explicitly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declare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PRIMARY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KEY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constraints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unique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identifiers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FOREIGN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KEY</a:t>
            </a: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REFERENCES</a:t>
            </a:r>
            <a:r>
              <a:rPr sz="1350" spc="-1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linking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tables.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34275" y="3581400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21575" y="3687762"/>
            <a:ext cx="3228975" cy="1188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5" dirty="0">
                <a:solidFill>
                  <a:srgbClr val="545759"/>
                </a:solidFill>
                <a:latin typeface="Verdana"/>
                <a:cs typeface="Verdana"/>
              </a:rPr>
              <a:t>Ensure</a:t>
            </a:r>
            <a:r>
              <a:rPr sz="16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Normalization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Verify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that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schema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adheres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to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normalization</a:t>
            </a:r>
            <a:r>
              <a:rPr sz="1350" spc="-13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principles,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minimizing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data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redundancy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maximizing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integrity.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SQL</a:t>
            </a:r>
            <a:r>
              <a:rPr spc="-110" dirty="0"/>
              <a:t> </a:t>
            </a:r>
            <a:r>
              <a:rPr spc="-60" dirty="0"/>
              <a:t>in</a:t>
            </a:r>
            <a:r>
              <a:rPr spc="-110" dirty="0"/>
              <a:t> </a:t>
            </a:r>
            <a:r>
              <a:rPr spc="-10" dirty="0"/>
              <a:t>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14850" y="1933574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4005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400507" y="228600"/>
                </a:lnTo>
                <a:lnTo>
                  <a:pt x="419100" y="210007"/>
                </a:lnTo>
                <a:lnTo>
                  <a:pt x="419100" y="18592"/>
                </a:lnTo>
                <a:lnTo>
                  <a:pt x="403250" y="546"/>
                </a:lnTo>
                <a:lnTo>
                  <a:pt x="40050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062" y="2647949"/>
            <a:ext cx="10230485" cy="3001010"/>
          </a:xfrm>
          <a:custGeom>
            <a:avLst/>
            <a:gdLst/>
            <a:ahLst/>
            <a:cxnLst/>
            <a:rect l="l" t="t" r="r" b="b"/>
            <a:pathLst>
              <a:path w="10230485" h="3001010">
                <a:moveTo>
                  <a:pt x="10229863" y="120142"/>
                </a:moveTo>
                <a:lnTo>
                  <a:pt x="10229037" y="111785"/>
                </a:lnTo>
                <a:lnTo>
                  <a:pt x="10227462" y="103886"/>
                </a:lnTo>
                <a:lnTo>
                  <a:pt x="10227412" y="103505"/>
                </a:lnTo>
                <a:lnTo>
                  <a:pt x="10227310" y="103149"/>
                </a:lnTo>
                <a:lnTo>
                  <a:pt x="10225748" y="95224"/>
                </a:lnTo>
                <a:lnTo>
                  <a:pt x="10223309" y="87185"/>
                </a:lnTo>
                <a:lnTo>
                  <a:pt x="10216845" y="71577"/>
                </a:lnTo>
                <a:lnTo>
                  <a:pt x="10212870" y="64160"/>
                </a:lnTo>
                <a:lnTo>
                  <a:pt x="10208336" y="57391"/>
                </a:lnTo>
                <a:lnTo>
                  <a:pt x="10208196" y="57137"/>
                </a:lnTo>
                <a:lnTo>
                  <a:pt x="10208019" y="56908"/>
                </a:lnTo>
                <a:lnTo>
                  <a:pt x="10203497" y="50126"/>
                </a:lnTo>
                <a:lnTo>
                  <a:pt x="10198163" y="43637"/>
                </a:lnTo>
                <a:lnTo>
                  <a:pt x="10192182" y="37668"/>
                </a:lnTo>
                <a:lnTo>
                  <a:pt x="10186225" y="31686"/>
                </a:lnTo>
                <a:lnTo>
                  <a:pt x="10179736" y="26352"/>
                </a:lnTo>
                <a:lnTo>
                  <a:pt x="10173056" y="21907"/>
                </a:lnTo>
                <a:lnTo>
                  <a:pt x="10172725" y="21653"/>
                </a:lnTo>
                <a:lnTo>
                  <a:pt x="10172344" y="21437"/>
                </a:lnTo>
                <a:lnTo>
                  <a:pt x="10134638" y="4114"/>
                </a:lnTo>
                <a:lnTo>
                  <a:pt x="10126713" y="2552"/>
                </a:lnTo>
                <a:lnTo>
                  <a:pt x="10126358" y="2451"/>
                </a:lnTo>
                <a:lnTo>
                  <a:pt x="10125977" y="2400"/>
                </a:lnTo>
                <a:lnTo>
                  <a:pt x="10118077" y="825"/>
                </a:lnTo>
                <a:lnTo>
                  <a:pt x="10109721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873" y="2400"/>
                </a:lnTo>
                <a:lnTo>
                  <a:pt x="103505" y="2451"/>
                </a:lnTo>
                <a:lnTo>
                  <a:pt x="103136" y="2552"/>
                </a:lnTo>
                <a:lnTo>
                  <a:pt x="95224" y="4114"/>
                </a:lnTo>
                <a:lnTo>
                  <a:pt x="87185" y="6553"/>
                </a:lnTo>
                <a:lnTo>
                  <a:pt x="71577" y="13017"/>
                </a:lnTo>
                <a:lnTo>
                  <a:pt x="64173" y="16979"/>
                </a:lnTo>
                <a:lnTo>
                  <a:pt x="57442" y="21475"/>
                </a:lnTo>
                <a:lnTo>
                  <a:pt x="57137" y="21653"/>
                </a:lnTo>
                <a:lnTo>
                  <a:pt x="56845" y="21869"/>
                </a:lnTo>
                <a:lnTo>
                  <a:pt x="50126" y="26352"/>
                </a:lnTo>
                <a:lnTo>
                  <a:pt x="43637" y="31686"/>
                </a:lnTo>
                <a:lnTo>
                  <a:pt x="37668" y="37668"/>
                </a:lnTo>
                <a:lnTo>
                  <a:pt x="31699" y="43637"/>
                </a:lnTo>
                <a:lnTo>
                  <a:pt x="26365" y="50126"/>
                </a:lnTo>
                <a:lnTo>
                  <a:pt x="21945" y="56743"/>
                </a:lnTo>
                <a:lnTo>
                  <a:pt x="21653" y="57137"/>
                </a:lnTo>
                <a:lnTo>
                  <a:pt x="21386" y="57569"/>
                </a:lnTo>
                <a:lnTo>
                  <a:pt x="9766" y="79463"/>
                </a:lnTo>
                <a:lnTo>
                  <a:pt x="6565" y="87185"/>
                </a:lnTo>
                <a:lnTo>
                  <a:pt x="4127" y="95224"/>
                </a:lnTo>
                <a:lnTo>
                  <a:pt x="2565" y="103022"/>
                </a:lnTo>
                <a:lnTo>
                  <a:pt x="2451" y="103505"/>
                </a:lnTo>
                <a:lnTo>
                  <a:pt x="2374" y="104000"/>
                </a:lnTo>
                <a:lnTo>
                  <a:pt x="825" y="111785"/>
                </a:lnTo>
                <a:lnTo>
                  <a:pt x="12" y="120142"/>
                </a:lnTo>
                <a:lnTo>
                  <a:pt x="12" y="128346"/>
                </a:lnTo>
                <a:lnTo>
                  <a:pt x="0" y="128600"/>
                </a:lnTo>
                <a:lnTo>
                  <a:pt x="0" y="2871800"/>
                </a:lnTo>
                <a:lnTo>
                  <a:pt x="12" y="2872067"/>
                </a:lnTo>
                <a:lnTo>
                  <a:pt x="12" y="2880233"/>
                </a:lnTo>
                <a:lnTo>
                  <a:pt x="825" y="2888589"/>
                </a:lnTo>
                <a:lnTo>
                  <a:pt x="2362" y="2896349"/>
                </a:lnTo>
                <a:lnTo>
                  <a:pt x="2451" y="2896882"/>
                </a:lnTo>
                <a:lnTo>
                  <a:pt x="2578" y="2897428"/>
                </a:lnTo>
                <a:lnTo>
                  <a:pt x="4127" y="2905150"/>
                </a:lnTo>
                <a:lnTo>
                  <a:pt x="6565" y="2913202"/>
                </a:lnTo>
                <a:lnTo>
                  <a:pt x="9715" y="2920809"/>
                </a:lnTo>
                <a:lnTo>
                  <a:pt x="9791" y="2921012"/>
                </a:lnTo>
                <a:lnTo>
                  <a:pt x="9880" y="2921216"/>
                </a:lnTo>
                <a:lnTo>
                  <a:pt x="13030" y="2928797"/>
                </a:lnTo>
                <a:lnTo>
                  <a:pt x="16992" y="2936202"/>
                </a:lnTo>
                <a:lnTo>
                  <a:pt x="21285" y="2942640"/>
                </a:lnTo>
                <a:lnTo>
                  <a:pt x="21653" y="2943250"/>
                </a:lnTo>
                <a:lnTo>
                  <a:pt x="22059" y="2943809"/>
                </a:lnTo>
                <a:lnTo>
                  <a:pt x="26365" y="2950248"/>
                </a:lnTo>
                <a:lnTo>
                  <a:pt x="31699" y="2956737"/>
                </a:lnTo>
                <a:lnTo>
                  <a:pt x="37541" y="2962592"/>
                </a:lnTo>
                <a:lnTo>
                  <a:pt x="37668" y="2962719"/>
                </a:lnTo>
                <a:lnTo>
                  <a:pt x="37795" y="2962846"/>
                </a:lnTo>
                <a:lnTo>
                  <a:pt x="43637" y="2968675"/>
                </a:lnTo>
                <a:lnTo>
                  <a:pt x="50126" y="2974009"/>
                </a:lnTo>
                <a:lnTo>
                  <a:pt x="56591" y="2978340"/>
                </a:lnTo>
                <a:lnTo>
                  <a:pt x="57137" y="2978734"/>
                </a:lnTo>
                <a:lnTo>
                  <a:pt x="57696" y="2979077"/>
                </a:lnTo>
                <a:lnTo>
                  <a:pt x="64173" y="2983395"/>
                </a:lnTo>
                <a:lnTo>
                  <a:pt x="71577" y="2987357"/>
                </a:lnTo>
                <a:lnTo>
                  <a:pt x="87185" y="2993834"/>
                </a:lnTo>
                <a:lnTo>
                  <a:pt x="95224" y="2996247"/>
                </a:lnTo>
                <a:lnTo>
                  <a:pt x="102882" y="2997784"/>
                </a:lnTo>
                <a:lnTo>
                  <a:pt x="103505" y="2997936"/>
                </a:lnTo>
                <a:lnTo>
                  <a:pt x="104101" y="2998025"/>
                </a:lnTo>
                <a:lnTo>
                  <a:pt x="111785" y="2999562"/>
                </a:lnTo>
                <a:lnTo>
                  <a:pt x="120154" y="3000375"/>
                </a:lnTo>
                <a:lnTo>
                  <a:pt x="128320" y="3000375"/>
                </a:lnTo>
                <a:lnTo>
                  <a:pt x="128587" y="3000387"/>
                </a:lnTo>
                <a:lnTo>
                  <a:pt x="10101262" y="3000387"/>
                </a:lnTo>
                <a:lnTo>
                  <a:pt x="10101516" y="3000375"/>
                </a:lnTo>
                <a:lnTo>
                  <a:pt x="10109721" y="3000375"/>
                </a:lnTo>
                <a:lnTo>
                  <a:pt x="10118077" y="2999562"/>
                </a:lnTo>
                <a:lnTo>
                  <a:pt x="10125748" y="2998025"/>
                </a:lnTo>
                <a:lnTo>
                  <a:pt x="10126358" y="2997936"/>
                </a:lnTo>
                <a:lnTo>
                  <a:pt x="10126967" y="2997784"/>
                </a:lnTo>
                <a:lnTo>
                  <a:pt x="10165677" y="2983395"/>
                </a:lnTo>
                <a:lnTo>
                  <a:pt x="10172090" y="2979115"/>
                </a:lnTo>
                <a:lnTo>
                  <a:pt x="10172725" y="2978734"/>
                </a:lnTo>
                <a:lnTo>
                  <a:pt x="10173297" y="2978302"/>
                </a:lnTo>
                <a:lnTo>
                  <a:pt x="10179736" y="2974009"/>
                </a:lnTo>
                <a:lnTo>
                  <a:pt x="10186225" y="2968675"/>
                </a:lnTo>
                <a:lnTo>
                  <a:pt x="10192182" y="2962719"/>
                </a:lnTo>
                <a:lnTo>
                  <a:pt x="10198163" y="2956737"/>
                </a:lnTo>
                <a:lnTo>
                  <a:pt x="10203497" y="2950248"/>
                </a:lnTo>
                <a:lnTo>
                  <a:pt x="10207904" y="2943644"/>
                </a:lnTo>
                <a:lnTo>
                  <a:pt x="10208196" y="2943250"/>
                </a:lnTo>
                <a:lnTo>
                  <a:pt x="10208450" y="2942831"/>
                </a:lnTo>
                <a:lnTo>
                  <a:pt x="10225748" y="2905150"/>
                </a:lnTo>
                <a:lnTo>
                  <a:pt x="10227297" y="2897301"/>
                </a:lnTo>
                <a:lnTo>
                  <a:pt x="10227412" y="2896882"/>
                </a:lnTo>
                <a:lnTo>
                  <a:pt x="10227462" y="2896463"/>
                </a:lnTo>
                <a:lnTo>
                  <a:pt x="10229037" y="2888589"/>
                </a:lnTo>
                <a:lnTo>
                  <a:pt x="10229863" y="2880233"/>
                </a:lnTo>
                <a:lnTo>
                  <a:pt x="10229863" y="120142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5" y="891222"/>
            <a:ext cx="10219055" cy="4604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125" dirty="0">
                <a:solidFill>
                  <a:srgbClr val="0C0D0E"/>
                </a:solidFill>
                <a:latin typeface="Verdana"/>
                <a:cs typeface="Verdana"/>
              </a:rPr>
              <a:t>Tasks</a:t>
            </a:r>
            <a:r>
              <a:rPr sz="4650" spc="-29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50" dirty="0">
                <a:solidFill>
                  <a:srgbClr val="0C0D0E"/>
                </a:solidFill>
                <a:latin typeface="Verdana"/>
                <a:cs typeface="Verdana"/>
              </a:rPr>
              <a:t>Table</a:t>
            </a:r>
            <a:r>
              <a:rPr sz="4650" spc="-28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0" dirty="0">
                <a:solidFill>
                  <a:srgbClr val="0C0D0E"/>
                </a:solidFill>
                <a:latin typeface="Verdana"/>
                <a:cs typeface="Verdana"/>
              </a:rPr>
              <a:t>Creation</a:t>
            </a:r>
            <a:endParaRPr sz="4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2115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-2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snippet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demonstrates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how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create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tasks</a:t>
            </a:r>
            <a:r>
              <a:rPr sz="1350" spc="-12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table,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including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its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unique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identifier,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task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details,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foreign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key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link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to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categories.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350">
              <a:latin typeface="Verdana"/>
              <a:cs typeface="Verdana"/>
            </a:endParaRPr>
          </a:p>
          <a:p>
            <a:pPr marL="175260">
              <a:lnSpc>
                <a:spcPct val="100000"/>
              </a:lnSpc>
            </a:pP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CREATE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TABLE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tasks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(</a:t>
            </a:r>
            <a:endParaRPr sz="1350">
              <a:latin typeface="Lucida Sans"/>
              <a:cs typeface="Lucida Sans"/>
            </a:endParaRPr>
          </a:p>
          <a:p>
            <a:pPr marL="353695" marR="7422515">
              <a:lnSpc>
                <a:spcPct val="134300"/>
              </a:lnSpc>
            </a:pP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task_id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SERIAL</a:t>
            </a: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PRIMARY</a:t>
            </a: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KEY, 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title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VARCHAR(255)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NOT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NULL,</a:t>
            </a:r>
            <a:endParaRPr sz="1350">
              <a:latin typeface="Lucida Sans"/>
              <a:cs typeface="Lucida Sans"/>
            </a:endParaRPr>
          </a:p>
          <a:p>
            <a:pPr marL="353695" marR="8123555">
              <a:lnSpc>
                <a:spcPts val="2180"/>
              </a:lnSpc>
              <a:spcBef>
                <a:spcPts val="85"/>
              </a:spcBef>
            </a:pP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description</a:t>
            </a: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TEXT,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deadline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DATE, 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priority 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VARCHAR(20),</a:t>
            </a:r>
            <a:endParaRPr sz="1350">
              <a:latin typeface="Lucida Sans"/>
              <a:cs typeface="Lucida Sans"/>
            </a:endParaRPr>
          </a:p>
          <a:p>
            <a:pPr marL="353695">
              <a:lnSpc>
                <a:spcPct val="100000"/>
              </a:lnSpc>
              <a:spcBef>
                <a:spcPts val="380"/>
              </a:spcBef>
            </a:pP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category_id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INT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REFERENCES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categories(category_id),</a:t>
            </a:r>
            <a:endParaRPr sz="1350">
              <a:latin typeface="Lucida Sans"/>
              <a:cs typeface="Lucida Sans"/>
            </a:endParaRPr>
          </a:p>
          <a:p>
            <a:pPr marL="353695" marR="7663815">
              <a:lnSpc>
                <a:spcPct val="129600"/>
              </a:lnSpc>
              <a:spcBef>
                <a:spcPts val="75"/>
              </a:spcBef>
            </a:pP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status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VARCHAR(20), 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completion_percentage</a:t>
            </a:r>
            <a:r>
              <a:rPr sz="1350" spc="6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INT</a:t>
            </a:r>
            <a:endParaRPr sz="1350">
              <a:latin typeface="Lucida Sans"/>
              <a:cs typeface="Lucida Sans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);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0075" y="5848351"/>
            <a:ext cx="10229850" cy="723900"/>
            <a:chOff x="600075" y="5848351"/>
            <a:chExt cx="10229850" cy="723900"/>
          </a:xfrm>
        </p:grpSpPr>
        <p:sp>
          <p:nvSpPr>
            <p:cNvPr id="7" name="object 7"/>
            <p:cNvSpPr/>
            <p:nvPr/>
          </p:nvSpPr>
          <p:spPr>
            <a:xfrm>
              <a:off x="600075" y="5848351"/>
              <a:ext cx="10229850" cy="723900"/>
            </a:xfrm>
            <a:custGeom>
              <a:avLst/>
              <a:gdLst/>
              <a:ahLst/>
              <a:cxnLst/>
              <a:rect l="l" t="t" r="r" b="b"/>
              <a:pathLst>
                <a:path w="10229850" h="723900">
                  <a:moveTo>
                    <a:pt x="10109708" y="0"/>
                  </a:moveTo>
                  <a:lnTo>
                    <a:pt x="120144" y="0"/>
                  </a:lnTo>
                  <a:lnTo>
                    <a:pt x="111780" y="822"/>
                  </a:lnTo>
                  <a:lnTo>
                    <a:pt x="71575" y="13017"/>
                  </a:lnTo>
                  <a:lnTo>
                    <a:pt x="31690" y="43630"/>
                  </a:lnTo>
                  <a:lnTo>
                    <a:pt x="6558" y="87177"/>
                  </a:lnTo>
                  <a:lnTo>
                    <a:pt x="0" y="120143"/>
                  </a:lnTo>
                  <a:lnTo>
                    <a:pt x="0" y="595312"/>
                  </a:lnTo>
                  <a:lnTo>
                    <a:pt x="0" y="603755"/>
                  </a:lnTo>
                  <a:lnTo>
                    <a:pt x="13017" y="652317"/>
                  </a:lnTo>
                  <a:lnTo>
                    <a:pt x="43630" y="692204"/>
                  </a:lnTo>
                  <a:lnTo>
                    <a:pt x="87179" y="717341"/>
                  </a:lnTo>
                  <a:lnTo>
                    <a:pt x="120144" y="723894"/>
                  </a:lnTo>
                  <a:lnTo>
                    <a:pt x="10109708" y="723894"/>
                  </a:lnTo>
                  <a:lnTo>
                    <a:pt x="10158272" y="710877"/>
                  </a:lnTo>
                  <a:lnTo>
                    <a:pt x="10198163" y="680262"/>
                  </a:lnTo>
                  <a:lnTo>
                    <a:pt x="10223296" y="636715"/>
                  </a:lnTo>
                  <a:lnTo>
                    <a:pt x="10229850" y="603755"/>
                  </a:lnTo>
                  <a:lnTo>
                    <a:pt x="10229850" y="120143"/>
                  </a:lnTo>
                  <a:lnTo>
                    <a:pt x="10216832" y="71575"/>
                  </a:lnTo>
                  <a:lnTo>
                    <a:pt x="10186212" y="31690"/>
                  </a:lnTo>
                  <a:lnTo>
                    <a:pt x="10142677" y="6553"/>
                  </a:lnTo>
                  <a:lnTo>
                    <a:pt x="10118064" y="822"/>
                  </a:lnTo>
                  <a:lnTo>
                    <a:pt x="10109708" y="0"/>
                  </a:lnTo>
                  <a:close/>
                </a:path>
              </a:pathLst>
            </a:custGeom>
            <a:solidFill>
              <a:srgbClr val="B5D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956" y="6105526"/>
              <a:ext cx="171450" cy="1714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76425" y="6076962"/>
              <a:ext cx="6972300" cy="228600"/>
            </a:xfrm>
            <a:custGeom>
              <a:avLst/>
              <a:gdLst/>
              <a:ahLst/>
              <a:cxnLst/>
              <a:rect l="l" t="t" r="r" b="b"/>
              <a:pathLst>
                <a:path w="6972300" h="228600">
                  <a:moveTo>
                    <a:pt x="1657350" y="18580"/>
                  </a:moveTo>
                  <a:lnTo>
                    <a:pt x="1638757" y="0"/>
                  </a:lnTo>
                  <a:lnTo>
                    <a:pt x="18592" y="0"/>
                  </a:lnTo>
                  <a:lnTo>
                    <a:pt x="0" y="18580"/>
                  </a:lnTo>
                  <a:lnTo>
                    <a:pt x="0" y="207162"/>
                  </a:lnTo>
                  <a:lnTo>
                    <a:pt x="0" y="209994"/>
                  </a:lnTo>
                  <a:lnTo>
                    <a:pt x="18592" y="228587"/>
                  </a:lnTo>
                  <a:lnTo>
                    <a:pt x="1638757" y="228587"/>
                  </a:lnTo>
                  <a:lnTo>
                    <a:pt x="1657350" y="209994"/>
                  </a:lnTo>
                  <a:lnTo>
                    <a:pt x="1657350" y="18580"/>
                  </a:lnTo>
                  <a:close/>
                </a:path>
                <a:path w="6972300" h="228600">
                  <a:moveTo>
                    <a:pt x="6972300" y="18580"/>
                  </a:moveTo>
                  <a:lnTo>
                    <a:pt x="6953707" y="0"/>
                  </a:lnTo>
                  <a:lnTo>
                    <a:pt x="4085767" y="0"/>
                  </a:lnTo>
                  <a:lnTo>
                    <a:pt x="4067175" y="18580"/>
                  </a:lnTo>
                  <a:lnTo>
                    <a:pt x="4067175" y="207162"/>
                  </a:lnTo>
                  <a:lnTo>
                    <a:pt x="4067175" y="209994"/>
                  </a:lnTo>
                  <a:lnTo>
                    <a:pt x="4085767" y="228587"/>
                  </a:lnTo>
                  <a:lnTo>
                    <a:pt x="6953707" y="228587"/>
                  </a:lnTo>
                  <a:lnTo>
                    <a:pt x="6972300" y="209994"/>
                  </a:lnTo>
                  <a:lnTo>
                    <a:pt x="6972300" y="1858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44587" y="6073776"/>
            <a:ext cx="92011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Verdana"/>
                <a:cs typeface="Verdana"/>
              </a:rPr>
              <a:t>Note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the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25" dirty="0">
                <a:latin typeface="Lucida Sans"/>
                <a:cs typeface="Lucida Sans"/>
              </a:rPr>
              <a:t>SERIAL PRIMARY</a:t>
            </a:r>
            <a:r>
              <a:rPr sz="1350" spc="-20" dirty="0">
                <a:latin typeface="Lucida Sans"/>
                <a:cs typeface="Lucida Sans"/>
              </a:rPr>
              <a:t> </a:t>
            </a:r>
            <a:r>
              <a:rPr sz="1350" spc="-60" dirty="0">
                <a:latin typeface="Lucida Sans"/>
                <a:cs typeface="Lucida Sans"/>
              </a:rPr>
              <a:t>KEY</a:t>
            </a:r>
            <a:r>
              <a:rPr sz="1350" spc="-114" dirty="0">
                <a:latin typeface="Lucida Sans"/>
                <a:cs typeface="Lucida Sans"/>
              </a:rPr>
              <a:t> </a:t>
            </a:r>
            <a:r>
              <a:rPr sz="1350" spc="-60" dirty="0">
                <a:latin typeface="Verdana"/>
                <a:cs typeface="Verdana"/>
              </a:rPr>
              <a:t>for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auto-incrementing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135" dirty="0">
                <a:latin typeface="Verdana"/>
                <a:cs typeface="Verdana"/>
              </a:rPr>
              <a:t>IDs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and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20" dirty="0">
                <a:latin typeface="Lucida Sans"/>
                <a:cs typeface="Lucida Sans"/>
              </a:rPr>
              <a:t>REFERENCES </a:t>
            </a:r>
            <a:r>
              <a:rPr sz="1350" spc="-40" dirty="0">
                <a:latin typeface="Lucida Sans"/>
                <a:cs typeface="Lucida Sans"/>
              </a:rPr>
              <a:t>categories(category_id)</a:t>
            </a:r>
            <a:r>
              <a:rPr sz="1350" spc="-110" dirty="0">
                <a:latin typeface="Lucida Sans"/>
                <a:cs typeface="Lucida Sans"/>
              </a:rPr>
              <a:t> </a:t>
            </a:r>
            <a:r>
              <a:rPr sz="1350" spc="-60" dirty="0">
                <a:latin typeface="Verdana"/>
                <a:cs typeface="Verdana"/>
              </a:rPr>
              <a:t>for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the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foreign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20" dirty="0">
                <a:latin typeface="Verdana"/>
                <a:cs typeface="Verdana"/>
              </a:rPr>
              <a:t>key.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1" name="object 1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535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SQL</a:t>
            </a:r>
            <a:r>
              <a:rPr spc="-110" dirty="0"/>
              <a:t> </a:t>
            </a:r>
            <a:r>
              <a:rPr spc="-60" dirty="0"/>
              <a:t>in</a:t>
            </a:r>
            <a:r>
              <a:rPr spc="-110" dirty="0"/>
              <a:t> </a:t>
            </a:r>
            <a:r>
              <a:rPr spc="-10" dirty="0"/>
              <a:t>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143375" y="1924050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4290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429082" y="228600"/>
                </a:lnTo>
                <a:lnTo>
                  <a:pt x="447675" y="210007"/>
                </a:lnTo>
                <a:lnTo>
                  <a:pt x="447675" y="18592"/>
                </a:lnTo>
                <a:lnTo>
                  <a:pt x="431825" y="546"/>
                </a:lnTo>
                <a:lnTo>
                  <a:pt x="42908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43475" y="192405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8196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819607" y="228600"/>
                </a:lnTo>
                <a:lnTo>
                  <a:pt x="838200" y="210007"/>
                </a:lnTo>
                <a:lnTo>
                  <a:pt x="838200" y="18592"/>
                </a:lnTo>
                <a:lnTo>
                  <a:pt x="822350" y="546"/>
                </a:lnTo>
                <a:lnTo>
                  <a:pt x="81960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062" y="2371724"/>
            <a:ext cx="10230485" cy="3277235"/>
          </a:xfrm>
          <a:custGeom>
            <a:avLst/>
            <a:gdLst/>
            <a:ahLst/>
            <a:cxnLst/>
            <a:rect l="l" t="t" r="r" b="b"/>
            <a:pathLst>
              <a:path w="10230485" h="3277235">
                <a:moveTo>
                  <a:pt x="10229863" y="120142"/>
                </a:moveTo>
                <a:lnTo>
                  <a:pt x="10229037" y="111785"/>
                </a:lnTo>
                <a:lnTo>
                  <a:pt x="10227462" y="103886"/>
                </a:lnTo>
                <a:lnTo>
                  <a:pt x="10227412" y="103505"/>
                </a:lnTo>
                <a:lnTo>
                  <a:pt x="10227310" y="103149"/>
                </a:lnTo>
                <a:lnTo>
                  <a:pt x="10225748" y="95224"/>
                </a:lnTo>
                <a:lnTo>
                  <a:pt x="10223309" y="87172"/>
                </a:lnTo>
                <a:lnTo>
                  <a:pt x="10216845" y="71577"/>
                </a:lnTo>
                <a:lnTo>
                  <a:pt x="10212870" y="64173"/>
                </a:lnTo>
                <a:lnTo>
                  <a:pt x="10208374" y="57454"/>
                </a:lnTo>
                <a:lnTo>
                  <a:pt x="10208196" y="57137"/>
                </a:lnTo>
                <a:lnTo>
                  <a:pt x="10207981" y="56857"/>
                </a:lnTo>
                <a:lnTo>
                  <a:pt x="10203497" y="50126"/>
                </a:lnTo>
                <a:lnTo>
                  <a:pt x="10198163" y="43637"/>
                </a:lnTo>
                <a:lnTo>
                  <a:pt x="10186225" y="31686"/>
                </a:lnTo>
                <a:lnTo>
                  <a:pt x="10179736" y="26365"/>
                </a:lnTo>
                <a:lnTo>
                  <a:pt x="10173132" y="21971"/>
                </a:lnTo>
                <a:lnTo>
                  <a:pt x="10172725" y="21653"/>
                </a:lnTo>
                <a:lnTo>
                  <a:pt x="10172255" y="21386"/>
                </a:lnTo>
                <a:lnTo>
                  <a:pt x="10165677" y="16979"/>
                </a:lnTo>
                <a:lnTo>
                  <a:pt x="10158285" y="13017"/>
                </a:lnTo>
                <a:lnTo>
                  <a:pt x="10142690" y="6553"/>
                </a:lnTo>
                <a:lnTo>
                  <a:pt x="10134638" y="4114"/>
                </a:lnTo>
                <a:lnTo>
                  <a:pt x="10126713" y="2552"/>
                </a:lnTo>
                <a:lnTo>
                  <a:pt x="10126358" y="2451"/>
                </a:lnTo>
                <a:lnTo>
                  <a:pt x="10125977" y="2400"/>
                </a:lnTo>
                <a:lnTo>
                  <a:pt x="10118077" y="825"/>
                </a:lnTo>
                <a:lnTo>
                  <a:pt x="10109721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873" y="2400"/>
                </a:lnTo>
                <a:lnTo>
                  <a:pt x="103505" y="2451"/>
                </a:lnTo>
                <a:lnTo>
                  <a:pt x="103136" y="2552"/>
                </a:lnTo>
                <a:lnTo>
                  <a:pt x="95224" y="4114"/>
                </a:lnTo>
                <a:lnTo>
                  <a:pt x="87185" y="6553"/>
                </a:lnTo>
                <a:lnTo>
                  <a:pt x="71577" y="13017"/>
                </a:lnTo>
                <a:lnTo>
                  <a:pt x="64173" y="16979"/>
                </a:lnTo>
                <a:lnTo>
                  <a:pt x="57531" y="21424"/>
                </a:lnTo>
                <a:lnTo>
                  <a:pt x="57137" y="21653"/>
                </a:lnTo>
                <a:lnTo>
                  <a:pt x="56769" y="21932"/>
                </a:lnTo>
                <a:lnTo>
                  <a:pt x="50126" y="26365"/>
                </a:lnTo>
                <a:lnTo>
                  <a:pt x="43637" y="31686"/>
                </a:lnTo>
                <a:lnTo>
                  <a:pt x="31699" y="43637"/>
                </a:lnTo>
                <a:lnTo>
                  <a:pt x="26365" y="50126"/>
                </a:lnTo>
                <a:lnTo>
                  <a:pt x="21971" y="56705"/>
                </a:lnTo>
                <a:lnTo>
                  <a:pt x="21653" y="57137"/>
                </a:lnTo>
                <a:lnTo>
                  <a:pt x="21348" y="57632"/>
                </a:lnTo>
                <a:lnTo>
                  <a:pt x="16992" y="64173"/>
                </a:lnTo>
                <a:lnTo>
                  <a:pt x="13030" y="71577"/>
                </a:lnTo>
                <a:lnTo>
                  <a:pt x="9791" y="79375"/>
                </a:lnTo>
                <a:lnTo>
                  <a:pt x="6565" y="87172"/>
                </a:lnTo>
                <a:lnTo>
                  <a:pt x="4127" y="95224"/>
                </a:lnTo>
                <a:lnTo>
                  <a:pt x="2565" y="103022"/>
                </a:lnTo>
                <a:lnTo>
                  <a:pt x="2451" y="103505"/>
                </a:lnTo>
                <a:lnTo>
                  <a:pt x="2374" y="104000"/>
                </a:lnTo>
                <a:lnTo>
                  <a:pt x="825" y="111785"/>
                </a:lnTo>
                <a:lnTo>
                  <a:pt x="12" y="120142"/>
                </a:lnTo>
                <a:lnTo>
                  <a:pt x="12" y="128346"/>
                </a:lnTo>
                <a:lnTo>
                  <a:pt x="0" y="128600"/>
                </a:lnTo>
                <a:lnTo>
                  <a:pt x="0" y="3148025"/>
                </a:lnTo>
                <a:lnTo>
                  <a:pt x="12" y="3148292"/>
                </a:lnTo>
                <a:lnTo>
                  <a:pt x="12" y="3156458"/>
                </a:lnTo>
                <a:lnTo>
                  <a:pt x="825" y="3164814"/>
                </a:lnTo>
                <a:lnTo>
                  <a:pt x="2362" y="3172574"/>
                </a:lnTo>
                <a:lnTo>
                  <a:pt x="2451" y="3173107"/>
                </a:lnTo>
                <a:lnTo>
                  <a:pt x="2578" y="3173653"/>
                </a:lnTo>
                <a:lnTo>
                  <a:pt x="4127" y="3181375"/>
                </a:lnTo>
                <a:lnTo>
                  <a:pt x="6565" y="3189427"/>
                </a:lnTo>
                <a:lnTo>
                  <a:pt x="9715" y="3197034"/>
                </a:lnTo>
                <a:lnTo>
                  <a:pt x="9791" y="3197237"/>
                </a:lnTo>
                <a:lnTo>
                  <a:pt x="9880" y="3197441"/>
                </a:lnTo>
                <a:lnTo>
                  <a:pt x="13030" y="3205022"/>
                </a:lnTo>
                <a:lnTo>
                  <a:pt x="16992" y="3212427"/>
                </a:lnTo>
                <a:lnTo>
                  <a:pt x="21285" y="3218865"/>
                </a:lnTo>
                <a:lnTo>
                  <a:pt x="21653" y="3219475"/>
                </a:lnTo>
                <a:lnTo>
                  <a:pt x="22059" y="3220034"/>
                </a:lnTo>
                <a:lnTo>
                  <a:pt x="26365" y="3226473"/>
                </a:lnTo>
                <a:lnTo>
                  <a:pt x="31699" y="3232962"/>
                </a:lnTo>
                <a:lnTo>
                  <a:pt x="37541" y="3238817"/>
                </a:lnTo>
                <a:lnTo>
                  <a:pt x="37668" y="3238944"/>
                </a:lnTo>
                <a:lnTo>
                  <a:pt x="37795" y="3239071"/>
                </a:lnTo>
                <a:lnTo>
                  <a:pt x="43637" y="3244900"/>
                </a:lnTo>
                <a:lnTo>
                  <a:pt x="50126" y="3250234"/>
                </a:lnTo>
                <a:lnTo>
                  <a:pt x="56591" y="3254565"/>
                </a:lnTo>
                <a:lnTo>
                  <a:pt x="57137" y="3254959"/>
                </a:lnTo>
                <a:lnTo>
                  <a:pt x="57696" y="3255302"/>
                </a:lnTo>
                <a:lnTo>
                  <a:pt x="64173" y="3259620"/>
                </a:lnTo>
                <a:lnTo>
                  <a:pt x="71577" y="3263582"/>
                </a:lnTo>
                <a:lnTo>
                  <a:pt x="79324" y="3266795"/>
                </a:lnTo>
                <a:lnTo>
                  <a:pt x="79451" y="3266846"/>
                </a:lnTo>
                <a:lnTo>
                  <a:pt x="87185" y="3270046"/>
                </a:lnTo>
                <a:lnTo>
                  <a:pt x="95224" y="3272485"/>
                </a:lnTo>
                <a:lnTo>
                  <a:pt x="102895" y="3274022"/>
                </a:lnTo>
                <a:lnTo>
                  <a:pt x="103505" y="3274161"/>
                </a:lnTo>
                <a:lnTo>
                  <a:pt x="104114" y="3274263"/>
                </a:lnTo>
                <a:lnTo>
                  <a:pt x="111785" y="3275774"/>
                </a:lnTo>
                <a:lnTo>
                  <a:pt x="120154" y="3276600"/>
                </a:lnTo>
                <a:lnTo>
                  <a:pt x="128320" y="3276600"/>
                </a:lnTo>
                <a:lnTo>
                  <a:pt x="128587" y="3276612"/>
                </a:lnTo>
                <a:lnTo>
                  <a:pt x="10101262" y="3276612"/>
                </a:lnTo>
                <a:lnTo>
                  <a:pt x="10101516" y="3276600"/>
                </a:lnTo>
                <a:lnTo>
                  <a:pt x="10109721" y="3276600"/>
                </a:lnTo>
                <a:lnTo>
                  <a:pt x="10118077" y="3275774"/>
                </a:lnTo>
                <a:lnTo>
                  <a:pt x="10125735" y="3274263"/>
                </a:lnTo>
                <a:lnTo>
                  <a:pt x="10126358" y="3274161"/>
                </a:lnTo>
                <a:lnTo>
                  <a:pt x="10126955" y="3274022"/>
                </a:lnTo>
                <a:lnTo>
                  <a:pt x="10134638" y="3272485"/>
                </a:lnTo>
                <a:lnTo>
                  <a:pt x="10142690" y="3270046"/>
                </a:lnTo>
                <a:lnTo>
                  <a:pt x="10150450" y="3266833"/>
                </a:lnTo>
                <a:lnTo>
                  <a:pt x="10158285" y="3263582"/>
                </a:lnTo>
                <a:lnTo>
                  <a:pt x="10165677" y="3259620"/>
                </a:lnTo>
                <a:lnTo>
                  <a:pt x="10172090" y="3255340"/>
                </a:lnTo>
                <a:lnTo>
                  <a:pt x="10172725" y="3254959"/>
                </a:lnTo>
                <a:lnTo>
                  <a:pt x="10173297" y="3254527"/>
                </a:lnTo>
                <a:lnTo>
                  <a:pt x="10179736" y="3250234"/>
                </a:lnTo>
                <a:lnTo>
                  <a:pt x="10186225" y="3244900"/>
                </a:lnTo>
                <a:lnTo>
                  <a:pt x="10192182" y="3238944"/>
                </a:lnTo>
                <a:lnTo>
                  <a:pt x="10198163" y="3232962"/>
                </a:lnTo>
                <a:lnTo>
                  <a:pt x="10203497" y="3226473"/>
                </a:lnTo>
                <a:lnTo>
                  <a:pt x="10207904" y="3219869"/>
                </a:lnTo>
                <a:lnTo>
                  <a:pt x="10208196" y="3219475"/>
                </a:lnTo>
                <a:lnTo>
                  <a:pt x="10208450" y="3219056"/>
                </a:lnTo>
                <a:lnTo>
                  <a:pt x="10225748" y="3181375"/>
                </a:lnTo>
                <a:lnTo>
                  <a:pt x="10227297" y="3173526"/>
                </a:lnTo>
                <a:lnTo>
                  <a:pt x="10227412" y="3173107"/>
                </a:lnTo>
                <a:lnTo>
                  <a:pt x="10227462" y="3172688"/>
                </a:lnTo>
                <a:lnTo>
                  <a:pt x="10229037" y="3164814"/>
                </a:lnTo>
                <a:lnTo>
                  <a:pt x="10229863" y="3156458"/>
                </a:lnTo>
                <a:lnTo>
                  <a:pt x="10229863" y="120142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7375" y="891222"/>
            <a:ext cx="10146665" cy="4604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45" dirty="0">
                <a:solidFill>
                  <a:srgbClr val="0C0D0E"/>
                </a:solidFill>
                <a:latin typeface="Verdana"/>
                <a:cs typeface="Verdana"/>
              </a:rPr>
              <a:t>Users</a:t>
            </a:r>
            <a:r>
              <a:rPr sz="4650" spc="-33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65" dirty="0">
                <a:solidFill>
                  <a:srgbClr val="0C0D0E"/>
                </a:solidFill>
                <a:latin typeface="Verdana"/>
                <a:cs typeface="Verdana"/>
              </a:rPr>
              <a:t>and</a:t>
            </a:r>
            <a:r>
              <a:rPr sz="4650" spc="-32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10" dirty="0">
                <a:solidFill>
                  <a:srgbClr val="0C0D0E"/>
                </a:solidFill>
                <a:latin typeface="Verdana"/>
                <a:cs typeface="Verdana"/>
              </a:rPr>
              <a:t>Categories</a:t>
            </a:r>
            <a:r>
              <a:rPr sz="4650" spc="-33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0" dirty="0">
                <a:solidFill>
                  <a:srgbClr val="0C0D0E"/>
                </a:solidFill>
                <a:latin typeface="Verdana"/>
                <a:cs typeface="Verdana"/>
              </a:rPr>
              <a:t>Tables</a:t>
            </a:r>
            <a:endParaRPr sz="4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Here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are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-2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statements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defining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users</a:t>
            </a:r>
            <a:r>
              <a:rPr sz="1350" spc="-114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categories</a:t>
            </a:r>
            <a:r>
              <a:rPr sz="1350" spc="-1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tables,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including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unique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constraints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usernames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emails.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350">
              <a:latin typeface="Verdana"/>
              <a:cs typeface="Verdana"/>
            </a:endParaRPr>
          </a:p>
          <a:p>
            <a:pPr marL="175260">
              <a:lnSpc>
                <a:spcPct val="100000"/>
              </a:lnSpc>
            </a:pP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CREATE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TABLE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users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(</a:t>
            </a:r>
            <a:endParaRPr sz="1350">
              <a:latin typeface="Lucida Sans"/>
              <a:cs typeface="Lucida Sans"/>
            </a:endParaRPr>
          </a:p>
          <a:p>
            <a:pPr marL="353695">
              <a:lnSpc>
                <a:spcPct val="100000"/>
              </a:lnSpc>
              <a:spcBef>
                <a:spcPts val="555"/>
              </a:spcBef>
            </a:pP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user_id</a:t>
            </a:r>
            <a:r>
              <a:rPr sz="1350" spc="-7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SERIAL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PRIMARY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KEY,</a:t>
            </a:r>
            <a:endParaRPr sz="1350">
              <a:latin typeface="Lucida Sans"/>
              <a:cs typeface="Lucida Sans"/>
            </a:endParaRPr>
          </a:p>
          <a:p>
            <a:pPr marL="353695" marR="6244590">
              <a:lnSpc>
                <a:spcPts val="2180"/>
              </a:lnSpc>
              <a:spcBef>
                <a:spcPts val="85"/>
              </a:spcBef>
            </a:pP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username</a:t>
            </a: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VARCHAR(50)</a:t>
            </a: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545759"/>
                </a:solidFill>
                <a:latin typeface="Lucida Sans"/>
                <a:cs typeface="Lucida Sans"/>
              </a:rPr>
              <a:t>UNIQUE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NOT</a:t>
            </a: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NULL, 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password</a:t>
            </a:r>
            <a:r>
              <a:rPr sz="1350" spc="-3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VARCHAR(255)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NOT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NULL,</a:t>
            </a:r>
            <a:endParaRPr sz="1350">
              <a:latin typeface="Lucida Sans"/>
              <a:cs typeface="Lucida Sans"/>
            </a:endParaRPr>
          </a:p>
          <a:p>
            <a:pPr marL="353695">
              <a:lnSpc>
                <a:spcPct val="100000"/>
              </a:lnSpc>
              <a:spcBef>
                <a:spcPts val="385"/>
              </a:spcBef>
            </a:pP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email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VARCHAR(100)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545759"/>
                </a:solidFill>
                <a:latin typeface="Lucida Sans"/>
                <a:cs typeface="Lucida Sans"/>
              </a:rPr>
              <a:t>UNIQUE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NOT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 NULL</a:t>
            </a:r>
            <a:endParaRPr sz="1350">
              <a:latin typeface="Lucida Sans"/>
              <a:cs typeface="Lucida Sans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);</a:t>
            </a:r>
            <a:endParaRPr sz="13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350">
              <a:latin typeface="Lucida Sans"/>
              <a:cs typeface="Lucida Sans"/>
            </a:endParaRPr>
          </a:p>
          <a:p>
            <a:pPr marL="353695" marR="7138670" indent="-178435">
              <a:lnSpc>
                <a:spcPct val="134300"/>
              </a:lnSpc>
            </a:pP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CREATE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TABLE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categories</a:t>
            </a:r>
            <a:r>
              <a:rPr sz="1350" spc="-6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( </a:t>
            </a:r>
            <a:r>
              <a:rPr sz="1350" spc="-40" dirty="0">
                <a:solidFill>
                  <a:srgbClr val="545759"/>
                </a:solidFill>
                <a:latin typeface="Lucida Sans"/>
                <a:cs typeface="Lucida Sans"/>
              </a:rPr>
              <a:t>category_id</a:t>
            </a:r>
            <a:r>
              <a:rPr sz="1350" spc="-5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SERIAL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PRIMARY</a:t>
            </a:r>
            <a:r>
              <a:rPr sz="1350" spc="-5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KEY,</a:t>
            </a:r>
            <a:endParaRPr sz="1350">
              <a:latin typeface="Lucida Sans"/>
              <a:cs typeface="Lucida Sans"/>
            </a:endParaRPr>
          </a:p>
          <a:p>
            <a:pPr marL="353695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545759"/>
                </a:solidFill>
                <a:latin typeface="Lucida Sans"/>
                <a:cs typeface="Lucida Sans"/>
              </a:rPr>
              <a:t>name</a:t>
            </a:r>
            <a:r>
              <a:rPr sz="1350" spc="-30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Lucida Sans"/>
                <a:cs typeface="Lucida Sans"/>
              </a:rPr>
              <a:t>VARCHAR(100)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dirty="0">
                <a:solidFill>
                  <a:srgbClr val="545759"/>
                </a:solidFill>
                <a:latin typeface="Lucida Sans"/>
                <a:cs typeface="Lucida Sans"/>
              </a:rPr>
              <a:t>UNIQUE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Lucida Sans"/>
                <a:cs typeface="Lucida Sans"/>
              </a:rPr>
              <a:t>NOT</a:t>
            </a: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Lucida Sans"/>
                <a:cs typeface="Lucida Sans"/>
              </a:rPr>
              <a:t>NULL</a:t>
            </a:r>
            <a:endParaRPr sz="1350">
              <a:latin typeface="Lucida Sans"/>
              <a:cs typeface="Lucida Sans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sz="1350" spc="-25" dirty="0">
                <a:solidFill>
                  <a:srgbClr val="545759"/>
                </a:solidFill>
                <a:latin typeface="Lucida Sans"/>
                <a:cs typeface="Lucida Sans"/>
              </a:rPr>
              <a:t>);</a:t>
            </a:r>
            <a:endParaRPr sz="1350">
              <a:latin typeface="Lucida Sans"/>
              <a:cs typeface="Lucida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0075" y="5838825"/>
            <a:ext cx="10229850" cy="1009650"/>
            <a:chOff x="600075" y="5838825"/>
            <a:chExt cx="10229850" cy="1009650"/>
          </a:xfrm>
        </p:grpSpPr>
        <p:sp>
          <p:nvSpPr>
            <p:cNvPr id="8" name="object 8"/>
            <p:cNvSpPr/>
            <p:nvPr/>
          </p:nvSpPr>
          <p:spPr>
            <a:xfrm>
              <a:off x="600075" y="5838825"/>
              <a:ext cx="10229850" cy="1009650"/>
            </a:xfrm>
            <a:custGeom>
              <a:avLst/>
              <a:gdLst/>
              <a:ahLst/>
              <a:cxnLst/>
              <a:rect l="l" t="t" r="r" b="b"/>
              <a:pathLst>
                <a:path w="10229850" h="1009650">
                  <a:moveTo>
                    <a:pt x="1010970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72"/>
                  </a:lnTo>
                  <a:lnTo>
                    <a:pt x="0" y="120142"/>
                  </a:lnTo>
                  <a:lnTo>
                    <a:pt x="0" y="881062"/>
                  </a:lnTo>
                  <a:lnTo>
                    <a:pt x="0" y="889505"/>
                  </a:lnTo>
                  <a:lnTo>
                    <a:pt x="13017" y="938069"/>
                  </a:lnTo>
                  <a:lnTo>
                    <a:pt x="43630" y="977954"/>
                  </a:lnTo>
                  <a:lnTo>
                    <a:pt x="87179" y="1003091"/>
                  </a:lnTo>
                  <a:lnTo>
                    <a:pt x="120144" y="1009650"/>
                  </a:lnTo>
                  <a:lnTo>
                    <a:pt x="10109708" y="1009650"/>
                  </a:lnTo>
                  <a:lnTo>
                    <a:pt x="10158272" y="996627"/>
                  </a:lnTo>
                  <a:lnTo>
                    <a:pt x="10198163" y="966014"/>
                  </a:lnTo>
                  <a:lnTo>
                    <a:pt x="10223296" y="922470"/>
                  </a:lnTo>
                  <a:lnTo>
                    <a:pt x="10229850" y="889505"/>
                  </a:lnTo>
                  <a:lnTo>
                    <a:pt x="10229850" y="120142"/>
                  </a:lnTo>
                  <a:lnTo>
                    <a:pt x="10216832" y="71577"/>
                  </a:lnTo>
                  <a:lnTo>
                    <a:pt x="10186212" y="31686"/>
                  </a:lnTo>
                  <a:lnTo>
                    <a:pt x="10142677" y="6553"/>
                  </a:lnTo>
                  <a:lnTo>
                    <a:pt x="10118064" y="825"/>
                  </a:lnTo>
                  <a:lnTo>
                    <a:pt x="10109708" y="0"/>
                  </a:lnTo>
                  <a:close/>
                </a:path>
              </a:pathLst>
            </a:custGeom>
            <a:solidFill>
              <a:srgbClr val="B5FC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956" y="6105524"/>
              <a:ext cx="171450" cy="1714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85900" y="6076950"/>
              <a:ext cx="1552575" cy="228600"/>
            </a:xfrm>
            <a:custGeom>
              <a:avLst/>
              <a:gdLst/>
              <a:ahLst/>
              <a:cxnLst/>
              <a:rect l="l" t="t" r="r" b="b"/>
              <a:pathLst>
                <a:path w="1552575" h="228600">
                  <a:moveTo>
                    <a:pt x="1533982" y="0"/>
                  </a:moveTo>
                  <a:lnTo>
                    <a:pt x="18592" y="0"/>
                  </a:lnTo>
                  <a:lnTo>
                    <a:pt x="15849" y="541"/>
                  </a:lnTo>
                  <a:lnTo>
                    <a:pt x="0" y="18588"/>
                  </a:lnTo>
                  <a:lnTo>
                    <a:pt x="0" y="207168"/>
                  </a:lnTo>
                  <a:lnTo>
                    <a:pt x="0" y="210011"/>
                  </a:lnTo>
                  <a:lnTo>
                    <a:pt x="18592" y="228600"/>
                  </a:lnTo>
                  <a:lnTo>
                    <a:pt x="1533982" y="228600"/>
                  </a:lnTo>
                  <a:lnTo>
                    <a:pt x="1552575" y="210011"/>
                  </a:lnTo>
                  <a:lnTo>
                    <a:pt x="1552575" y="18588"/>
                  </a:lnTo>
                  <a:lnTo>
                    <a:pt x="1536725" y="541"/>
                  </a:lnTo>
                  <a:lnTo>
                    <a:pt x="15339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44587" y="6003290"/>
            <a:ext cx="930529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4300"/>
              </a:lnSpc>
              <a:spcBef>
                <a:spcPts val="100"/>
              </a:spcBef>
            </a:pPr>
            <a:r>
              <a:rPr sz="1350" spc="-40" dirty="0">
                <a:latin typeface="Verdana"/>
                <a:cs typeface="Verdana"/>
              </a:rPr>
              <a:t>The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dirty="0">
                <a:latin typeface="Lucida Sans"/>
                <a:cs typeface="Lucida Sans"/>
              </a:rPr>
              <a:t>UNIQUE</a:t>
            </a:r>
            <a:r>
              <a:rPr sz="1350" spc="-15" dirty="0">
                <a:latin typeface="Lucida Sans"/>
                <a:cs typeface="Lucida Sans"/>
              </a:rPr>
              <a:t> </a:t>
            </a:r>
            <a:r>
              <a:rPr sz="1350" spc="-45" dirty="0">
                <a:latin typeface="Lucida Sans"/>
                <a:cs typeface="Lucida Sans"/>
              </a:rPr>
              <a:t>NOT</a:t>
            </a:r>
            <a:r>
              <a:rPr sz="1350" spc="-20" dirty="0">
                <a:latin typeface="Lucida Sans"/>
                <a:cs typeface="Lucida Sans"/>
              </a:rPr>
              <a:t> </a:t>
            </a:r>
            <a:r>
              <a:rPr sz="1350" dirty="0">
                <a:latin typeface="Lucida Sans"/>
                <a:cs typeface="Lucida Sans"/>
              </a:rPr>
              <a:t>NULL</a:t>
            </a:r>
            <a:r>
              <a:rPr sz="1350" spc="-114" dirty="0">
                <a:latin typeface="Lucida Sans"/>
                <a:cs typeface="Lucida Sans"/>
              </a:rPr>
              <a:t> </a:t>
            </a:r>
            <a:r>
              <a:rPr sz="1350" spc="-40" dirty="0">
                <a:latin typeface="Verdana"/>
                <a:cs typeface="Verdana"/>
              </a:rPr>
              <a:t>constraints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ensure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data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40" dirty="0">
                <a:latin typeface="Verdana"/>
                <a:cs typeface="Verdana"/>
              </a:rPr>
              <a:t>consistency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and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prevent</a:t>
            </a:r>
            <a:r>
              <a:rPr sz="1350" spc="-160" dirty="0">
                <a:latin typeface="Verdana"/>
                <a:cs typeface="Verdana"/>
              </a:rPr>
              <a:t> </a:t>
            </a:r>
            <a:r>
              <a:rPr sz="1350" spc="-45" dirty="0">
                <a:latin typeface="Verdana"/>
                <a:cs typeface="Verdana"/>
              </a:rPr>
              <a:t>duplicate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45" dirty="0">
                <a:latin typeface="Verdana"/>
                <a:cs typeface="Verdana"/>
              </a:rPr>
              <a:t>entries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for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usernames,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emails,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and </a:t>
            </a:r>
            <a:r>
              <a:rPr sz="1350" spc="-50" dirty="0">
                <a:latin typeface="Verdana"/>
                <a:cs typeface="Verdana"/>
              </a:rPr>
              <a:t>category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names.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2" name="object 12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800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375" y="839787"/>
            <a:ext cx="139446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SQL</a:t>
            </a:r>
            <a:r>
              <a:rPr sz="1650" spc="-11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0C0D0E"/>
                </a:solidFill>
                <a:latin typeface="Verdana"/>
                <a:cs typeface="Verdana"/>
              </a:rPr>
              <a:t>in</a:t>
            </a:r>
            <a:r>
              <a:rPr sz="1650" spc="-11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Action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272222"/>
            <a:ext cx="8027670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spc="-160" dirty="0"/>
              <a:t>Task</a:t>
            </a:r>
            <a:r>
              <a:rPr sz="4650" spc="-310" dirty="0"/>
              <a:t> </a:t>
            </a:r>
            <a:r>
              <a:rPr sz="4650" spc="-135" dirty="0"/>
              <a:t>Assignments</a:t>
            </a:r>
            <a:r>
              <a:rPr sz="4650" spc="-310" dirty="0"/>
              <a:t> </a:t>
            </a:r>
            <a:r>
              <a:rPr sz="4650" spc="-175" dirty="0"/>
              <a:t>(Optional)</a:t>
            </a:r>
            <a:endParaRPr sz="4650"/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pc="-90" dirty="0"/>
              <a:t>For</a:t>
            </a:r>
            <a:r>
              <a:rPr spc="-160" dirty="0"/>
              <a:t> </a:t>
            </a:r>
            <a:r>
              <a:rPr spc="-45" dirty="0"/>
              <a:t>scenarios</a:t>
            </a:r>
            <a:r>
              <a:rPr spc="-160" dirty="0"/>
              <a:t> </a:t>
            </a:r>
            <a:r>
              <a:rPr spc="-60" dirty="0"/>
              <a:t>where</a:t>
            </a:r>
            <a:r>
              <a:rPr spc="-155" dirty="0"/>
              <a:t> </a:t>
            </a:r>
            <a:r>
              <a:rPr spc="-50" dirty="0"/>
              <a:t>tasks</a:t>
            </a:r>
            <a:r>
              <a:rPr spc="-160" dirty="0"/>
              <a:t> </a:t>
            </a:r>
            <a:r>
              <a:rPr spc="-70" dirty="0"/>
              <a:t>are</a:t>
            </a:r>
            <a:r>
              <a:rPr spc="-160" dirty="0"/>
              <a:t> </a:t>
            </a:r>
            <a:r>
              <a:rPr spc="-45" dirty="0"/>
              <a:t>assigned</a:t>
            </a:r>
            <a:r>
              <a:rPr spc="-155" dirty="0"/>
              <a:t> </a:t>
            </a:r>
            <a:r>
              <a:rPr spc="-40" dirty="0"/>
              <a:t>to</a:t>
            </a:r>
            <a:r>
              <a:rPr spc="-160" dirty="0"/>
              <a:t> </a:t>
            </a:r>
            <a:r>
              <a:rPr spc="-20" dirty="0"/>
              <a:t>specific</a:t>
            </a:r>
            <a:r>
              <a:rPr spc="-160" dirty="0"/>
              <a:t> </a:t>
            </a:r>
            <a:r>
              <a:rPr spc="-60" dirty="0"/>
              <a:t>users,</a:t>
            </a:r>
            <a:r>
              <a:rPr spc="-155" dirty="0"/>
              <a:t> </a:t>
            </a:r>
            <a:r>
              <a:rPr spc="-30" dirty="0"/>
              <a:t>the</a:t>
            </a:r>
            <a:r>
              <a:rPr spc="-165" dirty="0"/>
              <a:t> </a:t>
            </a:r>
            <a:r>
              <a:rPr spc="-45" dirty="0">
                <a:latin typeface="Lucida Sans"/>
                <a:cs typeface="Lucida Sans"/>
              </a:rPr>
              <a:t>task_assignments</a:t>
            </a:r>
            <a:r>
              <a:rPr spc="-120" dirty="0">
                <a:latin typeface="Lucida Sans"/>
                <a:cs typeface="Lucida Sans"/>
              </a:rPr>
              <a:t> </a:t>
            </a:r>
            <a:r>
              <a:rPr spc="-45" dirty="0"/>
              <a:t>table</a:t>
            </a:r>
            <a:r>
              <a:rPr spc="-160" dirty="0"/>
              <a:t> </a:t>
            </a:r>
            <a:r>
              <a:rPr spc="-35" dirty="0"/>
              <a:t>creates</a:t>
            </a:r>
            <a:r>
              <a:rPr spc="-155" dirty="0"/>
              <a:t> </a:t>
            </a:r>
            <a:r>
              <a:rPr spc="-65" dirty="0"/>
              <a:t>a</a:t>
            </a:r>
            <a:r>
              <a:rPr spc="-160" dirty="0"/>
              <a:t> </a:t>
            </a:r>
            <a:r>
              <a:rPr spc="-75" dirty="0"/>
              <a:t>bridge,</a:t>
            </a:r>
            <a:r>
              <a:rPr spc="-155" dirty="0"/>
              <a:t> </a:t>
            </a:r>
            <a:r>
              <a:rPr spc="-80" dirty="0"/>
              <a:t>managing</a:t>
            </a:r>
            <a:r>
              <a:rPr spc="-160" dirty="0"/>
              <a:t> </a:t>
            </a:r>
            <a:r>
              <a:rPr spc="-30" dirty="0"/>
              <a:t>the</a:t>
            </a:r>
            <a:r>
              <a:rPr spc="-160" dirty="0"/>
              <a:t> </a:t>
            </a:r>
            <a:r>
              <a:rPr spc="-95" dirty="0"/>
              <a:t>many-</a:t>
            </a:r>
            <a:r>
              <a:rPr spc="-25" dirty="0"/>
              <a:t>to- </a:t>
            </a:r>
            <a:r>
              <a:rPr spc="-110" dirty="0"/>
              <a:t>many</a:t>
            </a:r>
            <a:r>
              <a:rPr spc="-160" dirty="0"/>
              <a:t> </a:t>
            </a:r>
            <a:r>
              <a:rPr spc="-55" dirty="0"/>
              <a:t>relationship</a:t>
            </a:r>
            <a:r>
              <a:rPr spc="-155" dirty="0"/>
              <a:t> </a:t>
            </a:r>
            <a:r>
              <a:rPr spc="-45" dirty="0"/>
              <a:t>between</a:t>
            </a:r>
            <a:r>
              <a:rPr spc="-155" dirty="0"/>
              <a:t> </a:t>
            </a:r>
            <a:r>
              <a:rPr spc="-50" dirty="0"/>
              <a:t>tasks</a:t>
            </a:r>
            <a:r>
              <a:rPr spc="-155" dirty="0"/>
              <a:t> </a:t>
            </a:r>
            <a:r>
              <a:rPr spc="-60" dirty="0"/>
              <a:t>and</a:t>
            </a:r>
            <a:r>
              <a:rPr spc="-155" dirty="0"/>
              <a:t> </a:t>
            </a:r>
            <a:r>
              <a:rPr spc="-10" dirty="0"/>
              <a:t>users.</a:t>
            </a: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pc="-10" dirty="0"/>
          </a:p>
          <a:p>
            <a:pPr marL="353695" marR="6483985" indent="-178435">
              <a:lnSpc>
                <a:spcPct val="134300"/>
              </a:lnSpc>
              <a:spcBef>
                <a:spcPts val="5"/>
              </a:spcBef>
            </a:pPr>
            <a:r>
              <a:rPr spc="-55" dirty="0">
                <a:latin typeface="Lucida Sans"/>
                <a:cs typeface="Lucida Sans"/>
              </a:rPr>
              <a:t>CREATE</a:t>
            </a:r>
            <a:r>
              <a:rPr spc="-40" dirty="0">
                <a:latin typeface="Lucida Sans"/>
                <a:cs typeface="Lucida Sans"/>
              </a:rPr>
              <a:t> </a:t>
            </a:r>
            <a:r>
              <a:rPr spc="-25" dirty="0">
                <a:latin typeface="Lucida Sans"/>
                <a:cs typeface="Lucida Sans"/>
              </a:rPr>
              <a:t>TABLE</a:t>
            </a:r>
            <a:r>
              <a:rPr spc="-40" dirty="0">
                <a:latin typeface="Lucida Sans"/>
                <a:cs typeface="Lucida Sans"/>
              </a:rPr>
              <a:t> </a:t>
            </a:r>
            <a:r>
              <a:rPr spc="-45" dirty="0">
                <a:latin typeface="Lucida Sans"/>
                <a:cs typeface="Lucida Sans"/>
              </a:rPr>
              <a:t>task_assignments</a:t>
            </a:r>
            <a:r>
              <a:rPr spc="-40" dirty="0">
                <a:latin typeface="Lucida Sans"/>
                <a:cs typeface="Lucida Sans"/>
              </a:rPr>
              <a:t> </a:t>
            </a:r>
            <a:r>
              <a:rPr spc="-50" dirty="0">
                <a:latin typeface="Lucida Sans"/>
                <a:cs typeface="Lucida Sans"/>
              </a:rPr>
              <a:t>(</a:t>
            </a:r>
            <a:r>
              <a:rPr spc="500" dirty="0">
                <a:latin typeface="Lucida Sans"/>
                <a:cs typeface="Lucida Sans"/>
              </a:rPr>
              <a:t> </a:t>
            </a:r>
            <a:r>
              <a:rPr spc="-55" dirty="0">
                <a:latin typeface="Lucida Sans"/>
                <a:cs typeface="Lucida Sans"/>
              </a:rPr>
              <a:t>task_id</a:t>
            </a:r>
            <a:r>
              <a:rPr spc="-40" dirty="0">
                <a:latin typeface="Lucida Sans"/>
                <a:cs typeface="Lucida Sans"/>
              </a:rPr>
              <a:t> </a:t>
            </a:r>
            <a:r>
              <a:rPr spc="-45" dirty="0">
                <a:latin typeface="Lucida Sans"/>
                <a:cs typeface="Lucida Sans"/>
              </a:rPr>
              <a:t>INT</a:t>
            </a:r>
            <a:r>
              <a:rPr spc="-40" dirty="0">
                <a:latin typeface="Lucida Sans"/>
                <a:cs typeface="Lucida Sans"/>
              </a:rPr>
              <a:t> </a:t>
            </a:r>
            <a:r>
              <a:rPr spc="-20" dirty="0">
                <a:latin typeface="Lucida Sans"/>
                <a:cs typeface="Lucida Sans"/>
              </a:rPr>
              <a:t>REFERENCES</a:t>
            </a:r>
            <a:r>
              <a:rPr spc="-35" dirty="0">
                <a:latin typeface="Lucida Sans"/>
                <a:cs typeface="Lucida Sans"/>
              </a:rPr>
              <a:t> tasks(task_id),</a:t>
            </a:r>
          </a:p>
          <a:p>
            <a:pPr marL="353695" marR="6408420">
              <a:lnSpc>
                <a:spcPct val="129600"/>
              </a:lnSpc>
              <a:spcBef>
                <a:spcPts val="75"/>
              </a:spcBef>
            </a:pPr>
            <a:r>
              <a:rPr spc="-35" dirty="0">
                <a:latin typeface="Lucida Sans"/>
                <a:cs typeface="Lucida Sans"/>
              </a:rPr>
              <a:t>user_id</a:t>
            </a:r>
            <a:r>
              <a:rPr spc="-45" dirty="0">
                <a:latin typeface="Lucida Sans"/>
                <a:cs typeface="Lucida Sans"/>
              </a:rPr>
              <a:t> INT </a:t>
            </a:r>
            <a:r>
              <a:rPr spc="-20" dirty="0">
                <a:latin typeface="Lucida Sans"/>
                <a:cs typeface="Lucida Sans"/>
              </a:rPr>
              <a:t>REFERENCES</a:t>
            </a:r>
            <a:r>
              <a:rPr spc="-45" dirty="0">
                <a:latin typeface="Lucida Sans"/>
                <a:cs typeface="Lucida Sans"/>
              </a:rPr>
              <a:t> </a:t>
            </a:r>
            <a:r>
              <a:rPr spc="-30" dirty="0">
                <a:latin typeface="Lucida Sans"/>
                <a:cs typeface="Lucida Sans"/>
              </a:rPr>
              <a:t>users(user_id), </a:t>
            </a:r>
            <a:r>
              <a:rPr spc="-25" dirty="0">
                <a:latin typeface="Lucida Sans"/>
                <a:cs typeface="Lucida Sans"/>
              </a:rPr>
              <a:t>PRIMARY</a:t>
            </a:r>
            <a:r>
              <a:rPr spc="-50" dirty="0">
                <a:latin typeface="Lucida Sans"/>
                <a:cs typeface="Lucida Sans"/>
              </a:rPr>
              <a:t> </a:t>
            </a:r>
            <a:r>
              <a:rPr spc="-60" dirty="0">
                <a:latin typeface="Lucida Sans"/>
                <a:cs typeface="Lucida Sans"/>
              </a:rPr>
              <a:t>KEY</a:t>
            </a:r>
            <a:r>
              <a:rPr spc="-45" dirty="0">
                <a:latin typeface="Lucida Sans"/>
                <a:cs typeface="Lucida Sans"/>
              </a:rPr>
              <a:t> </a:t>
            </a:r>
            <a:r>
              <a:rPr spc="-55" dirty="0">
                <a:latin typeface="Lucida Sans"/>
                <a:cs typeface="Lucida Sans"/>
              </a:rPr>
              <a:t>(task_id,</a:t>
            </a:r>
            <a:r>
              <a:rPr spc="-50" dirty="0">
                <a:latin typeface="Lucida Sans"/>
                <a:cs typeface="Lucida Sans"/>
              </a:rPr>
              <a:t> </a:t>
            </a:r>
            <a:r>
              <a:rPr spc="-10" dirty="0">
                <a:latin typeface="Lucida Sans"/>
                <a:cs typeface="Lucida Sans"/>
              </a:rPr>
              <a:t>user_id)</a:t>
            </a: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spc="-25" dirty="0">
                <a:latin typeface="Lucida Sans"/>
                <a:cs typeface="Lucida Sans"/>
              </a:rPr>
              <a:t>);</a:t>
            </a:r>
          </a:p>
        </p:txBody>
      </p:sp>
      <p:sp>
        <p:nvSpPr>
          <p:cNvPr id="4" name="object 4"/>
          <p:cNvSpPr/>
          <p:nvPr/>
        </p:nvSpPr>
        <p:spPr>
          <a:xfrm>
            <a:off x="5391150" y="2314574"/>
            <a:ext cx="1428750" cy="228600"/>
          </a:xfrm>
          <a:custGeom>
            <a:avLst/>
            <a:gdLst/>
            <a:ahLst/>
            <a:cxnLst/>
            <a:rect l="l" t="t" r="r" b="b"/>
            <a:pathLst>
              <a:path w="1428750" h="228600">
                <a:moveTo>
                  <a:pt x="14101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1410157" y="228600"/>
                </a:lnTo>
                <a:lnTo>
                  <a:pt x="1428750" y="210007"/>
                </a:lnTo>
                <a:lnTo>
                  <a:pt x="1428750" y="18592"/>
                </a:lnTo>
                <a:lnTo>
                  <a:pt x="1412900" y="546"/>
                </a:lnTo>
                <a:lnTo>
                  <a:pt x="141015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062" y="3028949"/>
            <a:ext cx="10230485" cy="1629410"/>
          </a:xfrm>
          <a:custGeom>
            <a:avLst/>
            <a:gdLst/>
            <a:ahLst/>
            <a:cxnLst/>
            <a:rect l="l" t="t" r="r" b="b"/>
            <a:pathLst>
              <a:path w="10230485" h="1629410">
                <a:moveTo>
                  <a:pt x="10229863" y="120142"/>
                </a:moveTo>
                <a:lnTo>
                  <a:pt x="10229037" y="111798"/>
                </a:lnTo>
                <a:lnTo>
                  <a:pt x="10227462" y="103936"/>
                </a:lnTo>
                <a:lnTo>
                  <a:pt x="10227412" y="103505"/>
                </a:lnTo>
                <a:lnTo>
                  <a:pt x="10227297" y="103098"/>
                </a:lnTo>
                <a:lnTo>
                  <a:pt x="10225748" y="95237"/>
                </a:lnTo>
                <a:lnTo>
                  <a:pt x="10223309" y="87185"/>
                </a:lnTo>
                <a:lnTo>
                  <a:pt x="10216845" y="71577"/>
                </a:lnTo>
                <a:lnTo>
                  <a:pt x="10212870" y="64160"/>
                </a:lnTo>
                <a:lnTo>
                  <a:pt x="10208336" y="57391"/>
                </a:lnTo>
                <a:lnTo>
                  <a:pt x="10208196" y="57137"/>
                </a:lnTo>
                <a:lnTo>
                  <a:pt x="10208019" y="56908"/>
                </a:lnTo>
                <a:lnTo>
                  <a:pt x="10203497" y="50126"/>
                </a:lnTo>
                <a:lnTo>
                  <a:pt x="10198163" y="43637"/>
                </a:lnTo>
                <a:lnTo>
                  <a:pt x="10192182" y="37668"/>
                </a:lnTo>
                <a:lnTo>
                  <a:pt x="10186225" y="31686"/>
                </a:lnTo>
                <a:lnTo>
                  <a:pt x="10179736" y="26365"/>
                </a:lnTo>
                <a:lnTo>
                  <a:pt x="10173144" y="21971"/>
                </a:lnTo>
                <a:lnTo>
                  <a:pt x="10172725" y="21653"/>
                </a:lnTo>
                <a:lnTo>
                  <a:pt x="10172255" y="21386"/>
                </a:lnTo>
                <a:lnTo>
                  <a:pt x="10134638" y="4114"/>
                </a:lnTo>
                <a:lnTo>
                  <a:pt x="10126713" y="2552"/>
                </a:lnTo>
                <a:lnTo>
                  <a:pt x="10126358" y="2451"/>
                </a:lnTo>
                <a:lnTo>
                  <a:pt x="10125977" y="2400"/>
                </a:lnTo>
                <a:lnTo>
                  <a:pt x="10118077" y="825"/>
                </a:lnTo>
                <a:lnTo>
                  <a:pt x="10109721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873" y="2400"/>
                </a:lnTo>
                <a:lnTo>
                  <a:pt x="103505" y="2451"/>
                </a:lnTo>
                <a:lnTo>
                  <a:pt x="103136" y="2552"/>
                </a:lnTo>
                <a:lnTo>
                  <a:pt x="95224" y="4114"/>
                </a:lnTo>
                <a:lnTo>
                  <a:pt x="87185" y="6553"/>
                </a:lnTo>
                <a:lnTo>
                  <a:pt x="71577" y="13017"/>
                </a:lnTo>
                <a:lnTo>
                  <a:pt x="64173" y="16979"/>
                </a:lnTo>
                <a:lnTo>
                  <a:pt x="57531" y="21424"/>
                </a:lnTo>
                <a:lnTo>
                  <a:pt x="57137" y="21653"/>
                </a:lnTo>
                <a:lnTo>
                  <a:pt x="56756" y="21932"/>
                </a:lnTo>
                <a:lnTo>
                  <a:pt x="50126" y="26365"/>
                </a:lnTo>
                <a:lnTo>
                  <a:pt x="43637" y="31686"/>
                </a:lnTo>
                <a:lnTo>
                  <a:pt x="37668" y="37668"/>
                </a:lnTo>
                <a:lnTo>
                  <a:pt x="31699" y="43637"/>
                </a:lnTo>
                <a:lnTo>
                  <a:pt x="26365" y="50126"/>
                </a:lnTo>
                <a:lnTo>
                  <a:pt x="21945" y="56743"/>
                </a:lnTo>
                <a:lnTo>
                  <a:pt x="21653" y="57137"/>
                </a:lnTo>
                <a:lnTo>
                  <a:pt x="21386" y="57569"/>
                </a:lnTo>
                <a:lnTo>
                  <a:pt x="9766" y="79463"/>
                </a:lnTo>
                <a:lnTo>
                  <a:pt x="6565" y="87185"/>
                </a:lnTo>
                <a:lnTo>
                  <a:pt x="4127" y="95237"/>
                </a:lnTo>
                <a:lnTo>
                  <a:pt x="2578" y="102971"/>
                </a:lnTo>
                <a:lnTo>
                  <a:pt x="2451" y="103505"/>
                </a:lnTo>
                <a:lnTo>
                  <a:pt x="2362" y="104051"/>
                </a:lnTo>
                <a:lnTo>
                  <a:pt x="825" y="111798"/>
                </a:lnTo>
                <a:lnTo>
                  <a:pt x="12" y="120142"/>
                </a:lnTo>
                <a:lnTo>
                  <a:pt x="12" y="128346"/>
                </a:lnTo>
                <a:lnTo>
                  <a:pt x="0" y="128600"/>
                </a:lnTo>
                <a:lnTo>
                  <a:pt x="0" y="1500200"/>
                </a:lnTo>
                <a:lnTo>
                  <a:pt x="12" y="1500466"/>
                </a:lnTo>
                <a:lnTo>
                  <a:pt x="12" y="1508633"/>
                </a:lnTo>
                <a:lnTo>
                  <a:pt x="825" y="1516989"/>
                </a:lnTo>
                <a:lnTo>
                  <a:pt x="2362" y="1524749"/>
                </a:lnTo>
                <a:lnTo>
                  <a:pt x="2451" y="1525282"/>
                </a:lnTo>
                <a:lnTo>
                  <a:pt x="2578" y="1525828"/>
                </a:lnTo>
                <a:lnTo>
                  <a:pt x="4127" y="1533550"/>
                </a:lnTo>
                <a:lnTo>
                  <a:pt x="6565" y="1541589"/>
                </a:lnTo>
                <a:lnTo>
                  <a:pt x="9690" y="1549158"/>
                </a:lnTo>
                <a:lnTo>
                  <a:pt x="9791" y="1549412"/>
                </a:lnTo>
                <a:lnTo>
                  <a:pt x="9906" y="1549666"/>
                </a:lnTo>
                <a:lnTo>
                  <a:pt x="13030" y="1557197"/>
                </a:lnTo>
                <a:lnTo>
                  <a:pt x="16992" y="1564601"/>
                </a:lnTo>
                <a:lnTo>
                  <a:pt x="21285" y="1571040"/>
                </a:lnTo>
                <a:lnTo>
                  <a:pt x="21653" y="1571650"/>
                </a:lnTo>
                <a:lnTo>
                  <a:pt x="22059" y="1572209"/>
                </a:lnTo>
                <a:lnTo>
                  <a:pt x="26365" y="1578648"/>
                </a:lnTo>
                <a:lnTo>
                  <a:pt x="31699" y="1585137"/>
                </a:lnTo>
                <a:lnTo>
                  <a:pt x="37541" y="1590992"/>
                </a:lnTo>
                <a:lnTo>
                  <a:pt x="37668" y="1591119"/>
                </a:lnTo>
                <a:lnTo>
                  <a:pt x="37795" y="1591246"/>
                </a:lnTo>
                <a:lnTo>
                  <a:pt x="43637" y="1597075"/>
                </a:lnTo>
                <a:lnTo>
                  <a:pt x="50126" y="1602409"/>
                </a:lnTo>
                <a:lnTo>
                  <a:pt x="56591" y="1606740"/>
                </a:lnTo>
                <a:lnTo>
                  <a:pt x="57137" y="1607134"/>
                </a:lnTo>
                <a:lnTo>
                  <a:pt x="57696" y="1607477"/>
                </a:lnTo>
                <a:lnTo>
                  <a:pt x="64173" y="1611795"/>
                </a:lnTo>
                <a:lnTo>
                  <a:pt x="71577" y="1615757"/>
                </a:lnTo>
                <a:lnTo>
                  <a:pt x="79324" y="1618970"/>
                </a:lnTo>
                <a:lnTo>
                  <a:pt x="79451" y="1619021"/>
                </a:lnTo>
                <a:lnTo>
                  <a:pt x="87185" y="1622221"/>
                </a:lnTo>
                <a:lnTo>
                  <a:pt x="95224" y="1624660"/>
                </a:lnTo>
                <a:lnTo>
                  <a:pt x="102895" y="1626196"/>
                </a:lnTo>
                <a:lnTo>
                  <a:pt x="103505" y="1626336"/>
                </a:lnTo>
                <a:lnTo>
                  <a:pt x="104114" y="1626438"/>
                </a:lnTo>
                <a:lnTo>
                  <a:pt x="111785" y="1627949"/>
                </a:lnTo>
                <a:lnTo>
                  <a:pt x="120154" y="1628775"/>
                </a:lnTo>
                <a:lnTo>
                  <a:pt x="128320" y="1628775"/>
                </a:lnTo>
                <a:lnTo>
                  <a:pt x="128587" y="1628787"/>
                </a:lnTo>
                <a:lnTo>
                  <a:pt x="10101262" y="1628787"/>
                </a:lnTo>
                <a:lnTo>
                  <a:pt x="10101516" y="1628775"/>
                </a:lnTo>
                <a:lnTo>
                  <a:pt x="10109721" y="1628775"/>
                </a:lnTo>
                <a:lnTo>
                  <a:pt x="10118077" y="1627949"/>
                </a:lnTo>
                <a:lnTo>
                  <a:pt x="10125735" y="1626438"/>
                </a:lnTo>
                <a:lnTo>
                  <a:pt x="10126358" y="1626336"/>
                </a:lnTo>
                <a:lnTo>
                  <a:pt x="10126955" y="1626196"/>
                </a:lnTo>
                <a:lnTo>
                  <a:pt x="10134638" y="1624660"/>
                </a:lnTo>
                <a:lnTo>
                  <a:pt x="10142690" y="1622221"/>
                </a:lnTo>
                <a:lnTo>
                  <a:pt x="10150450" y="1619008"/>
                </a:lnTo>
                <a:lnTo>
                  <a:pt x="10158285" y="1615757"/>
                </a:lnTo>
                <a:lnTo>
                  <a:pt x="10165677" y="1611795"/>
                </a:lnTo>
                <a:lnTo>
                  <a:pt x="10172090" y="1607515"/>
                </a:lnTo>
                <a:lnTo>
                  <a:pt x="10172725" y="1607134"/>
                </a:lnTo>
                <a:lnTo>
                  <a:pt x="10173297" y="1606702"/>
                </a:lnTo>
                <a:lnTo>
                  <a:pt x="10179736" y="1602409"/>
                </a:lnTo>
                <a:lnTo>
                  <a:pt x="10186225" y="1597075"/>
                </a:lnTo>
                <a:lnTo>
                  <a:pt x="10192182" y="1591119"/>
                </a:lnTo>
                <a:lnTo>
                  <a:pt x="10198163" y="1585137"/>
                </a:lnTo>
                <a:lnTo>
                  <a:pt x="10203497" y="1578648"/>
                </a:lnTo>
                <a:lnTo>
                  <a:pt x="10207904" y="1572044"/>
                </a:lnTo>
                <a:lnTo>
                  <a:pt x="10208196" y="1571650"/>
                </a:lnTo>
                <a:lnTo>
                  <a:pt x="10208450" y="1571231"/>
                </a:lnTo>
                <a:lnTo>
                  <a:pt x="10212870" y="1564601"/>
                </a:lnTo>
                <a:lnTo>
                  <a:pt x="10216845" y="1557197"/>
                </a:lnTo>
                <a:lnTo>
                  <a:pt x="10220058" y="1549412"/>
                </a:lnTo>
                <a:lnTo>
                  <a:pt x="10223309" y="1541589"/>
                </a:lnTo>
                <a:lnTo>
                  <a:pt x="10225748" y="1533550"/>
                </a:lnTo>
                <a:lnTo>
                  <a:pt x="10227297" y="1525701"/>
                </a:lnTo>
                <a:lnTo>
                  <a:pt x="10227412" y="1525282"/>
                </a:lnTo>
                <a:lnTo>
                  <a:pt x="10227462" y="1524863"/>
                </a:lnTo>
                <a:lnTo>
                  <a:pt x="10229037" y="1516989"/>
                </a:lnTo>
                <a:lnTo>
                  <a:pt x="10229863" y="1508633"/>
                </a:lnTo>
                <a:lnTo>
                  <a:pt x="10229863" y="120142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00075" y="4857750"/>
            <a:ext cx="10229850" cy="723900"/>
            <a:chOff x="600075" y="4857750"/>
            <a:chExt cx="10229850" cy="723900"/>
          </a:xfrm>
        </p:grpSpPr>
        <p:sp>
          <p:nvSpPr>
            <p:cNvPr id="8" name="object 8"/>
            <p:cNvSpPr/>
            <p:nvPr/>
          </p:nvSpPr>
          <p:spPr>
            <a:xfrm>
              <a:off x="600075" y="4857750"/>
              <a:ext cx="10229850" cy="723900"/>
            </a:xfrm>
            <a:custGeom>
              <a:avLst/>
              <a:gdLst/>
              <a:ahLst/>
              <a:cxnLst/>
              <a:rect l="l" t="t" r="r" b="b"/>
              <a:pathLst>
                <a:path w="10229850" h="723900">
                  <a:moveTo>
                    <a:pt x="1010970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595313"/>
                  </a:lnTo>
                  <a:lnTo>
                    <a:pt x="0" y="603756"/>
                  </a:lnTo>
                  <a:lnTo>
                    <a:pt x="13017" y="652318"/>
                  </a:lnTo>
                  <a:lnTo>
                    <a:pt x="43630" y="692205"/>
                  </a:lnTo>
                  <a:lnTo>
                    <a:pt x="87179" y="717343"/>
                  </a:lnTo>
                  <a:lnTo>
                    <a:pt x="120144" y="723896"/>
                  </a:lnTo>
                  <a:lnTo>
                    <a:pt x="10109708" y="723896"/>
                  </a:lnTo>
                  <a:lnTo>
                    <a:pt x="10158272" y="710878"/>
                  </a:lnTo>
                  <a:lnTo>
                    <a:pt x="10198163" y="680264"/>
                  </a:lnTo>
                  <a:lnTo>
                    <a:pt x="10223296" y="636717"/>
                  </a:lnTo>
                  <a:lnTo>
                    <a:pt x="10229850" y="603756"/>
                  </a:lnTo>
                  <a:lnTo>
                    <a:pt x="10229850" y="120142"/>
                  </a:lnTo>
                  <a:lnTo>
                    <a:pt x="10216832" y="71577"/>
                  </a:lnTo>
                  <a:lnTo>
                    <a:pt x="10186212" y="31686"/>
                  </a:lnTo>
                  <a:lnTo>
                    <a:pt x="10142677" y="6553"/>
                  </a:lnTo>
                  <a:lnTo>
                    <a:pt x="10118064" y="825"/>
                  </a:lnTo>
                  <a:lnTo>
                    <a:pt x="10109708" y="0"/>
                  </a:lnTo>
                  <a:close/>
                </a:path>
              </a:pathLst>
            </a:custGeom>
            <a:solidFill>
              <a:srgbClr val="FCF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956" y="5125643"/>
              <a:ext cx="171450" cy="1500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85900" y="5086350"/>
              <a:ext cx="2438400" cy="228600"/>
            </a:xfrm>
            <a:custGeom>
              <a:avLst/>
              <a:gdLst/>
              <a:ahLst/>
              <a:cxnLst/>
              <a:rect l="l" t="t" r="r" b="b"/>
              <a:pathLst>
                <a:path w="2438400" h="228600">
                  <a:moveTo>
                    <a:pt x="24198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70"/>
                  </a:lnTo>
                  <a:lnTo>
                    <a:pt x="0" y="210007"/>
                  </a:lnTo>
                  <a:lnTo>
                    <a:pt x="18592" y="228601"/>
                  </a:lnTo>
                  <a:lnTo>
                    <a:pt x="2419807" y="228601"/>
                  </a:lnTo>
                  <a:lnTo>
                    <a:pt x="2438400" y="210007"/>
                  </a:lnTo>
                  <a:lnTo>
                    <a:pt x="2438400" y="18592"/>
                  </a:lnTo>
                  <a:lnTo>
                    <a:pt x="2422550" y="546"/>
                  </a:lnTo>
                  <a:lnTo>
                    <a:pt x="241980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44587" y="5083176"/>
            <a:ext cx="84607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40" dirty="0">
                <a:latin typeface="Verdana"/>
                <a:cs typeface="Verdana"/>
              </a:rPr>
              <a:t>The</a:t>
            </a:r>
            <a:r>
              <a:rPr sz="1350" spc="-170" dirty="0">
                <a:latin typeface="Verdana"/>
                <a:cs typeface="Verdana"/>
              </a:rPr>
              <a:t> </a:t>
            </a:r>
            <a:r>
              <a:rPr sz="1350" spc="-25" dirty="0">
                <a:latin typeface="Lucida Sans"/>
                <a:cs typeface="Lucida Sans"/>
              </a:rPr>
              <a:t>PRIMARY</a:t>
            </a:r>
            <a:r>
              <a:rPr sz="1350" spc="-30" dirty="0">
                <a:latin typeface="Lucida Sans"/>
                <a:cs typeface="Lucida Sans"/>
              </a:rPr>
              <a:t> </a:t>
            </a:r>
            <a:r>
              <a:rPr sz="1350" spc="-60" dirty="0">
                <a:latin typeface="Lucida Sans"/>
                <a:cs typeface="Lucida Sans"/>
              </a:rPr>
              <a:t>KEY</a:t>
            </a:r>
            <a:r>
              <a:rPr sz="1350" spc="-35" dirty="0">
                <a:latin typeface="Lucida Sans"/>
                <a:cs typeface="Lucida Sans"/>
              </a:rPr>
              <a:t> </a:t>
            </a:r>
            <a:r>
              <a:rPr sz="1350" spc="-55" dirty="0">
                <a:latin typeface="Lucida Sans"/>
                <a:cs typeface="Lucida Sans"/>
              </a:rPr>
              <a:t>(task_id,</a:t>
            </a:r>
            <a:r>
              <a:rPr sz="1350" spc="-30" dirty="0">
                <a:latin typeface="Lucida Sans"/>
                <a:cs typeface="Lucida Sans"/>
              </a:rPr>
              <a:t> </a:t>
            </a:r>
            <a:r>
              <a:rPr sz="1350" spc="-40" dirty="0">
                <a:latin typeface="Lucida Sans"/>
                <a:cs typeface="Lucida Sans"/>
              </a:rPr>
              <a:t>user_id)</a:t>
            </a:r>
            <a:r>
              <a:rPr sz="1350" spc="-114" dirty="0">
                <a:latin typeface="Lucida Sans"/>
                <a:cs typeface="Lucida Sans"/>
              </a:rPr>
              <a:t> </a:t>
            </a:r>
            <a:r>
              <a:rPr sz="1350" spc="-30" dirty="0">
                <a:latin typeface="Verdana"/>
                <a:cs typeface="Verdana"/>
              </a:rPr>
              <a:t>defines</a:t>
            </a:r>
            <a:r>
              <a:rPr sz="1350" spc="-17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a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composite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135" dirty="0">
                <a:latin typeface="Verdana"/>
                <a:cs typeface="Verdana"/>
              </a:rPr>
              <a:t>key,</a:t>
            </a:r>
            <a:r>
              <a:rPr sz="1350" spc="-170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ensuring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35" dirty="0">
                <a:latin typeface="Verdana"/>
                <a:cs typeface="Verdana"/>
              </a:rPr>
              <a:t>each</a:t>
            </a:r>
            <a:r>
              <a:rPr sz="1350" spc="-170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task-</a:t>
            </a:r>
            <a:r>
              <a:rPr sz="1350" spc="-55" dirty="0">
                <a:latin typeface="Verdana"/>
                <a:cs typeface="Verdana"/>
              </a:rPr>
              <a:t>user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assignment</a:t>
            </a:r>
            <a:r>
              <a:rPr sz="1350" spc="-170" dirty="0">
                <a:latin typeface="Verdana"/>
                <a:cs typeface="Verdana"/>
              </a:rPr>
              <a:t> </a:t>
            </a:r>
            <a:r>
              <a:rPr sz="1350" spc="-35" dirty="0">
                <a:latin typeface="Verdana"/>
                <a:cs typeface="Verdana"/>
              </a:rPr>
              <a:t>is</a:t>
            </a:r>
            <a:r>
              <a:rPr sz="1350" spc="-16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unique.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2" name="object 12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0"/>
            <a:ext cx="4286250" cy="6638925"/>
            <a:chOff x="7143750" y="0"/>
            <a:chExt cx="4286250" cy="6638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6638922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127242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Chapter</a:t>
            </a:r>
            <a:r>
              <a:rPr spc="-90" dirty="0"/>
              <a:t> </a:t>
            </a:r>
            <a:r>
              <a:rPr spc="-145" dirty="0"/>
              <a:t>6:</a:t>
            </a:r>
            <a:r>
              <a:rPr spc="-85" dirty="0"/>
              <a:t> </a:t>
            </a:r>
            <a:r>
              <a:rPr spc="-45" dirty="0"/>
              <a:t>Final</a:t>
            </a:r>
            <a:r>
              <a:rPr spc="-90" dirty="0"/>
              <a:t> </a:t>
            </a:r>
            <a:r>
              <a:rPr spc="-10" dirty="0"/>
              <a:t>Steps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075" y="2924175"/>
            <a:ext cx="685800" cy="15335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7375" y="891222"/>
            <a:ext cx="5828030" cy="3366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4650" spc="-170" dirty="0">
                <a:solidFill>
                  <a:srgbClr val="0C0D0E"/>
                </a:solidFill>
                <a:latin typeface="Verdana"/>
                <a:cs typeface="Verdana"/>
              </a:rPr>
              <a:t>Review</a:t>
            </a:r>
            <a:r>
              <a:rPr sz="4650" spc="-29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165" dirty="0">
                <a:solidFill>
                  <a:srgbClr val="0C0D0E"/>
                </a:solidFill>
                <a:latin typeface="Verdana"/>
                <a:cs typeface="Verdana"/>
              </a:rPr>
              <a:t>and</a:t>
            </a:r>
            <a:r>
              <a:rPr sz="4650" spc="-29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4650" spc="-40" dirty="0">
                <a:solidFill>
                  <a:srgbClr val="0C0D0E"/>
                </a:solidFill>
                <a:latin typeface="Verdana"/>
                <a:cs typeface="Verdana"/>
              </a:rPr>
              <a:t>Validate</a:t>
            </a:r>
            <a:endParaRPr sz="4650">
              <a:latin typeface="Verdana"/>
              <a:cs typeface="Verdana"/>
            </a:endParaRPr>
          </a:p>
          <a:p>
            <a:pPr marL="12700" marR="234315" algn="just">
              <a:lnSpc>
                <a:spcPct val="134300"/>
              </a:lnSpc>
              <a:spcBef>
                <a:spcPts val="1964"/>
              </a:spcBef>
            </a:pPr>
            <a:r>
              <a:rPr sz="1350" spc="-10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final,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crucial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stage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is</a:t>
            </a:r>
            <a:r>
              <a:rPr sz="1350" spc="3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rigorously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545759"/>
                </a:solidFill>
                <a:latin typeface="Verdana"/>
                <a:cs typeface="Verdana"/>
              </a:rPr>
              <a:t>review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validate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your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schema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design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20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10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scripts.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step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ensures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that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your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database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is</a:t>
            </a:r>
            <a:r>
              <a:rPr sz="1350" spc="2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robust,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error-free,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perfectly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aligned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application's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needs.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350">
              <a:latin typeface="Verdana"/>
              <a:cs typeface="Verdana"/>
            </a:endParaRPr>
          </a:p>
          <a:p>
            <a:pPr marL="869950">
              <a:lnSpc>
                <a:spcPct val="100000"/>
              </a:lnSpc>
            </a:pPr>
            <a:r>
              <a:rPr sz="1650" spc="-35" dirty="0">
                <a:solidFill>
                  <a:srgbClr val="545759"/>
                </a:solidFill>
                <a:latin typeface="Verdana"/>
                <a:cs typeface="Verdana"/>
              </a:rPr>
              <a:t>Schema</a:t>
            </a:r>
            <a:r>
              <a:rPr sz="1650" spc="-10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Review</a:t>
            </a:r>
            <a:endParaRPr sz="1650">
              <a:latin typeface="Verdana"/>
              <a:cs typeface="Verdana"/>
            </a:endParaRPr>
          </a:p>
          <a:p>
            <a:pPr marL="869950" marR="5080">
              <a:lnSpc>
                <a:spcPct val="131900"/>
              </a:lnSpc>
              <a:spcBef>
                <a:spcPts val="655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Double-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check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your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design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against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initial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requirements.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Does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it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capture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every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piece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information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support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intended functionalities?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075" y="4629150"/>
            <a:ext cx="685800" cy="154304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44625" y="4783137"/>
            <a:ext cx="4874260" cy="1188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650" spc="-12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Validation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Test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your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350" spc="-2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scripts.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Ensure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they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execute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without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errors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create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tables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exactly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as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planned.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Identify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correct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any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syntax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issues.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957</Words>
  <Application>Microsoft Office PowerPoint</Application>
  <PresentationFormat>Custom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Black</vt:lpstr>
      <vt:lpstr>Carlito</vt:lpstr>
      <vt:lpstr>Lucida Sans</vt:lpstr>
      <vt:lpstr>Tahoma</vt:lpstr>
      <vt:lpstr>Trebuchet MS</vt:lpstr>
      <vt:lpstr>Verdana</vt:lpstr>
      <vt:lpstr>Wingdings 3</vt:lpstr>
      <vt:lpstr>Facet</vt:lpstr>
      <vt:lpstr>SHREE RAMSWAROOP MEMORIAL UNIVERSITY</vt:lpstr>
      <vt:lpstr>Mastering Database Design for Task Management</vt:lpstr>
      <vt:lpstr>Prerequisites &amp; Outcomes</vt:lpstr>
      <vt:lpstr>Analyzing Requirements</vt:lpstr>
      <vt:lpstr>Chapter 3: The Structure</vt:lpstr>
      <vt:lpstr>Chapter 4: The Connections</vt:lpstr>
      <vt:lpstr>Chapter 5: The Code</vt:lpstr>
      <vt:lpstr>SQL in Action</vt:lpstr>
      <vt:lpstr>SQL in Action</vt:lpstr>
      <vt:lpstr>Task Assignments (Optional)</vt:lpstr>
      <vt:lpstr>Chapter 6: Final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acer</dc:creator>
  <cp:lastModifiedBy>acer</cp:lastModifiedBy>
  <cp:revision>1</cp:revision>
  <dcterms:created xsi:type="dcterms:W3CDTF">2025-10-31T04:53:49Z</dcterms:created>
  <dcterms:modified xsi:type="dcterms:W3CDTF">2025-11-03T18:01:26Z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