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3" r:id="rId1"/>
  </p:sldMasterIdLst>
  <p:sldIdLst>
    <p:sldId id="274" r:id="rId2"/>
    <p:sldId id="257" r:id="rId3"/>
    <p:sldId id="258" r:id="rId4"/>
    <p:sldId id="259" r:id="rId5"/>
    <p:sldId id="260" r:id="rId6"/>
    <p:sldId id="261" r:id="rId7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94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6996" y="-13203"/>
            <a:ext cx="7579074" cy="10719806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4311" y="3749292"/>
            <a:ext cx="4815136" cy="2567012"/>
          </a:xfrm>
        </p:spPr>
        <p:txBody>
          <a:bodyPr anchor="b">
            <a:noAutofit/>
          </a:bodyPr>
          <a:lstStyle>
            <a:lvl1pPr algn="r">
              <a:defRPr sz="4463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4311" y="6316301"/>
            <a:ext cx="4815136" cy="1710350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2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771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9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531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6" y="4211354"/>
            <a:ext cx="5245681" cy="2848113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6" y="7059465"/>
            <a:ext cx="5245681" cy="1341587"/>
          </a:xfrm>
        </p:spPr>
        <p:txBody>
          <a:bodyPr anchor="t"/>
          <a:lstStyle>
            <a:lvl1pPr marL="0" indent="0" algn="l">
              <a:buNone/>
              <a:defRPr sz="165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710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7" y="950524"/>
            <a:ext cx="5245680" cy="20594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767" y="3368918"/>
            <a:ext cx="2551979" cy="605113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97467" y="3368921"/>
            <a:ext cx="2551980" cy="6051131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449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7" y="950524"/>
            <a:ext cx="5245679" cy="205947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6" y="3369533"/>
            <a:ext cx="2554097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/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766" y="4268077"/>
            <a:ext cx="2554097" cy="515197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95348" y="3369533"/>
            <a:ext cx="2554097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/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95348" y="4268077"/>
            <a:ext cx="2554097" cy="515197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266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6" y="950524"/>
            <a:ext cx="5245680" cy="20594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44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99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6" y="2336712"/>
            <a:ext cx="2305775" cy="1993460"/>
          </a:xfrm>
        </p:spPr>
        <p:txBody>
          <a:bodyPr anchor="b">
            <a:normAutofit/>
          </a:bodyPr>
          <a:lstStyle>
            <a:lvl1pPr>
              <a:defRPr sz="16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1263" y="802902"/>
            <a:ext cx="2798183" cy="861714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766" y="4330171"/>
            <a:ext cx="2305775" cy="4029826"/>
          </a:xfrm>
        </p:spPr>
        <p:txBody>
          <a:bodyPr>
            <a:normAutofit/>
          </a:bodyPr>
          <a:lstStyle>
            <a:lvl1pPr marL="0" indent="0">
              <a:buNone/>
              <a:defRPr sz="1157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111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6" y="7485380"/>
            <a:ext cx="5245680" cy="883691"/>
          </a:xfrm>
        </p:spPr>
        <p:txBody>
          <a:bodyPr anchor="b">
            <a:normAutofit/>
          </a:bodyPr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3766" y="950525"/>
            <a:ext cx="5245680" cy="5996471"/>
          </a:xfrm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766" y="8369072"/>
            <a:ext cx="5245680" cy="1050978"/>
          </a:xfrm>
        </p:spPr>
        <p:txBody>
          <a:bodyPr>
            <a:normAutofit/>
          </a:bodyPr>
          <a:lstStyle>
            <a:lvl1pPr marL="0" indent="0">
              <a:buNone/>
              <a:defRPr sz="99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70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7" y="950524"/>
            <a:ext cx="5245680" cy="5307095"/>
          </a:xfrm>
        </p:spPr>
        <p:txBody>
          <a:bodyPr anchor="ctr">
            <a:normAutofit/>
          </a:bodyPr>
          <a:lstStyle>
            <a:lvl1pPr algn="l">
              <a:defRPr sz="363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7" y="6970513"/>
            <a:ext cx="5245680" cy="2449537"/>
          </a:xfrm>
        </p:spPr>
        <p:txBody>
          <a:bodyPr anchor="ctr">
            <a:normAutofit/>
          </a:bodyPr>
          <a:lstStyle>
            <a:lvl1pPr marL="0" indent="0" algn="l">
              <a:buNone/>
              <a:defRPr sz="148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976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356" y="950524"/>
            <a:ext cx="5017984" cy="4713017"/>
          </a:xfrm>
        </p:spPr>
        <p:txBody>
          <a:bodyPr anchor="ctr">
            <a:normAutofit/>
          </a:bodyPr>
          <a:lstStyle>
            <a:lvl1pPr algn="l">
              <a:defRPr sz="363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09915" y="5663541"/>
            <a:ext cx="4478866" cy="594078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22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7830" indent="0">
              <a:buFontTx/>
              <a:buNone/>
              <a:defRPr/>
            </a:lvl2pPr>
            <a:lvl3pPr marL="755660" indent="0">
              <a:buFontTx/>
              <a:buNone/>
              <a:defRPr/>
            </a:lvl3pPr>
            <a:lvl4pPr marL="1133490" indent="0">
              <a:buFontTx/>
              <a:buNone/>
              <a:defRPr/>
            </a:lvl4pPr>
            <a:lvl5pPr marL="151132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6" y="6970513"/>
            <a:ext cx="5245681" cy="2449537"/>
          </a:xfrm>
        </p:spPr>
        <p:txBody>
          <a:bodyPr anchor="ctr">
            <a:normAutofit/>
          </a:bodyPr>
          <a:lstStyle>
            <a:lvl1pPr marL="0" indent="0" algn="l">
              <a:buNone/>
              <a:defRPr sz="148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398908" y="1232404"/>
            <a:ext cx="377923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/>
          <a:p>
            <a:pPr lvl="0"/>
            <a:r>
              <a:rPr lang="en-US" sz="6611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6224" y="4500889"/>
            <a:ext cx="377923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/>
          <a:p>
            <a:pPr lvl="0"/>
            <a:r>
              <a:rPr lang="en-US" sz="6611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1952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6" y="3012470"/>
            <a:ext cx="5245681" cy="4046995"/>
          </a:xfrm>
        </p:spPr>
        <p:txBody>
          <a:bodyPr anchor="b">
            <a:normAutofit/>
          </a:bodyPr>
          <a:lstStyle>
            <a:lvl1pPr algn="l">
              <a:defRPr sz="363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6" y="7059465"/>
            <a:ext cx="5245681" cy="2360584"/>
          </a:xfrm>
        </p:spPr>
        <p:txBody>
          <a:bodyPr anchor="t">
            <a:normAutofit/>
          </a:bodyPr>
          <a:lstStyle>
            <a:lvl1pPr marL="0" indent="0" algn="l">
              <a:buNone/>
              <a:defRPr sz="148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663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356" y="950524"/>
            <a:ext cx="5017984" cy="4713017"/>
          </a:xfrm>
        </p:spPr>
        <p:txBody>
          <a:bodyPr anchor="ctr">
            <a:normAutofit/>
          </a:bodyPr>
          <a:lstStyle>
            <a:lvl1pPr algn="l">
              <a:defRPr sz="363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3764" y="6257619"/>
            <a:ext cx="5245682" cy="80184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98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30" indent="0">
              <a:buFontTx/>
              <a:buNone/>
              <a:defRPr/>
            </a:lvl2pPr>
            <a:lvl3pPr marL="755660" indent="0">
              <a:buFontTx/>
              <a:buNone/>
              <a:defRPr/>
            </a:lvl3pPr>
            <a:lvl4pPr marL="1133490" indent="0">
              <a:buFontTx/>
              <a:buNone/>
              <a:defRPr/>
            </a:lvl4pPr>
            <a:lvl5pPr marL="151132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6" y="7059465"/>
            <a:ext cx="5245681" cy="2360584"/>
          </a:xfrm>
        </p:spPr>
        <p:txBody>
          <a:bodyPr anchor="t">
            <a:normAutofit/>
          </a:bodyPr>
          <a:lstStyle>
            <a:lvl1pPr marL="0" indent="0" algn="l">
              <a:buNone/>
              <a:defRPr sz="148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398908" y="1232404"/>
            <a:ext cx="377923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/>
          <a:p>
            <a:pPr lvl="0"/>
            <a:r>
              <a:rPr lang="en-US" sz="6611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6224" y="4500889"/>
            <a:ext cx="377923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/>
          <a:p>
            <a:pPr lvl="0"/>
            <a:r>
              <a:rPr lang="en-US" sz="6611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6668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930" y="950524"/>
            <a:ext cx="5240516" cy="4713017"/>
          </a:xfrm>
        </p:spPr>
        <p:txBody>
          <a:bodyPr anchor="ctr">
            <a:normAutofit/>
          </a:bodyPr>
          <a:lstStyle>
            <a:lvl1pPr algn="l">
              <a:defRPr sz="363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3764" y="6257619"/>
            <a:ext cx="5245682" cy="80184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983">
                <a:solidFill>
                  <a:schemeClr val="accent1"/>
                </a:solidFill>
              </a:defRPr>
            </a:lvl1pPr>
            <a:lvl2pPr marL="377830" indent="0">
              <a:buFontTx/>
              <a:buNone/>
              <a:defRPr/>
            </a:lvl2pPr>
            <a:lvl3pPr marL="755660" indent="0">
              <a:buFontTx/>
              <a:buNone/>
              <a:defRPr/>
            </a:lvl3pPr>
            <a:lvl4pPr marL="1133490" indent="0">
              <a:buFontTx/>
              <a:buNone/>
              <a:defRPr/>
            </a:lvl4pPr>
            <a:lvl5pPr marL="151132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6" y="7059465"/>
            <a:ext cx="5245681" cy="2360584"/>
          </a:xfrm>
        </p:spPr>
        <p:txBody>
          <a:bodyPr anchor="t">
            <a:normAutofit/>
          </a:bodyPr>
          <a:lstStyle>
            <a:lvl1pPr marL="0" indent="0" algn="l">
              <a:buNone/>
              <a:defRPr sz="148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553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4096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39584" y="950525"/>
            <a:ext cx="808879" cy="818837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766" y="950525"/>
            <a:ext cx="4293112" cy="81883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413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6996" y="-13203"/>
            <a:ext cx="7579074" cy="10719806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3767" y="950524"/>
            <a:ext cx="5245679" cy="2059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6" y="3368921"/>
            <a:ext cx="5245680" cy="6051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66845" y="9420052"/>
            <a:ext cx="56535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3766" y="9420052"/>
            <a:ext cx="3820374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5809" y="9420052"/>
            <a:ext cx="423638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711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</p:sldLayoutIdLst>
  <p:txStyles>
    <p:titleStyle>
      <a:lvl1pPr algn="l" defTabSz="377830" rtl="0" eaLnBrk="1" latinLnBrk="0" hangingPunct="1">
        <a:spcBef>
          <a:spcPct val="0"/>
        </a:spcBef>
        <a:buNone/>
        <a:defRPr sz="2975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373" indent="-283373" algn="l" defTabSz="377830" rtl="0" eaLnBrk="1" latinLnBrk="0" hangingPunct="1">
        <a:spcBef>
          <a:spcPts val="826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8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13974" indent="-236144" algn="l" defTabSz="377830" rtl="0" eaLnBrk="1" latinLnBrk="0" hangingPunct="1">
        <a:spcBef>
          <a:spcPts val="826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3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4457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15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32240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70023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07806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45589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83372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21155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xmlns.jcp.org/xml/ns/persistenc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149" y="684175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to: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8149" y="732790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Vidushi Srivastava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086" y="5066199"/>
            <a:ext cx="3439272" cy="632373"/>
          </a:xfrm>
          <a:prstGeom prst="rect">
            <a:avLst/>
          </a:prstGeom>
        </p:spPr>
        <p:txBody>
          <a:bodyPr vert="horz" wrap="square" lIns="0" tIns="57297" rIns="0" bIns="0" rtlCol="0">
            <a:spAutoFit/>
          </a:bodyPr>
          <a:lstStyle/>
          <a:p>
            <a:pPr marL="53256">
              <a:spcBef>
                <a:spcPts val="451"/>
              </a:spcBef>
            </a:pPr>
            <a:r>
              <a:rPr lang="en-IN" sz="2000" b="1" dirty="0">
                <a:solidFill>
                  <a:srgbClr val="C45811"/>
                </a:solidFill>
                <a:latin typeface="Arial"/>
                <a:cs typeface="Arial"/>
              </a:rPr>
              <a:t>    Assignment:-3</a:t>
            </a:r>
            <a:endParaRPr sz="2000" dirty="0">
              <a:latin typeface="Arial"/>
              <a:cs typeface="Arial"/>
            </a:endParaRPr>
          </a:p>
          <a:p>
            <a:pPr marL="5048">
              <a:spcBef>
                <a:spcPts val="375"/>
              </a:spcBef>
            </a:pPr>
            <a:r>
              <a:rPr lang="en-IN" sz="900" b="1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"/>
                <a:cs typeface="Arial"/>
              </a:rPr>
              <a:t>  </a:t>
            </a:r>
            <a:r>
              <a:rPr lang="en-IN" sz="1400" b="1" spc="-4" dirty="0">
                <a:cs typeface="Carlito"/>
              </a:rPr>
              <a:t> </a:t>
            </a:r>
            <a:r>
              <a:rPr lang="en-IN" sz="1400" b="1" u="sng" spc="-4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Java Enterprise Edition  Lab - 03</a:t>
            </a:r>
            <a:endParaRPr sz="1400" dirty="0"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692" y="6945424"/>
            <a:ext cx="2335850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by: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722" y="7417784"/>
            <a:ext cx="2458227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</a:t>
            </a:r>
            <a:r>
              <a:rPr lang="en-IN" b="1" dirty="0" err="1">
                <a:solidFill>
                  <a:srgbClr val="001F5F"/>
                </a:solidFill>
                <a:latin typeface="Arial"/>
                <a:cs typeface="Arial"/>
              </a:rPr>
              <a:t>ukesh</a:t>
            </a: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 Prajapati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722" y="7993819"/>
            <a:ext cx="2825456" cy="664252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Btech</a:t>
            </a:r>
            <a:r>
              <a:rPr sz="1400" b="1" spc="7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(</a:t>
            </a:r>
            <a:r>
              <a:rPr sz="1400" b="1" spc="-4" dirty="0" err="1">
                <a:solidFill>
                  <a:srgbClr val="001F5F"/>
                </a:solidFill>
                <a:latin typeface="Arial"/>
                <a:cs typeface="Arial"/>
              </a:rPr>
              <a:t>Cse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  Industry integrated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1400" b="1" dirty="0">
              <a:latin typeface="Arial"/>
              <a:cs typeface="Arial"/>
            </a:endParaRPr>
          </a:p>
          <a:p>
            <a:pPr>
              <a:spcBef>
                <a:spcPts val="86"/>
              </a:spcBef>
            </a:pPr>
            <a:endParaRPr sz="1400" b="1" dirty="0">
              <a:latin typeface="Arial"/>
              <a:cs typeface="Arial"/>
            </a:endParaRPr>
          </a:p>
          <a:p>
            <a:pPr marL="5048"/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Roll</a:t>
            </a:r>
            <a:r>
              <a:rPr sz="1400" b="1" spc="9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No</a:t>
            </a:r>
            <a:r>
              <a:rPr sz="1400" b="1" spc="99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3" dirty="0">
                <a:solidFill>
                  <a:srgbClr val="001F5F"/>
                </a:solidFill>
                <a:latin typeface="Arial"/>
                <a:cs typeface="Arial"/>
              </a:rPr>
              <a:t>–</a:t>
            </a:r>
            <a:r>
              <a:rPr sz="1400" b="1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202410101230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007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1650" y="2770952"/>
            <a:ext cx="6900449" cy="386612"/>
          </a:xfrm>
          <a:prstGeom prst="rect">
            <a:avLst/>
          </a:prstGeom>
        </p:spPr>
        <p:txBody>
          <a:bodyPr vert="horz" wrap="square" lIns="0" tIns="5048" rIns="0" bIns="0" rtlCol="0" anchor="ctr">
            <a:spAutoFit/>
          </a:bodyPr>
          <a:lstStyle/>
          <a:p>
            <a:pPr marL="5048">
              <a:spcBef>
                <a:spcPts val="40"/>
              </a:spcBef>
            </a:pPr>
            <a:r>
              <a:rPr sz="2479" b="1" spc="-74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SHREE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95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RAMSWAROOP</a:t>
            </a:r>
            <a:r>
              <a:rPr sz="2479" b="1" spc="1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117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MEMORIAL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7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3307B-AF8A-69AB-5775-B72EB91AD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08" y="3676003"/>
            <a:ext cx="1425154" cy="114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835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Step</a:t>
            </a:r>
            <a:r>
              <a:rPr spc="-60" dirty="0"/>
              <a:t> </a:t>
            </a:r>
            <a:r>
              <a:rPr dirty="0"/>
              <a:t>1:</a:t>
            </a:r>
            <a:r>
              <a:rPr spc="-55" dirty="0"/>
              <a:t> </a:t>
            </a:r>
            <a:r>
              <a:rPr dirty="0"/>
              <a:t>Database</a:t>
            </a:r>
            <a:r>
              <a:rPr spc="-55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932786"/>
            <a:ext cx="57556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000" i="1" dirty="0">
                <a:latin typeface="Calibri"/>
                <a:cs typeface="Calibri"/>
              </a:rPr>
              <a:t>A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PostgreSQL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database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named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taskdb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was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created,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and </a:t>
            </a:r>
            <a:r>
              <a:rPr sz="2000" i="1" dirty="0">
                <a:latin typeface="Calibri"/>
                <a:cs typeface="Calibri"/>
              </a:rPr>
              <a:t>a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user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named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labuser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was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given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access.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194557"/>
            <a:ext cx="5731509" cy="1268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506" y="850900"/>
            <a:ext cx="6017683" cy="928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Step</a:t>
            </a:r>
            <a:r>
              <a:rPr spc="-70" dirty="0"/>
              <a:t> </a:t>
            </a:r>
            <a:r>
              <a:rPr dirty="0"/>
              <a:t>2:</a:t>
            </a:r>
            <a:r>
              <a:rPr spc="-60" dirty="0"/>
              <a:t> </a:t>
            </a:r>
            <a:r>
              <a:rPr dirty="0"/>
              <a:t>Configure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Persistence</a:t>
            </a:r>
            <a:r>
              <a:rPr spc="-70" dirty="0"/>
              <a:t> </a:t>
            </a:r>
            <a:r>
              <a:rPr spc="-20" dirty="0"/>
              <a:t>Unit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487256" y="2391256"/>
            <a:ext cx="6034193" cy="71464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00125">
              <a:lnSpc>
                <a:spcPct val="1094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persistence</a:t>
            </a:r>
            <a:r>
              <a:rPr spc="-20" dirty="0"/>
              <a:t> </a:t>
            </a:r>
            <a:r>
              <a:rPr spc="-10" dirty="0"/>
              <a:t>configuration </a:t>
            </a:r>
            <a:r>
              <a:rPr dirty="0"/>
              <a:t>is</a:t>
            </a:r>
            <a:r>
              <a:rPr spc="-15" dirty="0"/>
              <a:t> </a:t>
            </a:r>
            <a:r>
              <a:rPr spc="-10" dirty="0"/>
              <a:t>written</a:t>
            </a:r>
            <a:r>
              <a:rPr spc="-25" dirty="0"/>
              <a:t> </a:t>
            </a:r>
            <a:r>
              <a:rPr dirty="0"/>
              <a:t>inside</a:t>
            </a:r>
            <a:r>
              <a:rPr spc="-15" dirty="0"/>
              <a:t> </a:t>
            </a:r>
            <a:r>
              <a:rPr spc="-25" dirty="0"/>
              <a:t>the </a:t>
            </a:r>
            <a:r>
              <a:rPr spc="-10" dirty="0"/>
              <a:t>persistence.xml</a:t>
            </a:r>
            <a:r>
              <a:rPr spc="-5" dirty="0"/>
              <a:t> </a:t>
            </a:r>
            <a:r>
              <a:rPr dirty="0"/>
              <a:t>file</a:t>
            </a:r>
            <a:r>
              <a:rPr spc="-10" dirty="0"/>
              <a:t> </a:t>
            </a:r>
            <a:r>
              <a:rPr dirty="0"/>
              <a:t>located</a:t>
            </a: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the </a:t>
            </a:r>
            <a:r>
              <a:rPr spc="-45" dirty="0"/>
              <a:t>META-</a:t>
            </a:r>
            <a:r>
              <a:rPr dirty="0"/>
              <a:t>INF</a:t>
            </a:r>
            <a:r>
              <a:rPr spc="-5" dirty="0"/>
              <a:t> </a:t>
            </a:r>
            <a:r>
              <a:rPr spc="-10" dirty="0"/>
              <a:t>folder.</a:t>
            </a: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pc="-10" dirty="0"/>
          </a:p>
          <a:p>
            <a:pPr marL="512445" marR="1109345" indent="-500380">
              <a:lnSpc>
                <a:spcPct val="158000"/>
              </a:lnSpc>
            </a:pPr>
            <a:r>
              <a:rPr sz="1400" i="0" dirty="0">
                <a:latin typeface="Calibri"/>
                <a:cs typeface="Calibri"/>
              </a:rPr>
              <a:t>&lt;persistence</a:t>
            </a:r>
            <a:r>
              <a:rPr sz="1400" i="0" spc="110" dirty="0">
                <a:latin typeface="Calibri"/>
                <a:cs typeface="Calibri"/>
              </a:rPr>
              <a:t> </a:t>
            </a:r>
            <a:r>
              <a:rPr sz="1400" i="0" spc="-10" dirty="0">
                <a:latin typeface="Calibri"/>
                <a:cs typeface="Calibri"/>
              </a:rPr>
              <a:t>xmlns=</a:t>
            </a:r>
            <a:r>
              <a:rPr sz="1400" i="0" spc="-10" dirty="0">
                <a:latin typeface="Calibri"/>
                <a:cs typeface="Calibri"/>
                <a:hlinkClick r:id="rId2"/>
              </a:rPr>
              <a:t>"http://xmlns.jcp.org/xml/ns/persistence"</a:t>
            </a:r>
            <a:r>
              <a:rPr sz="1400" i="0" spc="-10" dirty="0">
                <a:latin typeface="Calibri"/>
                <a:cs typeface="Calibri"/>
              </a:rPr>
              <a:t> version="2.2"&gt;</a:t>
            </a:r>
            <a:endParaRPr sz="1400" dirty="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960"/>
              </a:spcBef>
            </a:pPr>
            <a:r>
              <a:rPr sz="1400" i="0" dirty="0">
                <a:latin typeface="Calibri"/>
                <a:cs typeface="Calibri"/>
              </a:rPr>
              <a:t>&lt;persistence-unit</a:t>
            </a:r>
            <a:r>
              <a:rPr sz="1400" i="0" spc="-10" dirty="0">
                <a:latin typeface="Calibri"/>
                <a:cs typeface="Calibri"/>
              </a:rPr>
              <a:t> name="taskManagementPU"&gt;</a:t>
            </a:r>
            <a:endParaRPr sz="1400" dirty="0">
              <a:latin typeface="Calibri"/>
              <a:cs typeface="Calibri"/>
            </a:endParaRPr>
          </a:p>
          <a:p>
            <a:pPr marL="165100">
              <a:lnSpc>
                <a:spcPct val="100000"/>
              </a:lnSpc>
              <a:spcBef>
                <a:spcPts val="960"/>
              </a:spcBef>
            </a:pPr>
            <a:r>
              <a:rPr sz="1400" i="0" spc="-10" dirty="0">
                <a:latin typeface="Calibri"/>
                <a:cs typeface="Calibri"/>
              </a:rPr>
              <a:t>&lt;class&gt;com.taskiteasy.entity.Task&lt;/class&gt;</a:t>
            </a:r>
            <a:endParaRPr sz="1400" dirty="0">
              <a:latin typeface="Calibri"/>
              <a:cs typeface="Calibri"/>
            </a:endParaRPr>
          </a:p>
          <a:p>
            <a:pPr marL="165100">
              <a:lnSpc>
                <a:spcPct val="100000"/>
              </a:lnSpc>
              <a:spcBef>
                <a:spcPts val="969"/>
              </a:spcBef>
            </a:pPr>
            <a:r>
              <a:rPr sz="1400" i="0" spc="-10" dirty="0">
                <a:latin typeface="Calibri"/>
                <a:cs typeface="Calibri"/>
              </a:rPr>
              <a:t>&lt;class&gt;com.taskiteasy.entity.User&lt;/class&gt;</a:t>
            </a:r>
            <a:endParaRPr sz="1400" dirty="0">
              <a:latin typeface="Calibri"/>
              <a:cs typeface="Calibri"/>
            </a:endParaRPr>
          </a:p>
          <a:p>
            <a:pPr marL="165100">
              <a:lnSpc>
                <a:spcPct val="100000"/>
              </a:lnSpc>
              <a:spcBef>
                <a:spcPts val="960"/>
              </a:spcBef>
            </a:pPr>
            <a:r>
              <a:rPr sz="1400" i="0" spc="-10" dirty="0">
                <a:latin typeface="Calibri"/>
                <a:cs typeface="Calibri"/>
              </a:rPr>
              <a:t>&lt;class&gt;com.taskiteasy.entity.Category&lt;/class&gt;</a:t>
            </a:r>
            <a:endParaRPr sz="1400" dirty="0">
              <a:latin typeface="Calibri"/>
              <a:cs typeface="Calibri"/>
            </a:endParaRPr>
          </a:p>
          <a:p>
            <a:pPr marL="165100">
              <a:lnSpc>
                <a:spcPct val="100000"/>
              </a:lnSpc>
              <a:spcBef>
                <a:spcPts val="960"/>
              </a:spcBef>
            </a:pPr>
            <a:r>
              <a:rPr sz="1400" i="0" spc="-10" dirty="0">
                <a:latin typeface="Calibri"/>
                <a:cs typeface="Calibri"/>
              </a:rPr>
              <a:t>&lt;properties&gt;</a:t>
            </a:r>
            <a:endParaRPr sz="1400" dirty="0">
              <a:latin typeface="Calibri"/>
              <a:cs typeface="Calibri"/>
            </a:endParaRPr>
          </a:p>
          <a:p>
            <a:pPr marL="12700" marR="1975485" indent="229870">
              <a:lnSpc>
                <a:spcPct val="109300"/>
              </a:lnSpc>
              <a:spcBef>
                <a:spcPts val="830"/>
              </a:spcBef>
            </a:pPr>
            <a:r>
              <a:rPr sz="1400" i="0" dirty="0">
                <a:latin typeface="Calibri"/>
                <a:cs typeface="Calibri"/>
              </a:rPr>
              <a:t>&lt;property</a:t>
            </a:r>
            <a:r>
              <a:rPr sz="1400" i="0" spc="35" dirty="0">
                <a:latin typeface="Calibri"/>
                <a:cs typeface="Calibri"/>
              </a:rPr>
              <a:t> </a:t>
            </a:r>
            <a:r>
              <a:rPr sz="1400" i="0" spc="-10" dirty="0">
                <a:latin typeface="Calibri"/>
                <a:cs typeface="Calibri"/>
              </a:rPr>
              <a:t>name="javax.persistence.jdbc.url" value="jdbc:postgresql://localhost:5432/taskdb"/&gt;</a:t>
            </a:r>
            <a:endParaRPr sz="1400" dirty="0">
              <a:latin typeface="Calibri"/>
              <a:cs typeface="Calibri"/>
            </a:endParaRPr>
          </a:p>
          <a:p>
            <a:pPr marL="242570">
              <a:lnSpc>
                <a:spcPct val="100000"/>
              </a:lnSpc>
              <a:spcBef>
                <a:spcPts val="960"/>
              </a:spcBef>
            </a:pPr>
            <a:r>
              <a:rPr sz="1400" i="0" spc="10" dirty="0">
                <a:latin typeface="Calibri"/>
                <a:cs typeface="Calibri"/>
              </a:rPr>
              <a:t>&lt;property</a:t>
            </a:r>
            <a:r>
              <a:rPr sz="1400" i="0" spc="-25" dirty="0">
                <a:latin typeface="Calibri"/>
                <a:cs typeface="Calibri"/>
              </a:rPr>
              <a:t> </a:t>
            </a:r>
            <a:r>
              <a:rPr sz="1400" i="0" spc="10" dirty="0">
                <a:latin typeface="Calibri"/>
                <a:cs typeface="Calibri"/>
              </a:rPr>
              <a:t>name="javax.persistence.jdbc.user"</a:t>
            </a:r>
            <a:r>
              <a:rPr sz="1400" i="0" spc="-30" dirty="0">
                <a:latin typeface="Calibri"/>
                <a:cs typeface="Calibri"/>
              </a:rPr>
              <a:t> </a:t>
            </a:r>
            <a:r>
              <a:rPr sz="1400" i="0" spc="-10" dirty="0">
                <a:latin typeface="Calibri"/>
                <a:cs typeface="Calibri"/>
              </a:rPr>
              <a:t>value="labuser"/&gt;</a:t>
            </a:r>
            <a:endParaRPr sz="1400" dirty="0">
              <a:latin typeface="Calibri"/>
              <a:cs typeface="Calibri"/>
            </a:endParaRPr>
          </a:p>
          <a:p>
            <a:pPr marL="242570">
              <a:lnSpc>
                <a:spcPct val="100000"/>
              </a:lnSpc>
              <a:spcBef>
                <a:spcPts val="960"/>
              </a:spcBef>
            </a:pPr>
            <a:r>
              <a:rPr sz="1400" i="0" spc="10" dirty="0">
                <a:latin typeface="Calibri"/>
                <a:cs typeface="Calibri"/>
              </a:rPr>
              <a:t>&lt;property</a:t>
            </a:r>
            <a:r>
              <a:rPr sz="1400" i="0" spc="20" dirty="0">
                <a:latin typeface="Calibri"/>
                <a:cs typeface="Calibri"/>
              </a:rPr>
              <a:t> </a:t>
            </a:r>
            <a:r>
              <a:rPr sz="1400" i="0" spc="10" dirty="0">
                <a:latin typeface="Calibri"/>
                <a:cs typeface="Calibri"/>
              </a:rPr>
              <a:t>name="javax.persistence.jdbc.password"</a:t>
            </a:r>
            <a:r>
              <a:rPr sz="1400" i="0" spc="5" dirty="0">
                <a:latin typeface="Calibri"/>
                <a:cs typeface="Calibri"/>
              </a:rPr>
              <a:t> </a:t>
            </a:r>
            <a:r>
              <a:rPr sz="1400" i="0" spc="-10" dirty="0">
                <a:latin typeface="Calibri"/>
                <a:cs typeface="Calibri"/>
              </a:rPr>
              <a:t>value="labpass"/&gt;</a:t>
            </a:r>
            <a:endParaRPr sz="1400" dirty="0">
              <a:latin typeface="Calibri"/>
              <a:cs typeface="Calibri"/>
            </a:endParaRPr>
          </a:p>
          <a:p>
            <a:pPr marL="12700" marR="1891030" indent="229870">
              <a:lnSpc>
                <a:spcPct val="108600"/>
              </a:lnSpc>
              <a:spcBef>
                <a:spcPts val="840"/>
              </a:spcBef>
            </a:pPr>
            <a:r>
              <a:rPr sz="1400" i="0" dirty="0">
                <a:latin typeface="Calibri"/>
                <a:cs typeface="Calibri"/>
              </a:rPr>
              <a:t>&lt;property</a:t>
            </a:r>
            <a:r>
              <a:rPr sz="1400" i="0" spc="35" dirty="0">
                <a:latin typeface="Calibri"/>
                <a:cs typeface="Calibri"/>
              </a:rPr>
              <a:t> </a:t>
            </a:r>
            <a:r>
              <a:rPr sz="1400" i="0" spc="-10" dirty="0">
                <a:latin typeface="Calibri"/>
                <a:cs typeface="Calibri"/>
              </a:rPr>
              <a:t>name="javax.persistence.jdbc.driver" value="org.postgresql.Driver"/&gt;</a:t>
            </a:r>
            <a:endParaRPr sz="1400" dirty="0">
              <a:latin typeface="Calibri"/>
              <a:cs typeface="Calibri"/>
            </a:endParaRPr>
          </a:p>
          <a:p>
            <a:pPr marL="12700" marR="5080" indent="229870">
              <a:lnSpc>
                <a:spcPct val="108600"/>
              </a:lnSpc>
              <a:spcBef>
                <a:spcPts val="840"/>
              </a:spcBef>
            </a:pPr>
            <a:r>
              <a:rPr sz="1400" i="0" dirty="0">
                <a:latin typeface="Calibri"/>
                <a:cs typeface="Calibri"/>
              </a:rPr>
              <a:t>&lt;property</a:t>
            </a:r>
            <a:r>
              <a:rPr sz="1400" i="0" spc="310" dirty="0">
                <a:latin typeface="Calibri"/>
                <a:cs typeface="Calibri"/>
              </a:rPr>
              <a:t> </a:t>
            </a:r>
            <a:r>
              <a:rPr sz="1400" i="0" dirty="0">
                <a:latin typeface="Calibri"/>
                <a:cs typeface="Calibri"/>
              </a:rPr>
              <a:t>name="javax.persistence.schema-</a:t>
            </a:r>
            <a:r>
              <a:rPr sz="1400" i="0" spc="-10" dirty="0">
                <a:latin typeface="Calibri"/>
                <a:cs typeface="Calibri"/>
              </a:rPr>
              <a:t>generation.database.action" value="update"/&gt;</a:t>
            </a:r>
            <a:endParaRPr sz="1400" dirty="0">
              <a:latin typeface="Calibri"/>
              <a:cs typeface="Calibri"/>
            </a:endParaRPr>
          </a:p>
          <a:p>
            <a:pPr marL="165100">
              <a:lnSpc>
                <a:spcPct val="100000"/>
              </a:lnSpc>
              <a:spcBef>
                <a:spcPts val="975"/>
              </a:spcBef>
            </a:pPr>
            <a:r>
              <a:rPr sz="1400" i="0" spc="-10" dirty="0">
                <a:latin typeface="Calibri"/>
                <a:cs typeface="Calibri"/>
              </a:rPr>
              <a:t>&lt;/properties&gt;</a:t>
            </a:r>
            <a:endParaRPr sz="1400" dirty="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960"/>
              </a:spcBef>
            </a:pPr>
            <a:r>
              <a:rPr sz="1400" i="0" spc="-10" dirty="0">
                <a:latin typeface="Calibri"/>
                <a:cs typeface="Calibri"/>
              </a:rPr>
              <a:t>&lt;/persistence-</a:t>
            </a:r>
            <a:r>
              <a:rPr sz="1400" i="0" spc="-20" dirty="0">
                <a:latin typeface="Calibri"/>
                <a:cs typeface="Calibri"/>
              </a:rPr>
              <a:t>unit&gt;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400" i="0" spc="-10" dirty="0">
                <a:latin typeface="Calibri"/>
                <a:cs typeface="Calibri"/>
              </a:rPr>
              <a:t>&lt;/persistence&gt;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5189"/>
            <a:ext cx="379222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Step</a:t>
            </a:r>
            <a:r>
              <a:rPr sz="26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3:</a:t>
            </a:r>
            <a:r>
              <a:rPr sz="26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Create</a:t>
            </a:r>
            <a:r>
              <a:rPr sz="26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Entity</a:t>
            </a:r>
            <a:r>
              <a:rPr sz="26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Classes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022347"/>
            <a:ext cx="5731509" cy="45407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767" y="950524"/>
            <a:ext cx="6627283" cy="4706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Step</a:t>
            </a:r>
            <a:r>
              <a:rPr spc="-50" dirty="0"/>
              <a:t> </a:t>
            </a:r>
            <a:r>
              <a:rPr dirty="0"/>
              <a:t>4:</a:t>
            </a:r>
            <a:r>
              <a:rPr spc="-40" dirty="0"/>
              <a:t> </a:t>
            </a:r>
            <a:r>
              <a:rPr spc="-30" dirty="0"/>
              <a:t>Testing</a:t>
            </a:r>
            <a:r>
              <a:rPr spc="-4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Configuration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050" y="2527300"/>
            <a:ext cx="57378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000" i="1" dirty="0">
                <a:latin typeface="Calibri"/>
                <a:cs typeface="Calibri"/>
              </a:rPr>
              <a:t>A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Java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program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was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written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to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persist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retrieve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data </a:t>
            </a:r>
            <a:r>
              <a:rPr sz="2000" i="1" dirty="0">
                <a:latin typeface="Calibri"/>
                <a:cs typeface="Calibri"/>
              </a:rPr>
              <a:t>using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JPA.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3873571"/>
            <a:ext cx="4899025" cy="586676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400" dirty="0">
                <a:latin typeface="Calibri"/>
                <a:cs typeface="Calibri"/>
              </a:rPr>
              <a:t>EntityManagerFactory</a:t>
            </a:r>
            <a:r>
              <a:rPr sz="1400" spc="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emf</a:t>
            </a:r>
            <a:r>
              <a:rPr sz="1400" spc="6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=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400" spc="-10" dirty="0">
                <a:latin typeface="Calibri"/>
                <a:cs typeface="Calibri"/>
              </a:rPr>
              <a:t>Persistence.createEntityManagerFactory("taskManagementPU");</a:t>
            </a:r>
            <a:endParaRPr sz="1400" dirty="0">
              <a:latin typeface="Calibri"/>
              <a:cs typeface="Calibri"/>
            </a:endParaRPr>
          </a:p>
          <a:p>
            <a:pPr marL="12700" marR="1280795">
              <a:lnSpc>
                <a:spcPts val="2650"/>
              </a:lnSpc>
              <a:spcBef>
                <a:spcPts val="244"/>
              </a:spcBef>
            </a:pPr>
            <a:r>
              <a:rPr sz="1400" dirty="0">
                <a:latin typeface="Calibri"/>
                <a:cs typeface="Calibri"/>
              </a:rPr>
              <a:t>EntityManager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em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-10" dirty="0">
                <a:latin typeface="Calibri"/>
                <a:cs typeface="Calibri"/>
              </a:rPr>
              <a:t> emf.createEntityManager(); em.getTransaction().begin();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400" dirty="0">
              <a:latin typeface="Calibri"/>
              <a:cs typeface="Calibri"/>
            </a:endParaRPr>
          </a:p>
          <a:p>
            <a:pPr marL="12700" marR="2153920" algn="just">
              <a:lnSpc>
                <a:spcPct val="157500"/>
              </a:lnSpc>
            </a:pPr>
            <a:r>
              <a:rPr sz="1400" dirty="0">
                <a:latin typeface="Calibri"/>
                <a:cs typeface="Calibri"/>
              </a:rPr>
              <a:t>Category</a:t>
            </a:r>
            <a:r>
              <a:rPr sz="1400" spc="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category</a:t>
            </a:r>
            <a:r>
              <a:rPr sz="1400" spc="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Category(); category.setName("Development"); em.persist(category);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Task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task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Task();</a:t>
            </a:r>
            <a:endParaRPr sz="1400" dirty="0">
              <a:latin typeface="Calibri"/>
              <a:cs typeface="Calibri"/>
            </a:endParaRPr>
          </a:p>
          <a:p>
            <a:pPr marL="12700" marR="1783080">
              <a:lnSpc>
                <a:spcPct val="157100"/>
              </a:lnSpc>
            </a:pPr>
            <a:r>
              <a:rPr sz="1400" dirty="0">
                <a:latin typeface="Calibri"/>
                <a:cs typeface="Calibri"/>
              </a:rPr>
              <a:t>task.setTitle("Design</a:t>
            </a:r>
            <a:r>
              <a:rPr sz="1400" spc="1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Database</a:t>
            </a:r>
            <a:r>
              <a:rPr sz="1400" spc="18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Schema"); task.setCategory(category);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400" spc="-10" dirty="0">
                <a:latin typeface="Calibri"/>
                <a:cs typeface="Calibri"/>
              </a:rPr>
              <a:t>task.setStatus("Open");</a:t>
            </a:r>
            <a:endParaRPr sz="1400" dirty="0">
              <a:latin typeface="Calibri"/>
              <a:cs typeface="Calibri"/>
            </a:endParaRPr>
          </a:p>
          <a:p>
            <a:pPr marL="12700" marR="2314575">
              <a:lnSpc>
                <a:spcPct val="157100"/>
              </a:lnSpc>
            </a:pPr>
            <a:r>
              <a:rPr sz="1400" spc="-10" dirty="0">
                <a:latin typeface="Calibri"/>
                <a:cs typeface="Calibri"/>
              </a:rPr>
              <a:t>task.setCompletionPercentage(0); em.persist(task);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400" dirty="0">
              <a:latin typeface="Calibri"/>
              <a:cs typeface="Calibri"/>
            </a:endParaRPr>
          </a:p>
          <a:p>
            <a:pPr marL="12700" marR="2583180">
              <a:lnSpc>
                <a:spcPct val="157900"/>
              </a:lnSpc>
            </a:pPr>
            <a:r>
              <a:rPr sz="1400" spc="-10" dirty="0">
                <a:latin typeface="Calibri"/>
                <a:cs typeface="Calibri"/>
              </a:rPr>
              <a:t>em.getTransaction().commit(); em.close();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885189"/>
            <a:ext cx="5771846" cy="4706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Step</a:t>
            </a:r>
            <a:r>
              <a:rPr spc="-60" dirty="0"/>
              <a:t> </a:t>
            </a:r>
            <a:r>
              <a:rPr dirty="0"/>
              <a:t>5:</a:t>
            </a:r>
            <a:r>
              <a:rPr spc="-55" dirty="0"/>
              <a:t> </a:t>
            </a:r>
            <a:r>
              <a:rPr dirty="0"/>
              <a:t>Database</a:t>
            </a:r>
            <a:r>
              <a:rPr spc="-55" dirty="0"/>
              <a:t> </a:t>
            </a:r>
            <a:r>
              <a:rPr spc="-10" dirty="0"/>
              <a:t>Verification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932786"/>
            <a:ext cx="48933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000" i="1" dirty="0">
                <a:latin typeface="Calibri"/>
                <a:cs typeface="Calibri"/>
              </a:rPr>
              <a:t>After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running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the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test,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the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data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appeared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in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the </a:t>
            </a:r>
            <a:r>
              <a:rPr sz="2000" i="1" dirty="0">
                <a:latin typeface="Calibri"/>
                <a:cs typeface="Calibri"/>
              </a:rPr>
              <a:t>database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as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shown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below: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2804" y="3500754"/>
            <a:ext cx="7937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taskid</a:t>
            </a:r>
            <a:r>
              <a:rPr sz="1400" b="1" spc="-7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title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7234" y="3500754"/>
            <a:ext cx="30543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status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completionpercentage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category_id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704" y="3481450"/>
            <a:ext cx="5441950" cy="396240"/>
          </a:xfrm>
          <a:custGeom>
            <a:avLst/>
            <a:gdLst/>
            <a:ahLst/>
            <a:cxnLst/>
            <a:rect l="l" t="t" r="r" b="b"/>
            <a:pathLst>
              <a:path w="5441950" h="396239">
                <a:moveTo>
                  <a:pt x="2342591" y="0"/>
                </a:moveTo>
                <a:lnTo>
                  <a:pt x="2342591" y="0"/>
                </a:lnTo>
                <a:lnTo>
                  <a:pt x="0" y="0"/>
                </a:lnTo>
                <a:lnTo>
                  <a:pt x="0" y="6096"/>
                </a:lnTo>
                <a:lnTo>
                  <a:pt x="0" y="41148"/>
                </a:lnTo>
                <a:lnTo>
                  <a:pt x="0" y="396240"/>
                </a:lnTo>
                <a:lnTo>
                  <a:pt x="6096" y="396240"/>
                </a:lnTo>
                <a:lnTo>
                  <a:pt x="6096" y="41148"/>
                </a:lnTo>
                <a:lnTo>
                  <a:pt x="6096" y="6096"/>
                </a:lnTo>
                <a:lnTo>
                  <a:pt x="499821" y="6096"/>
                </a:lnTo>
                <a:lnTo>
                  <a:pt x="505917" y="6096"/>
                </a:lnTo>
                <a:lnTo>
                  <a:pt x="2342591" y="6096"/>
                </a:lnTo>
                <a:lnTo>
                  <a:pt x="2342591" y="0"/>
                </a:lnTo>
                <a:close/>
              </a:path>
              <a:path w="5441950" h="396239">
                <a:moveTo>
                  <a:pt x="2348801" y="0"/>
                </a:moveTo>
                <a:lnTo>
                  <a:pt x="2342718" y="0"/>
                </a:lnTo>
                <a:lnTo>
                  <a:pt x="2342718" y="6096"/>
                </a:lnTo>
                <a:lnTo>
                  <a:pt x="2348801" y="6096"/>
                </a:lnTo>
                <a:lnTo>
                  <a:pt x="2348801" y="0"/>
                </a:lnTo>
                <a:close/>
              </a:path>
              <a:path w="5441950" h="396239">
                <a:moveTo>
                  <a:pt x="5435473" y="0"/>
                </a:moveTo>
                <a:lnTo>
                  <a:pt x="5435473" y="0"/>
                </a:lnTo>
                <a:lnTo>
                  <a:pt x="2348814" y="0"/>
                </a:lnTo>
                <a:lnTo>
                  <a:pt x="2348814" y="6096"/>
                </a:lnTo>
                <a:lnTo>
                  <a:pt x="5435473" y="6096"/>
                </a:lnTo>
                <a:lnTo>
                  <a:pt x="5435473" y="0"/>
                </a:lnTo>
                <a:close/>
              </a:path>
              <a:path w="5441950" h="396239">
                <a:moveTo>
                  <a:pt x="5441645" y="0"/>
                </a:moveTo>
                <a:lnTo>
                  <a:pt x="5435549" y="0"/>
                </a:lnTo>
                <a:lnTo>
                  <a:pt x="5435549" y="6096"/>
                </a:lnTo>
                <a:lnTo>
                  <a:pt x="5435549" y="41148"/>
                </a:lnTo>
                <a:lnTo>
                  <a:pt x="5435549" y="396240"/>
                </a:lnTo>
                <a:lnTo>
                  <a:pt x="5441645" y="396240"/>
                </a:lnTo>
                <a:lnTo>
                  <a:pt x="5441645" y="41148"/>
                </a:lnTo>
                <a:lnTo>
                  <a:pt x="5441645" y="6096"/>
                </a:lnTo>
                <a:lnTo>
                  <a:pt x="5441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2804" y="3874134"/>
            <a:ext cx="46056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81330" algn="l"/>
                <a:tab pos="4502150" algn="l"/>
              </a:tabLst>
            </a:pPr>
            <a:r>
              <a:rPr sz="1400" spc="-50" dirty="0">
                <a:latin typeface="Calibri"/>
                <a:cs typeface="Calibri"/>
              </a:rPr>
              <a:t>1</a:t>
            </a:r>
            <a:r>
              <a:rPr sz="1400" dirty="0">
                <a:latin typeface="Calibri"/>
                <a:cs typeface="Calibri"/>
              </a:rPr>
              <a:t>	</a:t>
            </a:r>
            <a:r>
              <a:rPr sz="1400" spc="-10" dirty="0">
                <a:latin typeface="Calibri"/>
                <a:cs typeface="Calibri"/>
              </a:rPr>
              <a:t>Design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Database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Schema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Open</a:t>
            </a:r>
            <a:r>
              <a:rPr sz="1400" spc="31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0</a:t>
            </a:r>
            <a:r>
              <a:rPr sz="1400" dirty="0">
                <a:latin typeface="Calibri"/>
                <a:cs typeface="Calibri"/>
              </a:rPr>
              <a:t>	</a:t>
            </a:r>
            <a:r>
              <a:rPr sz="1400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4704" y="3877703"/>
            <a:ext cx="5441950" cy="394970"/>
          </a:xfrm>
          <a:custGeom>
            <a:avLst/>
            <a:gdLst/>
            <a:ahLst/>
            <a:cxnLst/>
            <a:rect l="l" t="t" r="r" b="b"/>
            <a:pathLst>
              <a:path w="5441950" h="394970">
                <a:moveTo>
                  <a:pt x="6096" y="0"/>
                </a:moveTo>
                <a:lnTo>
                  <a:pt x="0" y="0"/>
                </a:lnTo>
                <a:lnTo>
                  <a:pt x="0" y="19799"/>
                </a:lnTo>
                <a:lnTo>
                  <a:pt x="0" y="388607"/>
                </a:lnTo>
                <a:lnTo>
                  <a:pt x="6096" y="388607"/>
                </a:lnTo>
                <a:lnTo>
                  <a:pt x="6096" y="19799"/>
                </a:lnTo>
                <a:lnTo>
                  <a:pt x="6096" y="0"/>
                </a:lnTo>
                <a:close/>
              </a:path>
              <a:path w="5441950" h="394970">
                <a:moveTo>
                  <a:pt x="2342591" y="388620"/>
                </a:moveTo>
                <a:lnTo>
                  <a:pt x="2342591" y="388620"/>
                </a:lnTo>
                <a:lnTo>
                  <a:pt x="0" y="388620"/>
                </a:lnTo>
                <a:lnTo>
                  <a:pt x="0" y="394703"/>
                </a:lnTo>
                <a:lnTo>
                  <a:pt x="2342591" y="394703"/>
                </a:lnTo>
                <a:lnTo>
                  <a:pt x="2342591" y="388620"/>
                </a:lnTo>
                <a:close/>
              </a:path>
              <a:path w="5441950" h="394970">
                <a:moveTo>
                  <a:pt x="2348801" y="388620"/>
                </a:moveTo>
                <a:lnTo>
                  <a:pt x="2342718" y="388620"/>
                </a:lnTo>
                <a:lnTo>
                  <a:pt x="2342718" y="394703"/>
                </a:lnTo>
                <a:lnTo>
                  <a:pt x="2348801" y="394703"/>
                </a:lnTo>
                <a:lnTo>
                  <a:pt x="2348801" y="388620"/>
                </a:lnTo>
                <a:close/>
              </a:path>
              <a:path w="5441950" h="394970">
                <a:moveTo>
                  <a:pt x="5435473" y="388620"/>
                </a:moveTo>
                <a:lnTo>
                  <a:pt x="5435473" y="388620"/>
                </a:lnTo>
                <a:lnTo>
                  <a:pt x="2348814" y="388620"/>
                </a:lnTo>
                <a:lnTo>
                  <a:pt x="2348814" y="394703"/>
                </a:lnTo>
                <a:lnTo>
                  <a:pt x="5435473" y="394703"/>
                </a:lnTo>
                <a:lnTo>
                  <a:pt x="5435473" y="388620"/>
                </a:lnTo>
                <a:close/>
              </a:path>
              <a:path w="5441950" h="394970">
                <a:moveTo>
                  <a:pt x="5441645" y="388620"/>
                </a:moveTo>
                <a:lnTo>
                  <a:pt x="5435549" y="388620"/>
                </a:lnTo>
                <a:lnTo>
                  <a:pt x="5435549" y="394703"/>
                </a:lnTo>
                <a:lnTo>
                  <a:pt x="5441645" y="394703"/>
                </a:lnTo>
                <a:lnTo>
                  <a:pt x="5441645" y="388620"/>
                </a:lnTo>
                <a:close/>
              </a:path>
              <a:path w="5441950" h="394970">
                <a:moveTo>
                  <a:pt x="5441645" y="0"/>
                </a:moveTo>
                <a:lnTo>
                  <a:pt x="5435549" y="0"/>
                </a:lnTo>
                <a:lnTo>
                  <a:pt x="5435549" y="19799"/>
                </a:lnTo>
                <a:lnTo>
                  <a:pt x="5435549" y="388607"/>
                </a:lnTo>
                <a:lnTo>
                  <a:pt x="5441645" y="388607"/>
                </a:lnTo>
                <a:lnTo>
                  <a:pt x="5441645" y="19799"/>
                </a:lnTo>
                <a:lnTo>
                  <a:pt x="5441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405</Words>
  <Application>Microsoft Office PowerPoint</Application>
  <PresentationFormat>Custom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Carlito</vt:lpstr>
      <vt:lpstr>Trebuchet MS</vt:lpstr>
      <vt:lpstr>Wingdings 3</vt:lpstr>
      <vt:lpstr>Facet</vt:lpstr>
      <vt:lpstr>SHREE RAMSWAROOP MEMORIAL UNIVERSITY</vt:lpstr>
      <vt:lpstr>Step 1: Database Setup</vt:lpstr>
      <vt:lpstr>Step 2: Configure the Persistence Unit</vt:lpstr>
      <vt:lpstr>PowerPoint Presentation</vt:lpstr>
      <vt:lpstr>Step 4: Testing the Configuration</vt:lpstr>
      <vt:lpstr>Step 5: Database Verification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guptashrijaya@gmail.com</dc:creator>
  <cp:lastModifiedBy>acer</cp:lastModifiedBy>
  <cp:revision>1</cp:revision>
  <dcterms:created xsi:type="dcterms:W3CDTF">2025-10-31T04:57:53Z</dcterms:created>
  <dcterms:modified xsi:type="dcterms:W3CDTF">2025-11-03T18:13:39Z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2025-10-31T00:00:00Z</vt:filetime>
  </property>
  <property fmtid="{D5CDD505-2E9C-101B-9397-08002B2CF9AE}" pid="5" name="Producer">
    <vt:lpwstr>3-Heights(TM) PDF Security Shell 4.8.25.2 (http://www.pdf-tools.com)</vt:lpwstr>
  </property>
</Properties>
</file>