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1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96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26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39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48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9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51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90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00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5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4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38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9351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785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59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00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621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98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83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2001/XMLSchema-instance" TargetMode="External"/><Relationship Id="rId2" Type="http://schemas.openxmlformats.org/officeDocument/2006/relationships/hyperlink" Target="http://xmlns.jcp.org/xml/ns/persistenc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xmlns.jcp.org/xml/ns/persistence/persistence_2_1.xs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Assignment:-7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- 07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4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9321"/>
            <a:ext cx="5718810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1.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Create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</a:t>
            </a:r>
            <a:r>
              <a:rPr sz="1100" b="1" spc="-20" dirty="0">
                <a:latin typeface="Calibri"/>
                <a:cs typeface="Calibri"/>
              </a:rPr>
              <a:t> JPA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Entity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Class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805"/>
              </a:spcBef>
            </a:pPr>
            <a:r>
              <a:rPr sz="1100" dirty="0">
                <a:latin typeface="Calibri"/>
                <a:cs typeface="Calibri"/>
              </a:rPr>
              <a:t>Define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JPA </a:t>
            </a:r>
            <a:r>
              <a:rPr sz="1100" dirty="0">
                <a:latin typeface="Calibri"/>
                <a:cs typeface="Calibri"/>
              </a:rPr>
              <a:t>entity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10" dirty="0">
                <a:latin typeface="Calibri"/>
                <a:cs typeface="Calibri"/>
              </a:rPr>
              <a:t> represents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application.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should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annotated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JPA </a:t>
            </a:r>
            <a:r>
              <a:rPr sz="1100" dirty="0">
                <a:latin typeface="Calibri"/>
                <a:cs typeface="Calibri"/>
              </a:rPr>
              <a:t>annotations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database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Calibri"/>
                <a:cs typeface="Calibri"/>
              </a:rPr>
              <a:t>Example: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Entity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Class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791713"/>
            <a:ext cx="3286760" cy="648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javax.persistence.Entity;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javax.persistence.Id;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javax.persistence.GeneratedValue;</a:t>
            </a:r>
            <a:endParaRPr sz="1100" dirty="0">
              <a:latin typeface="Calibri"/>
              <a:cs typeface="Calibri"/>
            </a:endParaRPr>
          </a:p>
          <a:p>
            <a:pPr marL="12700" marR="911225">
              <a:lnSpc>
                <a:spcPct val="170000"/>
              </a:lnSpc>
              <a:spcBef>
                <a:spcPts val="1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javax.persistence.GenerationType; </a:t>
            </a: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javax.persistence.Column;</a:t>
            </a:r>
            <a:endParaRPr sz="1100" dirty="0">
              <a:latin typeface="Calibri"/>
              <a:cs typeface="Calibri"/>
            </a:endParaRPr>
          </a:p>
          <a:p>
            <a:pPr marL="12700" marR="1501775">
              <a:lnSpc>
                <a:spcPts val="2260"/>
              </a:lnSpc>
              <a:spcBef>
                <a:spcPts val="21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javax.persistence.Table; </a:t>
            </a: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java.time.LocalDate;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latin typeface="Calibri"/>
                <a:cs typeface="Calibri"/>
              </a:rPr>
              <a:t>@Entity</a:t>
            </a:r>
            <a:endParaRPr sz="1100" dirty="0">
              <a:latin typeface="Calibri"/>
              <a:cs typeface="Calibri"/>
            </a:endParaRPr>
          </a:p>
          <a:p>
            <a:pPr marL="12700" marR="1873250">
              <a:lnSpc>
                <a:spcPts val="2260"/>
              </a:lnSpc>
              <a:spcBef>
                <a:spcPts val="219"/>
              </a:spcBef>
            </a:pPr>
            <a:r>
              <a:rPr sz="1100" i="1" spc="-10" dirty="0">
                <a:latin typeface="Calibri"/>
                <a:cs typeface="Calibri"/>
              </a:rPr>
              <a:t>@Table(name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"tasks") </a:t>
            </a: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-20" dirty="0">
                <a:latin typeface="Calibri"/>
                <a:cs typeface="Calibri"/>
              </a:rPr>
              <a:t> class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Task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{</a:t>
            </a:r>
            <a:endParaRPr sz="1100" dirty="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690"/>
              </a:spcBef>
            </a:pPr>
            <a:r>
              <a:rPr sz="1100" i="1" spc="-25" dirty="0">
                <a:latin typeface="Calibri"/>
                <a:cs typeface="Calibri"/>
              </a:rPr>
              <a:t>@Id</a:t>
            </a:r>
            <a:endParaRPr sz="1100" dirty="0">
              <a:latin typeface="Calibri"/>
              <a:cs typeface="Calibri"/>
            </a:endParaRPr>
          </a:p>
          <a:p>
            <a:pPr marL="128270" marR="5080">
              <a:lnSpc>
                <a:spcPts val="2260"/>
              </a:lnSpc>
              <a:spcBef>
                <a:spcPts val="215"/>
              </a:spcBef>
            </a:pPr>
            <a:r>
              <a:rPr sz="1100" i="1" spc="-10" dirty="0">
                <a:latin typeface="Calibri"/>
                <a:cs typeface="Calibri"/>
              </a:rPr>
              <a:t>@GeneratedValue(strategy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GenerationType.IDENTITY) </a:t>
            </a:r>
            <a:r>
              <a:rPr sz="1100" i="1" dirty="0">
                <a:latin typeface="Calibri"/>
                <a:cs typeface="Calibri"/>
              </a:rPr>
              <a:t>private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Long </a:t>
            </a:r>
            <a:r>
              <a:rPr sz="1100" i="1" spc="-25" dirty="0">
                <a:latin typeface="Calibri"/>
                <a:cs typeface="Calibri"/>
              </a:rPr>
              <a:t>id;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 dirty="0">
              <a:latin typeface="Calibri"/>
              <a:cs typeface="Calibri"/>
            </a:endParaRPr>
          </a:p>
          <a:p>
            <a:pPr marL="128270" marR="1670685">
              <a:lnSpc>
                <a:spcPct val="170000"/>
              </a:lnSpc>
            </a:pPr>
            <a:r>
              <a:rPr sz="1100" i="1" spc="-10" dirty="0">
                <a:latin typeface="Calibri"/>
                <a:cs typeface="Calibri"/>
              </a:rPr>
              <a:t>@Column(nullable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false) </a:t>
            </a:r>
            <a:r>
              <a:rPr sz="1100" i="1" dirty="0">
                <a:latin typeface="Calibri"/>
                <a:cs typeface="Calibri"/>
              </a:rPr>
              <a:t>private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title;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100" dirty="0">
              <a:latin typeface="Calibri"/>
              <a:cs typeface="Calibri"/>
            </a:endParaRPr>
          </a:p>
          <a:p>
            <a:pPr marL="128270" marR="1670685">
              <a:lnSpc>
                <a:spcPct val="170000"/>
              </a:lnSpc>
            </a:pPr>
            <a:r>
              <a:rPr sz="1100" i="1" spc="-10" dirty="0">
                <a:latin typeface="Calibri"/>
                <a:cs typeface="Calibri"/>
              </a:rPr>
              <a:t>@Column(nullable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false) </a:t>
            </a:r>
            <a:r>
              <a:rPr sz="1100" i="1" dirty="0">
                <a:latin typeface="Calibri"/>
                <a:cs typeface="Calibri"/>
              </a:rPr>
              <a:t>private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description;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100" dirty="0">
              <a:latin typeface="Calibri"/>
              <a:cs typeface="Calibri"/>
            </a:endParaRPr>
          </a:p>
          <a:p>
            <a:pPr marL="128270" marR="1624330">
              <a:lnSpc>
                <a:spcPct val="170900"/>
              </a:lnSpc>
            </a:pPr>
            <a:r>
              <a:rPr sz="1100" i="1" spc="-10" dirty="0">
                <a:latin typeface="Calibri"/>
                <a:cs typeface="Calibri"/>
              </a:rPr>
              <a:t>@Column(nullable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false) </a:t>
            </a:r>
            <a:r>
              <a:rPr sz="1100" i="1" dirty="0">
                <a:latin typeface="Calibri"/>
                <a:cs typeface="Calibri"/>
              </a:rPr>
              <a:t>private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LocalDate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deadline;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579620" cy="533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</a:rPr>
              <a:t>@Column(nullable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false)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30"/>
              </a:spcBef>
            </a:pPr>
            <a:r>
              <a:rPr sz="1100" i="1" dirty="0">
                <a:latin typeface="Calibri"/>
                <a:cs typeface="Calibri"/>
              </a:rPr>
              <a:t>private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priority;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5"/>
              </a:spcBef>
            </a:pPr>
            <a:r>
              <a:rPr sz="1100" i="1" spc="-140" dirty="0">
                <a:latin typeface="Calibri"/>
                <a:cs typeface="Calibri"/>
              </a:rPr>
              <a:t>//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Getters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and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Setters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35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Long getId()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 return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id;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25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void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setId(Long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id)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 this.id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id;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getTitle()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return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title;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30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void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setTitle(String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title)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this.title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title;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getDescription()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return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description;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35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void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setDescription(String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description)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this.description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description;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LocalDate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getDeadline()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return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deadline;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40"/>
              </a:spcBef>
            </a:pPr>
            <a:r>
              <a:rPr sz="1100" i="1" dirty="0">
                <a:latin typeface="Calibri"/>
                <a:cs typeface="Calibri"/>
              </a:rPr>
              <a:t>public void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setDeadline(LocalDate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deadline)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-10" dirty="0">
                <a:latin typeface="Calibri"/>
                <a:cs typeface="Calibri"/>
              </a:rPr>
              <a:t> this.deadline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deadline;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getPriority()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return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priority;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25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void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setPriority(String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priority)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{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this.priority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priority;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9321"/>
            <a:ext cx="5709920" cy="837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 Light"/>
                <a:cs typeface="Calibri Light"/>
              </a:rPr>
              <a:t>2.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Develop</a:t>
            </a:r>
            <a:r>
              <a:rPr sz="1100" spc="-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a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Servlet</a:t>
            </a:r>
            <a:r>
              <a:rPr sz="1100" spc="-1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to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Handle</a:t>
            </a:r>
            <a:r>
              <a:rPr sz="1100" spc="-20" dirty="0">
                <a:latin typeface="Calibri Light"/>
                <a:cs typeface="Calibri Light"/>
              </a:rPr>
              <a:t> Task</a:t>
            </a:r>
            <a:r>
              <a:rPr sz="1100" spc="-5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Creation</a:t>
            </a:r>
            <a:endParaRPr sz="1100">
              <a:latin typeface="Calibri Light"/>
              <a:cs typeface="Calibri Light"/>
            </a:endParaRPr>
          </a:p>
          <a:p>
            <a:pPr marL="12700" marR="5080">
              <a:lnSpc>
                <a:spcPct val="110000"/>
              </a:lnSpc>
              <a:spcBef>
                <a:spcPts val="805"/>
              </a:spcBef>
            </a:pPr>
            <a:r>
              <a:rPr sz="1100" dirty="0">
                <a:latin typeface="Calibri Light"/>
                <a:cs typeface="Calibri Light"/>
              </a:rPr>
              <a:t>Create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a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servlet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to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handle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the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task</a:t>
            </a:r>
            <a:r>
              <a:rPr sz="1100" spc="-1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creation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form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submission.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This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servlet</a:t>
            </a:r>
            <a:r>
              <a:rPr sz="1100" spc="-3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should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use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spc="-35" dirty="0">
                <a:latin typeface="Calibri Light"/>
                <a:cs typeface="Calibri Light"/>
              </a:rPr>
              <a:t>JPA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to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persist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spc="-25" dirty="0">
                <a:latin typeface="Calibri Light"/>
                <a:cs typeface="Calibri Light"/>
              </a:rPr>
              <a:t>the </a:t>
            </a:r>
            <a:r>
              <a:rPr sz="1100" dirty="0">
                <a:latin typeface="Calibri Light"/>
                <a:cs typeface="Calibri Light"/>
              </a:rPr>
              <a:t>task</a:t>
            </a:r>
            <a:r>
              <a:rPr sz="1100" spc="-3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data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into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the</a:t>
            </a:r>
            <a:r>
              <a:rPr sz="1100" spc="-35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database.</a:t>
            </a:r>
            <a:endParaRPr sz="11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 Light"/>
                <a:cs typeface="Calibri Light"/>
              </a:rPr>
              <a:t>Example:</a:t>
            </a:r>
            <a:r>
              <a:rPr sz="1100" spc="-30" dirty="0">
                <a:latin typeface="Calibri Light"/>
                <a:cs typeface="Calibri Light"/>
              </a:rPr>
              <a:t> </a:t>
            </a:r>
            <a:r>
              <a:rPr sz="1100" spc="-20" dirty="0">
                <a:latin typeface="Calibri Light"/>
                <a:cs typeface="Calibri Light"/>
              </a:rPr>
              <a:t>Task</a:t>
            </a:r>
            <a:r>
              <a:rPr sz="1100" spc="-5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Creation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Servlet</a:t>
            </a:r>
            <a:endParaRPr sz="1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javax.servlet.ServletException;</a:t>
            </a:r>
            <a:endParaRPr sz="1100">
              <a:latin typeface="Calibri"/>
              <a:cs typeface="Calibri"/>
            </a:endParaRPr>
          </a:p>
          <a:p>
            <a:pPr marL="12700" marR="3168650">
              <a:lnSpc>
                <a:spcPts val="2260"/>
              </a:lnSpc>
              <a:spcBef>
                <a:spcPts val="21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javax.servlet.annotation.WebServlet; </a:t>
            </a: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javax.servlet.http.HttpServlet;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javax.servlet.http.HttpServletRequest;</a:t>
            </a:r>
            <a:endParaRPr sz="1100">
              <a:latin typeface="Calibri"/>
              <a:cs typeface="Calibri"/>
            </a:endParaRPr>
          </a:p>
          <a:p>
            <a:pPr marL="12700" marR="3007995">
              <a:lnSpc>
                <a:spcPct val="170000"/>
              </a:lnSpc>
              <a:spcBef>
                <a:spcPts val="1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javax.servlet.http.HttpServletResponse; </a:t>
            </a: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javax.persistence.EntityManager;</a:t>
            </a:r>
            <a:endParaRPr sz="1100">
              <a:latin typeface="Calibri"/>
              <a:cs typeface="Calibri"/>
            </a:endParaRPr>
          </a:p>
          <a:p>
            <a:pPr marL="12700" marR="2982595">
              <a:lnSpc>
                <a:spcPts val="2260"/>
              </a:lnSpc>
              <a:spcBef>
                <a:spcPts val="21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javax.persistence.EntityManagerFactory; </a:t>
            </a: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javax.persistence.Persistence;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java.io.IOException;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i="1" dirty="0">
                <a:latin typeface="Calibri"/>
                <a:cs typeface="Calibri"/>
              </a:rPr>
              <a:t>import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java.time.LocalDate;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latin typeface="Calibri"/>
                <a:cs typeface="Calibri"/>
              </a:rPr>
              <a:t>@WebServlet("/createTask")</a:t>
            </a:r>
            <a:endParaRPr sz="1100">
              <a:latin typeface="Calibri"/>
              <a:cs typeface="Calibri"/>
            </a:endParaRPr>
          </a:p>
          <a:p>
            <a:pPr marL="128270" marR="2771775" indent="-116205">
              <a:lnSpc>
                <a:spcPct val="170000"/>
              </a:lnSpc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class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CreateTaskServlet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extends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HttpServlet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{</a:t>
            </a:r>
            <a:r>
              <a:rPr sz="1100" i="1" dirty="0">
                <a:latin typeface="Calibri"/>
                <a:cs typeface="Calibri"/>
              </a:rPr>
              <a:t> private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EntityManagerFactory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emf;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sz="1100" i="1" spc="-10" dirty="0">
                <a:latin typeface="Calibri"/>
                <a:cs typeface="Calibri"/>
              </a:rPr>
              <a:t>@Override</a:t>
            </a:r>
            <a:endParaRPr sz="1100">
              <a:latin typeface="Calibri"/>
              <a:cs typeface="Calibri"/>
            </a:endParaRPr>
          </a:p>
          <a:p>
            <a:pPr marL="247015" marR="3147695" indent="-119380">
              <a:lnSpc>
                <a:spcPct val="170000"/>
              </a:lnSpc>
              <a:spcBef>
                <a:spcPts val="10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void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init()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throws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ServletException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{</a:t>
            </a:r>
            <a:r>
              <a:rPr sz="1100" i="1" spc="-10" dirty="0">
                <a:latin typeface="Calibri"/>
                <a:cs typeface="Calibri"/>
              </a:rPr>
              <a:t> super.init();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925"/>
              </a:spcBef>
            </a:pPr>
            <a:r>
              <a:rPr sz="1100" i="1" dirty="0">
                <a:latin typeface="Calibri"/>
                <a:cs typeface="Calibri"/>
              </a:rPr>
              <a:t>emf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1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Persistence.createEntityManagerFactory("task-</a:t>
            </a:r>
            <a:r>
              <a:rPr sz="1100" i="1" spc="-35" dirty="0">
                <a:latin typeface="Calibri"/>
                <a:cs typeface="Calibri"/>
              </a:rPr>
              <a:t>manager-</a:t>
            </a:r>
            <a:r>
              <a:rPr sz="1100" i="1" spc="-10" dirty="0">
                <a:latin typeface="Calibri"/>
                <a:cs typeface="Calibri"/>
              </a:rPr>
              <a:t>pu");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940"/>
              </a:spcBef>
            </a:pP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sz="1100" i="1" spc="-10" dirty="0">
                <a:latin typeface="Calibri"/>
                <a:cs typeface="Calibri"/>
              </a:rPr>
              <a:t>@Override</a:t>
            </a:r>
            <a:endParaRPr sz="1100">
              <a:latin typeface="Calibri"/>
              <a:cs typeface="Calibri"/>
            </a:endParaRPr>
          </a:p>
          <a:p>
            <a:pPr marL="364490" marR="832485" indent="-236220">
              <a:lnSpc>
                <a:spcPts val="2260"/>
              </a:lnSpc>
              <a:spcBef>
                <a:spcPts val="215"/>
              </a:spcBef>
            </a:pPr>
            <a:r>
              <a:rPr sz="1100" i="1" spc="10" dirty="0">
                <a:latin typeface="Calibri"/>
                <a:cs typeface="Calibri"/>
              </a:rPr>
              <a:t>protected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void doPost(HttpServletRequest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request,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HttpServletResponse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response) </a:t>
            </a:r>
            <a:r>
              <a:rPr sz="1100" i="1" dirty="0">
                <a:latin typeface="Calibri"/>
                <a:cs typeface="Calibri"/>
              </a:rPr>
              <a:t>throws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ServletException,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IOException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690"/>
              </a:spcBef>
            </a:pP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title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request.getParameter("title");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9352" y="894080"/>
            <a:ext cx="5386070" cy="847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description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request.getParameter("description");</a:t>
            </a:r>
            <a:endParaRPr sz="1100">
              <a:latin typeface="Calibri"/>
              <a:cs typeface="Calibri"/>
            </a:endParaRPr>
          </a:p>
          <a:p>
            <a:pPr marL="129539" marR="1080135">
              <a:lnSpc>
                <a:spcPts val="2260"/>
              </a:lnSpc>
              <a:spcBef>
                <a:spcPts val="220"/>
              </a:spcBef>
            </a:pPr>
            <a:r>
              <a:rPr sz="1100" i="1" spc="-20" dirty="0">
                <a:latin typeface="Calibri"/>
                <a:cs typeface="Calibri"/>
              </a:rPr>
              <a:t>LocalDate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deadline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 </a:t>
            </a:r>
            <a:r>
              <a:rPr sz="1100" i="1" spc="-10" dirty="0">
                <a:latin typeface="Calibri"/>
                <a:cs typeface="Calibri"/>
              </a:rPr>
              <a:t>LocalDate.parse(request.getParameter("deadline")); </a:t>
            </a:r>
            <a:r>
              <a:rPr sz="1100" i="1" dirty="0">
                <a:latin typeface="Calibri"/>
                <a:cs typeface="Calibri"/>
              </a:rPr>
              <a:t>String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priority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request.getParameter("priority");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</a:pPr>
            <a:r>
              <a:rPr sz="1100" i="1" spc="-140" dirty="0">
                <a:latin typeface="Calibri"/>
                <a:cs typeface="Calibri"/>
              </a:rPr>
              <a:t>//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Validate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input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(example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validation)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925"/>
              </a:spcBef>
            </a:pPr>
            <a:r>
              <a:rPr sz="1100" i="1" dirty="0">
                <a:latin typeface="Calibri"/>
                <a:cs typeface="Calibri"/>
              </a:rPr>
              <a:t>if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(title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==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null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spc="-245" dirty="0">
                <a:latin typeface="Calibri"/>
                <a:cs typeface="Calibri"/>
              </a:rPr>
              <a:t>||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title.trim().isEmpty()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||</a:t>
            </a:r>
            <a:endParaRPr sz="1100">
              <a:latin typeface="Calibri"/>
              <a:cs typeface="Calibri"/>
            </a:endParaRPr>
          </a:p>
          <a:p>
            <a:pPr marL="247015" marR="2261870">
              <a:lnSpc>
                <a:spcPct val="170000"/>
              </a:lnSpc>
              <a:spcBef>
                <a:spcPts val="10"/>
              </a:spcBef>
            </a:pPr>
            <a:r>
              <a:rPr sz="1100" i="1" dirty="0">
                <a:latin typeface="Calibri"/>
                <a:cs typeface="Calibri"/>
              </a:rPr>
              <a:t>description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==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null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245" dirty="0">
                <a:latin typeface="Calibri"/>
                <a:cs typeface="Calibri"/>
              </a:rPr>
              <a:t>||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description.trim().isEmpty()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spc="-175" dirty="0">
                <a:latin typeface="Calibri"/>
                <a:cs typeface="Calibri"/>
              </a:rPr>
              <a:t>||</a:t>
            </a:r>
            <a:r>
              <a:rPr sz="1100" i="1" spc="-10" dirty="0">
                <a:latin typeface="Calibri"/>
                <a:cs typeface="Calibri"/>
              </a:rPr>
              <a:t> deadline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==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null</a:t>
            </a:r>
            <a:r>
              <a:rPr sz="1100" i="1" spc="-25" dirty="0">
                <a:latin typeface="Calibri"/>
                <a:cs typeface="Calibri"/>
              </a:rPr>
              <a:t> ||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925"/>
              </a:spcBef>
            </a:pPr>
            <a:r>
              <a:rPr sz="1100" i="1" dirty="0">
                <a:latin typeface="Calibri"/>
                <a:cs typeface="Calibri"/>
              </a:rPr>
              <a:t>priority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==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null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240" dirty="0">
                <a:latin typeface="Calibri"/>
                <a:cs typeface="Calibri"/>
              </a:rPr>
              <a:t>||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priority.trim().isEmpty())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940"/>
              </a:spcBef>
            </a:pPr>
            <a:r>
              <a:rPr sz="1100" i="1" dirty="0">
                <a:latin typeface="Calibri"/>
                <a:cs typeface="Calibri"/>
              </a:rPr>
              <a:t>request.setAttribute("error",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"All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fields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must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be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filled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out.");</a:t>
            </a:r>
            <a:endParaRPr sz="1100">
              <a:latin typeface="Calibri"/>
              <a:cs typeface="Calibri"/>
            </a:endParaRPr>
          </a:p>
          <a:p>
            <a:pPr marL="247015" marR="5080">
              <a:lnSpc>
                <a:spcPts val="2260"/>
              </a:lnSpc>
              <a:spcBef>
                <a:spcPts val="215"/>
              </a:spcBef>
            </a:pPr>
            <a:r>
              <a:rPr sz="1100" i="1" spc="-10" dirty="0">
                <a:latin typeface="Calibri"/>
                <a:cs typeface="Calibri"/>
              </a:rPr>
              <a:t>request.getRequestDispatcher("/WEB-INF/jsp/createTask.jsp").forward(request,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response); return;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685"/>
              </a:spcBef>
            </a:pP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</a:pPr>
            <a:r>
              <a:rPr sz="1100" i="1" spc="-140" dirty="0">
                <a:latin typeface="Calibri"/>
                <a:cs typeface="Calibri"/>
              </a:rPr>
              <a:t>//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Create and </a:t>
            </a:r>
            <a:r>
              <a:rPr sz="1100" i="1" dirty="0">
                <a:latin typeface="Calibri"/>
                <a:cs typeface="Calibri"/>
              </a:rPr>
              <a:t>persist the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task</a:t>
            </a:r>
            <a:endParaRPr sz="1100">
              <a:latin typeface="Calibri"/>
              <a:cs typeface="Calibri"/>
            </a:endParaRPr>
          </a:p>
          <a:p>
            <a:pPr marL="129539" marR="2522855">
              <a:lnSpc>
                <a:spcPts val="2260"/>
              </a:lnSpc>
              <a:spcBef>
                <a:spcPts val="215"/>
              </a:spcBef>
            </a:pPr>
            <a:r>
              <a:rPr sz="1100" i="1" spc="-20" dirty="0">
                <a:latin typeface="Calibri"/>
                <a:cs typeface="Calibri"/>
              </a:rPr>
              <a:t>EntityManager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em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emf.createEntityManager(); em.getTransaction().begin();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00">
              <a:latin typeface="Calibri"/>
              <a:cs typeface="Calibri"/>
            </a:endParaRPr>
          </a:p>
          <a:p>
            <a:pPr marL="129539" marR="3947160">
              <a:lnSpc>
                <a:spcPct val="170000"/>
              </a:lnSpc>
            </a:pPr>
            <a:r>
              <a:rPr sz="1100" i="1" spc="-10" dirty="0">
                <a:latin typeface="Calibri"/>
                <a:cs typeface="Calibri"/>
              </a:rPr>
              <a:t>Task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task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=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new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Task(); task.setTitle(title);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925"/>
              </a:spcBef>
            </a:pPr>
            <a:r>
              <a:rPr sz="1100" i="1" spc="-10" dirty="0">
                <a:latin typeface="Calibri"/>
                <a:cs typeface="Calibri"/>
              </a:rPr>
              <a:t>task.setDescription(description);</a:t>
            </a:r>
            <a:endParaRPr sz="1100">
              <a:latin typeface="Calibri"/>
              <a:cs typeface="Calibri"/>
            </a:endParaRPr>
          </a:p>
          <a:p>
            <a:pPr marL="129539" marR="3708400">
              <a:lnSpc>
                <a:spcPct val="170000"/>
              </a:lnSpc>
              <a:spcBef>
                <a:spcPts val="15"/>
              </a:spcBef>
            </a:pPr>
            <a:r>
              <a:rPr sz="1100" i="1" spc="-10" dirty="0">
                <a:latin typeface="Calibri"/>
                <a:cs typeface="Calibri"/>
              </a:rPr>
              <a:t>task.setDeadline(deadline); task.setPriority(priority);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</a:pPr>
            <a:r>
              <a:rPr sz="1100" i="1" spc="-10" dirty="0">
                <a:latin typeface="Calibri"/>
                <a:cs typeface="Calibri"/>
              </a:rPr>
              <a:t>em.persist(task);</a:t>
            </a:r>
            <a:endParaRPr sz="1100">
              <a:latin typeface="Calibri"/>
              <a:cs typeface="Calibri"/>
            </a:endParaRPr>
          </a:p>
          <a:p>
            <a:pPr marL="129539" marR="3486785">
              <a:lnSpc>
                <a:spcPct val="170000"/>
              </a:lnSpc>
              <a:spcBef>
                <a:spcPts val="10"/>
              </a:spcBef>
            </a:pPr>
            <a:r>
              <a:rPr sz="1100" i="1" spc="-10" dirty="0">
                <a:latin typeface="Calibri"/>
                <a:cs typeface="Calibri"/>
              </a:rPr>
              <a:t>em.getTransaction().commit(); em.close();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response.sendRedirect("taskList");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spc="-140" dirty="0">
                <a:latin typeface="Calibri"/>
                <a:cs typeface="Calibri"/>
              </a:rPr>
              <a:t>//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Redirect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task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list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or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confirmation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1394460" cy="162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</a:rPr>
              <a:t>@Override</a:t>
            </a:r>
            <a:endParaRPr sz="11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930"/>
              </a:spcBef>
            </a:pPr>
            <a:r>
              <a:rPr sz="1100" i="1" dirty="0">
                <a:latin typeface="Calibri"/>
                <a:cs typeface="Calibri"/>
              </a:rPr>
              <a:t>public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void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destroy()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247015" marR="227965">
              <a:lnSpc>
                <a:spcPct val="170000"/>
              </a:lnSpc>
              <a:spcBef>
                <a:spcPts val="10"/>
              </a:spcBef>
            </a:pPr>
            <a:r>
              <a:rPr sz="1100" i="1" spc="-10" dirty="0">
                <a:latin typeface="Calibri"/>
                <a:cs typeface="Calibri"/>
              </a:rPr>
              <a:t>emf.close(); super.destroy();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935"/>
              </a:spcBef>
            </a:pP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i="1" spc="-50" dirty="0"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179191"/>
            <a:ext cx="5424170" cy="6377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 Light"/>
                <a:cs typeface="Calibri Light"/>
              </a:rPr>
              <a:t>3.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Configure</a:t>
            </a:r>
            <a:r>
              <a:rPr sz="1100" spc="-30" dirty="0">
                <a:latin typeface="Calibri Light"/>
                <a:cs typeface="Calibri Light"/>
              </a:rPr>
              <a:t> </a:t>
            </a:r>
            <a:r>
              <a:rPr sz="1100" spc="-25" dirty="0">
                <a:latin typeface="Calibri Light"/>
                <a:cs typeface="Calibri Light"/>
              </a:rPr>
              <a:t>JPA</a:t>
            </a:r>
            <a:endParaRPr sz="1100">
              <a:latin typeface="Calibri Light"/>
              <a:cs typeface="Calibri Light"/>
            </a:endParaRPr>
          </a:p>
          <a:p>
            <a:pPr marL="12700" marR="5080">
              <a:lnSpc>
                <a:spcPct val="110000"/>
              </a:lnSpc>
              <a:spcBef>
                <a:spcPts val="805"/>
              </a:spcBef>
            </a:pPr>
            <a:r>
              <a:rPr sz="1100" dirty="0">
                <a:latin typeface="Calibri Light"/>
                <a:cs typeface="Calibri Light"/>
              </a:rPr>
              <a:t>Ensure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that</a:t>
            </a:r>
            <a:r>
              <a:rPr sz="1100" spc="-1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your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spc="-25" dirty="0">
                <a:latin typeface="Calibri Light"/>
                <a:cs typeface="Calibri Light"/>
              </a:rPr>
              <a:t>JPA</a:t>
            </a:r>
            <a:r>
              <a:rPr sz="1100" spc="-10" dirty="0">
                <a:latin typeface="Calibri Light"/>
                <a:cs typeface="Calibri Light"/>
              </a:rPr>
              <a:t> configuration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is</a:t>
            </a:r>
            <a:r>
              <a:rPr sz="1100" spc="-2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set</a:t>
            </a:r>
            <a:r>
              <a:rPr sz="1100" spc="-1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up</a:t>
            </a:r>
            <a:r>
              <a:rPr sz="1100" spc="-10" dirty="0">
                <a:latin typeface="Calibri Light"/>
                <a:cs typeface="Calibri Light"/>
              </a:rPr>
              <a:t> properly.</a:t>
            </a:r>
            <a:r>
              <a:rPr sz="1100" spc="-2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This</a:t>
            </a:r>
            <a:r>
              <a:rPr sz="1100" spc="-10" dirty="0">
                <a:latin typeface="Calibri Light"/>
                <a:cs typeface="Calibri Light"/>
              </a:rPr>
              <a:t> involves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configuring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persistence.xml</a:t>
            </a:r>
            <a:r>
              <a:rPr sz="1100" spc="-5" dirty="0">
                <a:latin typeface="Calibri Light"/>
                <a:cs typeface="Calibri Light"/>
              </a:rPr>
              <a:t> </a:t>
            </a:r>
            <a:r>
              <a:rPr sz="1100" spc="-25" dirty="0">
                <a:latin typeface="Calibri Light"/>
                <a:cs typeface="Calibri Light"/>
              </a:rPr>
              <a:t>or </a:t>
            </a:r>
            <a:r>
              <a:rPr sz="1100" dirty="0">
                <a:latin typeface="Calibri Light"/>
                <a:cs typeface="Calibri Light"/>
              </a:rPr>
              <a:t>equivalent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configuration</a:t>
            </a:r>
            <a:r>
              <a:rPr sz="1100" spc="-15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in</a:t>
            </a:r>
            <a:r>
              <a:rPr sz="1100" spc="-30" dirty="0">
                <a:latin typeface="Calibri Light"/>
                <a:cs typeface="Calibri Light"/>
              </a:rPr>
              <a:t> </a:t>
            </a:r>
            <a:r>
              <a:rPr sz="1100" dirty="0">
                <a:latin typeface="Calibri Light"/>
                <a:cs typeface="Calibri Light"/>
              </a:rPr>
              <a:t>your</a:t>
            </a:r>
            <a:r>
              <a:rPr sz="1100" spc="-10" dirty="0">
                <a:latin typeface="Calibri Light"/>
                <a:cs typeface="Calibri Light"/>
              </a:rPr>
              <a:t> application.</a:t>
            </a:r>
            <a:endParaRPr sz="11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 Light"/>
                <a:cs typeface="Calibri Light"/>
              </a:rPr>
              <a:t>Example:</a:t>
            </a:r>
            <a:r>
              <a:rPr sz="1100" spc="-40" dirty="0">
                <a:latin typeface="Calibri Light"/>
                <a:cs typeface="Calibri Light"/>
              </a:rPr>
              <a:t> </a:t>
            </a:r>
            <a:r>
              <a:rPr sz="1100" spc="-10" dirty="0">
                <a:latin typeface="Calibri Light"/>
                <a:cs typeface="Calibri Light"/>
              </a:rPr>
              <a:t>persistence.xml</a:t>
            </a:r>
            <a:endParaRPr sz="1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1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&lt;persistence</a:t>
            </a:r>
            <a:r>
              <a:rPr sz="1100" i="1" spc="-10" dirty="0">
                <a:latin typeface="Calibri"/>
                <a:cs typeface="Calibri"/>
              </a:rPr>
              <a:t> xmln</a:t>
            </a:r>
            <a:r>
              <a:rPr sz="1100" i="1" spc="-10" dirty="0">
                <a:latin typeface="Calibri"/>
                <a:cs typeface="Calibri"/>
                <a:hlinkClick r:id="rId2"/>
              </a:rPr>
              <a:t>s="http://xmlns.jcp.org/xml/ns/persistence"</a:t>
            </a:r>
            <a:endParaRPr sz="1100">
              <a:latin typeface="Calibri"/>
              <a:cs typeface="Calibri"/>
            </a:endParaRPr>
          </a:p>
          <a:p>
            <a:pPr marL="393065">
              <a:lnSpc>
                <a:spcPct val="100000"/>
              </a:lnSpc>
              <a:spcBef>
                <a:spcPts val="925"/>
              </a:spcBef>
            </a:pPr>
            <a:r>
              <a:rPr sz="1100" i="1" spc="-30" dirty="0">
                <a:latin typeface="Calibri"/>
                <a:cs typeface="Calibri"/>
              </a:rPr>
              <a:t>xmlns:xsi="</a:t>
            </a:r>
            <a:r>
              <a:rPr sz="1100" i="1" spc="-30" dirty="0">
                <a:latin typeface="Calibri"/>
                <a:cs typeface="Calibri"/>
                <a:hlinkClick r:id="rId3"/>
              </a:rPr>
              <a:t>http://www.w3.org/2001/XMLSchema-</a:t>
            </a:r>
            <a:r>
              <a:rPr sz="1100" i="1" spc="-10" dirty="0">
                <a:latin typeface="Calibri"/>
                <a:cs typeface="Calibri"/>
                <a:hlinkClick r:id="rId3"/>
              </a:rPr>
              <a:t>instance"</a:t>
            </a:r>
            <a:endParaRPr sz="1100">
              <a:latin typeface="Calibri"/>
              <a:cs typeface="Calibri"/>
            </a:endParaRPr>
          </a:p>
          <a:p>
            <a:pPr marL="393065">
              <a:lnSpc>
                <a:spcPct val="100000"/>
              </a:lnSpc>
              <a:spcBef>
                <a:spcPts val="935"/>
              </a:spcBef>
            </a:pPr>
            <a:r>
              <a:rPr sz="1100" i="1" spc="-10" dirty="0">
                <a:latin typeface="Calibri"/>
                <a:cs typeface="Calibri"/>
              </a:rPr>
              <a:t>xsi:schemaLocation="</a:t>
            </a:r>
            <a:r>
              <a:rPr sz="1100" i="1" spc="-10" dirty="0">
                <a:latin typeface="Calibri"/>
                <a:cs typeface="Calibri"/>
                <a:hlinkClick r:id="rId2"/>
              </a:rPr>
              <a:t>http://xmlns.jcp.org/xml/ns/persistence</a:t>
            </a:r>
            <a:endParaRPr sz="1100">
              <a:latin typeface="Calibri"/>
              <a:cs typeface="Calibri"/>
            </a:endParaRPr>
          </a:p>
          <a:p>
            <a:pPr marL="394970" marR="996315" indent="588010">
              <a:lnSpc>
                <a:spcPts val="2260"/>
              </a:lnSpc>
              <a:spcBef>
                <a:spcPts val="215"/>
              </a:spcBef>
            </a:pPr>
            <a:r>
              <a:rPr sz="1100" i="1" spc="-10" dirty="0">
                <a:latin typeface="Calibri"/>
                <a:cs typeface="Calibri"/>
                <a:hlinkClick r:id="rId4"/>
              </a:rPr>
              <a:t>http://xmlns.jcp.org/xml/ns/persistence/persistence_2_1.xsd"</a:t>
            </a:r>
            <a:r>
              <a:rPr sz="1100" i="1" spc="-10" dirty="0">
                <a:latin typeface="Calibri"/>
                <a:cs typeface="Calibri"/>
              </a:rPr>
              <a:t> version="2.1"&gt;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690"/>
              </a:spcBef>
            </a:pPr>
            <a:r>
              <a:rPr sz="1100" i="1" spc="-10" dirty="0">
                <a:latin typeface="Calibri"/>
                <a:cs typeface="Calibri"/>
              </a:rPr>
              <a:t>&lt;persistence-</a:t>
            </a:r>
            <a:r>
              <a:rPr sz="1100" i="1" dirty="0">
                <a:latin typeface="Calibri"/>
                <a:cs typeface="Calibri"/>
              </a:rPr>
              <a:t>unit</a:t>
            </a:r>
            <a:r>
              <a:rPr sz="1100" i="1" spc="17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name="task-</a:t>
            </a:r>
            <a:r>
              <a:rPr sz="1100" i="1" spc="-35" dirty="0">
                <a:latin typeface="Calibri"/>
                <a:cs typeface="Calibri"/>
              </a:rPr>
              <a:t>manager-</a:t>
            </a:r>
            <a:r>
              <a:rPr sz="1100" i="1" spc="-20" dirty="0">
                <a:latin typeface="Calibri"/>
                <a:cs typeface="Calibri"/>
              </a:rPr>
              <a:t>pu"&gt;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925"/>
              </a:spcBef>
            </a:pPr>
            <a:r>
              <a:rPr sz="1100" i="1" spc="-10" dirty="0">
                <a:latin typeface="Calibri"/>
                <a:cs typeface="Calibri"/>
              </a:rPr>
              <a:t>&lt;provider&gt;org.hibernate.jpa.HibernatePersistenceProvider&lt;/provider&gt;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935"/>
              </a:spcBef>
            </a:pPr>
            <a:r>
              <a:rPr sz="1100" i="1" spc="-10" dirty="0">
                <a:latin typeface="Calibri"/>
                <a:cs typeface="Calibri"/>
              </a:rPr>
              <a:t>&lt;class&gt;com.example.Task&lt;/class&gt;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925"/>
              </a:spcBef>
            </a:pPr>
            <a:r>
              <a:rPr sz="1100" i="1" spc="-10" dirty="0">
                <a:latin typeface="Calibri"/>
                <a:cs typeface="Calibri"/>
              </a:rPr>
              <a:t>&lt;properties&gt;</a:t>
            </a:r>
            <a:endParaRPr sz="1100">
              <a:latin typeface="Calibri"/>
              <a:cs typeface="Calibri"/>
            </a:endParaRPr>
          </a:p>
          <a:p>
            <a:pPr marL="659765" marR="2319655" indent="-295910">
              <a:lnSpc>
                <a:spcPct val="170000"/>
              </a:lnSpc>
              <a:spcBef>
                <a:spcPts val="10"/>
              </a:spcBef>
            </a:pPr>
            <a:r>
              <a:rPr sz="1100" i="1" dirty="0">
                <a:latin typeface="Calibri"/>
                <a:cs typeface="Calibri"/>
              </a:rPr>
              <a:t>&lt;property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name="javax.persistence.jdbc.driver" value="org.postgresql.Driver"/&gt;</a:t>
            </a:r>
            <a:endParaRPr sz="1100">
              <a:latin typeface="Calibri"/>
              <a:cs typeface="Calibri"/>
            </a:endParaRPr>
          </a:p>
          <a:p>
            <a:pPr marL="659765" marR="1950085" indent="-295910">
              <a:lnSpc>
                <a:spcPts val="2260"/>
              </a:lnSpc>
              <a:spcBef>
                <a:spcPts val="219"/>
              </a:spcBef>
            </a:pPr>
            <a:r>
              <a:rPr sz="1100" i="1" dirty="0">
                <a:latin typeface="Calibri"/>
                <a:cs typeface="Calibri"/>
              </a:rPr>
              <a:t>&lt;property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name="javax.persistence.jdbc.url" </a:t>
            </a:r>
            <a:r>
              <a:rPr sz="1100" i="1" spc="-20" dirty="0">
                <a:latin typeface="Calibri"/>
                <a:cs typeface="Calibri"/>
              </a:rPr>
              <a:t>value="jdbc:postgresql://localhost:5432/taskdb"/&gt;</a:t>
            </a:r>
            <a:endParaRPr sz="1100">
              <a:latin typeface="Calibri"/>
              <a:cs typeface="Calibri"/>
            </a:endParaRPr>
          </a:p>
          <a:p>
            <a:pPr marL="364490">
              <a:lnSpc>
                <a:spcPct val="100000"/>
              </a:lnSpc>
              <a:spcBef>
                <a:spcPts val="690"/>
              </a:spcBef>
            </a:pPr>
            <a:r>
              <a:rPr sz="1100" i="1" dirty="0">
                <a:latin typeface="Calibri"/>
                <a:cs typeface="Calibri"/>
              </a:rPr>
              <a:t>&lt;property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name="javax.persistence.jdbc.user"</a:t>
            </a:r>
            <a:endParaRPr sz="1100">
              <a:latin typeface="Calibri"/>
              <a:cs typeface="Calibri"/>
            </a:endParaRPr>
          </a:p>
          <a:p>
            <a:pPr marL="659765">
              <a:lnSpc>
                <a:spcPct val="100000"/>
              </a:lnSpc>
              <a:spcBef>
                <a:spcPts val="935"/>
              </a:spcBef>
            </a:pPr>
            <a:r>
              <a:rPr sz="1100" i="1" spc="-10" dirty="0">
                <a:latin typeface="Calibri"/>
                <a:cs typeface="Calibri"/>
              </a:rPr>
              <a:t>value="dbuser"/&gt;</a:t>
            </a:r>
            <a:endParaRPr sz="1100">
              <a:latin typeface="Calibri"/>
              <a:cs typeface="Calibri"/>
            </a:endParaRPr>
          </a:p>
          <a:p>
            <a:pPr marL="659765" marR="2107565" indent="-295910">
              <a:lnSpc>
                <a:spcPts val="2260"/>
              </a:lnSpc>
              <a:spcBef>
                <a:spcPts val="215"/>
              </a:spcBef>
            </a:pPr>
            <a:r>
              <a:rPr sz="1100" i="1" dirty="0">
                <a:latin typeface="Calibri"/>
                <a:cs typeface="Calibri"/>
              </a:rPr>
              <a:t>&lt;property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name="javax.persistence.jdbc.password" value="dbpassword"/&gt;</a:t>
            </a:r>
            <a:endParaRPr sz="1100">
              <a:latin typeface="Calibri"/>
              <a:cs typeface="Calibri"/>
            </a:endParaRPr>
          </a:p>
          <a:p>
            <a:pPr marL="364490">
              <a:lnSpc>
                <a:spcPct val="100000"/>
              </a:lnSpc>
              <a:spcBef>
                <a:spcPts val="690"/>
              </a:spcBef>
            </a:pPr>
            <a:r>
              <a:rPr sz="1100" i="1" dirty="0">
                <a:latin typeface="Calibri"/>
                <a:cs typeface="Calibri"/>
              </a:rPr>
              <a:t>&lt;property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name="hibernate.dialect"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3533775" cy="162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sz="1100" i="1" spc="-10" dirty="0">
                <a:latin typeface="Calibri"/>
                <a:cs typeface="Calibri"/>
              </a:rPr>
              <a:t>value="org.hibernate.dialect.PostgreSQLDialect"/&gt;</a:t>
            </a:r>
            <a:endParaRPr sz="1100">
              <a:latin typeface="Calibri"/>
              <a:cs typeface="Calibri"/>
            </a:endParaRPr>
          </a:p>
          <a:p>
            <a:pPr marL="659765" marR="669290" indent="-295910">
              <a:lnSpc>
                <a:spcPts val="2260"/>
              </a:lnSpc>
              <a:spcBef>
                <a:spcPts val="220"/>
              </a:spcBef>
            </a:pPr>
            <a:r>
              <a:rPr sz="1100" i="1" dirty="0">
                <a:latin typeface="Calibri"/>
                <a:cs typeface="Calibri"/>
              </a:rPr>
              <a:t>&lt;property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name="hibernate.hbm2ddl.auto" value="update"/&gt;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ct val="100000"/>
              </a:lnSpc>
              <a:spcBef>
                <a:spcPts val="690"/>
              </a:spcBef>
            </a:pPr>
            <a:r>
              <a:rPr sz="1100" i="1" spc="-10" dirty="0">
                <a:latin typeface="Calibri"/>
                <a:cs typeface="Calibri"/>
              </a:rPr>
              <a:t>&lt;/properties&gt;</a:t>
            </a:r>
            <a:endParaRPr sz="11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935"/>
              </a:spcBef>
            </a:pPr>
            <a:r>
              <a:rPr sz="1100" i="1" spc="-20" dirty="0">
                <a:latin typeface="Calibri"/>
                <a:cs typeface="Calibri"/>
              </a:rPr>
              <a:t>&lt;/persistence-</a:t>
            </a:r>
            <a:r>
              <a:rPr sz="1100" i="1" spc="-10" dirty="0">
                <a:latin typeface="Calibri"/>
                <a:cs typeface="Calibri"/>
              </a:rPr>
              <a:t>unit&gt;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i="1" spc="-10" dirty="0">
                <a:latin typeface="Calibri"/>
                <a:cs typeface="Calibri"/>
              </a:rPr>
              <a:t>&lt;/persistence&gt;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197" y="2937264"/>
            <a:ext cx="5676924" cy="329616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972</Words>
  <Application>Microsoft Office PowerPoint</Application>
  <PresentationFormat>Custom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Carlito</vt:lpstr>
      <vt:lpstr>Century Gothic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2025-10-31T05:16:00Z</dcterms:created>
  <dcterms:modified xsi:type="dcterms:W3CDTF">2025-11-03T18:44:42Z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