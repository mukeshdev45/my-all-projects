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3"/>
    <p:sldId id="272" r:id="rId4"/>
    <p:sldId id="257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DD31F-1AE6-42C5-AE68-864F455A86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3D6CB-72C8-44A3-95F0-9FE201E55FA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openjdk.org/" TargetMode="External"/><Relationship Id="rId1" Type="http://schemas.openxmlformats.org/officeDocument/2006/relationships/hyperlink" Target="https://www.oracle.com/java/technologies/downloads/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netbeans.apache.org/" TargetMode="External"/><Relationship Id="rId2" Type="http://schemas.openxmlformats.org/officeDocument/2006/relationships/hyperlink" Target="https://www.jetbrains.com/idea/" TargetMode="External"/><Relationship Id="rId1" Type="http://schemas.openxmlformats.org/officeDocument/2006/relationships/hyperlink" Target="https://www.eclipse.or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-scm.c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0"/>
            <a:ext cx="9601196" cy="1303867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Shree Ramswaroop Memorial University</a:t>
            </a:r>
            <a:endParaRPr lang="en-IN" b="1" u="sng" dirty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49" y="1177413"/>
            <a:ext cx="1943100" cy="1828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TextBox 9"/>
          <p:cNvSpPr txBox="1"/>
          <p:nvPr/>
        </p:nvSpPr>
        <p:spPr>
          <a:xfrm>
            <a:off x="5557066" y="3813854"/>
            <a:ext cx="1726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2024-25</a:t>
            </a:r>
            <a:endParaRPr lang="en-IN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42452" y="4958218"/>
            <a:ext cx="6110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Submitted to </a:t>
            </a:r>
            <a:r>
              <a:rPr lang="en-IN" sz="3200" dirty="0">
                <a:solidFill>
                  <a:srgbClr val="002060"/>
                </a:solidFill>
              </a:rPr>
              <a:t>:</a:t>
            </a:r>
            <a:r>
              <a:rPr lang="en-IN" sz="3200" dirty="0"/>
              <a:t> </a:t>
            </a:r>
            <a:r>
              <a:rPr lang="en-IN" sz="2400" b="1" dirty="0"/>
              <a:t>Mr . Shiv Hari Tiwari</a:t>
            </a:r>
            <a:endParaRPr lang="en-IN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851238" y="4822191"/>
            <a:ext cx="52522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Submitted By </a:t>
            </a:r>
            <a:r>
              <a:rPr lang="en-IN" sz="2800" dirty="0">
                <a:solidFill>
                  <a:srgbClr val="002060"/>
                </a:solidFill>
              </a:rPr>
              <a:t>:</a:t>
            </a:r>
            <a:r>
              <a:rPr lang="en-IN" dirty="0"/>
              <a:t> 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Mukesh Prajapati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sz="2400" b="1" dirty="0">
                <a:solidFill>
                  <a:srgbClr val="002060"/>
                </a:solidFill>
              </a:rPr>
              <a:t>Branch</a:t>
            </a:r>
            <a:r>
              <a:rPr lang="en-IN" dirty="0"/>
              <a:t>                </a:t>
            </a:r>
            <a:r>
              <a:rPr lang="en-IN" sz="2400" b="1" dirty="0">
                <a:solidFill>
                  <a:srgbClr val="002060"/>
                </a:solidFill>
              </a:rPr>
              <a:t>: </a:t>
            </a:r>
            <a:r>
              <a:rPr lang="en-IN" dirty="0"/>
              <a:t>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 . tech (cs industry integrated)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sz="2400" b="1" dirty="0">
                <a:solidFill>
                  <a:srgbClr val="002060"/>
                </a:solidFill>
              </a:rPr>
              <a:t>Roll-No  </a:t>
            </a:r>
            <a:r>
              <a:rPr lang="en-IN" dirty="0"/>
              <a:t>            </a:t>
            </a:r>
            <a:r>
              <a:rPr lang="en-IN" sz="2400" b="1">
                <a:solidFill>
                  <a:srgbClr val="002060"/>
                </a:solidFill>
              </a:rPr>
              <a:t>:  </a:t>
            </a:r>
            <a:r>
              <a:rPr lang="en-IN" b="1"/>
              <a:t> 202410101230007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29197" y="3258744"/>
            <a:ext cx="2467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Assignment 1</a:t>
            </a:r>
            <a:endParaRPr lang="en-IN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387" y="1033877"/>
            <a:ext cx="10127225" cy="95224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QUESTION .1 </a:t>
            </a:r>
            <a:r>
              <a:rPr lang="en-US" sz="2400" b="1" dirty="0"/>
              <a:t>    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Explain the concept of object-oriented programming (OOP) in Java and the key features of Java that contribute to its robustness.</a:t>
            </a:r>
            <a:endParaRPr lang="en-IN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3729" y="2186775"/>
            <a:ext cx="10127225" cy="1047618"/>
          </a:xfrm>
        </p:spPr>
        <p:txBody>
          <a:bodyPr>
            <a:normAutofit/>
          </a:bodyPr>
          <a:lstStyle/>
          <a:p>
            <a:r>
              <a:rPr lang="en-US" sz="1800" u="sng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ANSWER</a:t>
            </a:r>
            <a:r>
              <a:rPr lang="en-US" sz="180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-- 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Object-Oriented Programming (OOP) is a programming paradigm based on the concept of objects, which are instances of classes. In Java, OOP focuses on organizing software design around objects, which combine data (fields) and behavior (methods</a:t>
            </a:r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).</a:t>
            </a:r>
            <a:endParaRPr lang="en-US" sz="1400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Segoe UI Variable Text" pitchFamily="2" charset="0"/>
            </a:endParaRPr>
          </a:p>
          <a:p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4449810" y="109283"/>
            <a:ext cx="4439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rgbClr val="22366A"/>
                </a:solidFill>
                <a:effectLst/>
                <a:latin typeface="PublicSans-Bold"/>
              </a:rPr>
              <a:t>Assignment 1</a:t>
            </a:r>
            <a:endParaRPr lang="en-IN" sz="3600" b="1" u="sng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347018" y="3295325"/>
            <a:ext cx="10490480" cy="27699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The four fundamental principles of OOP in Java are: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Encapsulation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Bundling the data (fields) and methods that operate on the data into a single unit (class) and restricting direct access to some components using access modifiers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ui-monospace"/>
              </a:rPr>
              <a:t>private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ui-monospace"/>
              </a:rPr>
              <a:t>protected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ui-monospace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Segoe UI Variable Text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Example: Using getters and setters to control access to fields.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Inheritance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: Allowing a new class (subclass) to inherit the properties and methods of an existing class (superclass). This promotes code reuse and establishes a hierarchy.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717426" y="5511316"/>
            <a:ext cx="4874832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Example: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ui-monospace"/>
              </a:rPr>
              <a:t>Car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 class inheriting from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ui-monospace"/>
              </a:rPr>
              <a:t>Vehicle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 class.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63560" y="0"/>
            <a:ext cx="10068233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Polymorphism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: 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Enabling objects to take on multiple forms. It allows a single interface or method to operate differently based on the context, typically achieved through method overloading (compile-time) and overriding (runtime).</a:t>
            </a: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Example: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ui-monospace"/>
              </a:rPr>
              <a:t>Shape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 class can have subclasses like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ui-monospace"/>
              </a:rPr>
              <a:t>Circle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 and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ui-monospace"/>
              </a:rPr>
              <a:t>Square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, each implementing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ui-monospace"/>
              </a:rPr>
              <a:t>draw()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 method differently.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Segoe UI Variable Text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Abstraction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Hiding complex implementation details and exposing only the necessary functionality through abstract classes or interfaces.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Example: Defining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Payment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interface with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process Payment()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method without specifying how the payment is processed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3676" y="2887682"/>
            <a:ext cx="106679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Key Features of Java that Contribute to its Robustness.</a:t>
            </a:r>
            <a:endParaRPr lang="en-US" b="1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algn="l"/>
            <a:endParaRPr lang="en-US" b="1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Strong Typing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 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Java is statically typed, meaning type checking is done at compile-time, reducing errors caused by incorrect data types.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Automatic Memory Management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 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Java uses a built-in </a:t>
            </a: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garbage collector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to manage memory, automatically reclaiming memory from objects no longer in use and reducing memory leaks.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egoe UI Variable Text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Exception Handling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 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Java provides a powerful exception-handling mechanism to manage runtime errors gracefully. Checked exceptions ensure that errors are handled or explicitly declared.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Platform Independence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 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Java compiles code into </a:t>
            </a: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bytecode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that runs on the Java Virtual Machine (JVM), making it portable across platforms.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9613"/>
            <a:ext cx="10515600" cy="809420"/>
          </a:xfrm>
        </p:spPr>
        <p:txBody>
          <a:bodyPr>
            <a:noAutofit/>
          </a:bodyPr>
          <a:lstStyle/>
          <a:p>
            <a:r>
              <a:rPr lang="en-US" sz="2000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Thread Management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: Java has built-in support for multithreading, which allows the execution of multiple threads concurrently, making it suitable for robust and responsive applications.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</a:br>
            <a:endParaRPr lang="en-I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535132"/>
            <a:ext cx="110686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PublicSans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/>
                <a:latin typeface="Calibri Light" panose="020F0302020204030204" charset="0"/>
                <a:cs typeface="Calibri Light" panose="020F0302020204030204" charset="0"/>
              </a:rPr>
              <a:t>QUESTION .2</a:t>
            </a:r>
            <a:r>
              <a:rPr lang="en-US" sz="2400" dirty="0">
                <a:solidFill>
                  <a:srgbClr val="000000"/>
                </a:solidFill>
                <a:effectLst/>
                <a:latin typeface="Calibri Light" panose="020F0302020204030204" charset="0"/>
                <a:cs typeface="Calibri Light" panose="020F0302020204030204" charset="0"/>
              </a:rPr>
              <a:t>    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 Light" panose="020F0302020204030204" charset="0"/>
                <a:cs typeface="Calibri Light" panose="020F0302020204030204" charset="0"/>
              </a:rPr>
              <a:t>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 Light" panose="020F0302020204030204" charset="0"/>
                <a:cs typeface="Calibri Light" panose="020F0302020204030204" charset="0"/>
              </a:rPr>
              <a:t>List and briefly explain the steps in setting up a Java development environment.</a:t>
            </a:r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2387" y="2366129"/>
            <a:ext cx="104713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</a:t>
            </a:r>
            <a:r>
              <a:rPr lang="en-US" i="0" u="sng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ANSWER --</a:t>
            </a: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1</a:t>
            </a:r>
            <a:r>
              <a:rPr lang="en-US" b="1" i="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. Download and Install the Java Development Kit (JDK)</a:t>
            </a:r>
            <a:endParaRPr lang="en-US" b="1" i="0" u="sng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Why: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The JDK provides the tools and libraries required to develop and execute Java applications.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Steps: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Visit the </a:t>
            </a:r>
            <a:r>
              <a:rPr lang="en-US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  <a:hlinkClick r:id="rId1"/>
              </a:rPr>
              <a:t>Oracle JDK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or an open-source alternative like </a:t>
            </a:r>
            <a:r>
              <a:rPr lang="en-US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  <a:hlinkClick r:id="rId2"/>
              </a:rPr>
              <a:t>OpenJDK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Download the appropriate version for your operating system.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Install the JDK by following the installation prompts.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</p:txBody>
      </p:sp>
      <p:sp>
        <p:nvSpPr>
          <p:cNvPr id="28" name="Rectangle 20"/>
          <p:cNvSpPr>
            <a:spLocks noChangeArrowheads="1"/>
          </p:cNvSpPr>
          <p:nvPr/>
        </p:nvSpPr>
        <p:spPr bwMode="auto">
          <a:xfrm>
            <a:off x="1032387" y="4160523"/>
            <a:ext cx="9822426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2.Set up environment variable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What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Configure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JAVA_HOME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(points to the JDK installation directory) and add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bin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directory to the system PATH.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How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On Windows: Go to "System Properties &gt; Environment Variables."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On macOS/Linux: Edit your shell configuration file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Why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This ensures you can run Java commands from any location.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19432" y="205739"/>
            <a:ext cx="112382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3</a:t>
            </a: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. </a:t>
            </a:r>
            <a:r>
              <a:rPr lang="en-US" b="1" i="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Install an Integrated Development Environment (IDE)</a:t>
            </a:r>
            <a:endParaRPr lang="en-US" b="1" i="0" u="sng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What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An IDE simplifies Java development with features like code completion, debugging, and project management.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Options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Popular choices: </a:t>
            </a:r>
            <a:r>
              <a:rPr lang="en-US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  <a:hlinkClick r:id="rId1"/>
              </a:rPr>
              <a:t>Eclipse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, </a:t>
            </a:r>
            <a:r>
              <a:rPr lang="en-US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  <a:hlinkClick r:id="rId2"/>
              </a:rPr>
              <a:t>IntelliJ IDEA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, or </a:t>
            </a:r>
            <a:r>
              <a:rPr lang="en-US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  <a:hlinkClick r:id="rId3"/>
              </a:rPr>
              <a:t>NetBeans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Install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Download and follow the instructions for your chosen IDE.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/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4.</a:t>
            </a:r>
            <a:r>
              <a:rPr lang="en-US" b="1" i="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Configure the IDE</a:t>
            </a:r>
            <a:endParaRPr lang="en-US" b="1" i="0" u="sng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What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Set the JDK path in your IDE to ensure it uses the installed JDK.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How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For example, in IntelliJ IDEA, go to "File &gt; Project Structure &gt; SDKs" and select the installed JDK directory.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9097" y="3622059"/>
            <a:ext cx="109138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5. </a:t>
            </a:r>
            <a:r>
              <a:rPr lang="en-US" b="1" i="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Install Build Tools (Optional)</a:t>
            </a:r>
            <a:endParaRPr lang="en-US" b="1" i="0" u="sng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What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Tools like Maven or Gradle automate project builds, dependency management, and testing.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Why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Useful for large or complex projects.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How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Download and install from their official websites, and configure them in your IDE or PATH.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88860" y="556421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17754" y="5010213"/>
            <a:ext cx="9792605" cy="1661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.Test your setup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Create a Program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Write a simple Java program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HelloWorld.java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Compile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Run 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java c )HelloWorld.java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in the terminal.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Run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Execute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java HelloWorld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Verify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Ensure the output is correct.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7418" y="134713"/>
            <a:ext cx="11238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7</a:t>
            </a: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. </a:t>
            </a:r>
            <a:r>
              <a:rPr lang="en-US" b="1" i="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Install Version Control Software (Optional</a:t>
            </a: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)</a:t>
            </a:r>
            <a:endParaRPr lang="en-US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What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Tools like Git manage your source code versions and collaborate with others.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How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: Install Git from </a:t>
            </a:r>
            <a:r>
              <a:rPr lang="en-US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  <a:hlinkClick r:id="rId1"/>
              </a:rPr>
              <a:t>git-scm.com</a:t>
            </a: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and configure it in your IDE.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algn="l"/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Following these steps will provide a solid foundation for Java development!</a:t>
            </a:r>
            <a:endParaRPr 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7811" y="1937859"/>
            <a:ext cx="10667999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effectLst/>
                <a:latin typeface="PublicSans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Calibri Light" panose="020F0302020204030204" charset="0"/>
                <a:cs typeface="Calibri Light" panose="020F0302020204030204" charset="0"/>
              </a:rPr>
              <a:t>Question .3  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alibri Light" panose="020F0302020204030204" charset="0"/>
                <a:cs typeface="Calibri Light" panose="020F0302020204030204" charset="0"/>
              </a:rPr>
              <a:t>How can you prevent an infinite loop in a while loop or a for loop?</a:t>
            </a:r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11161" y="2540676"/>
            <a:ext cx="10569677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 </a:t>
            </a: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Segoe UI Variable Text" pitchFamily="2" charset="0"/>
              </a:rPr>
              <a:t>ANSWER --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Preventing infinite loops in programming is crucial for creating reliable and efficient code. Here are some strategies to ensure that your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while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or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loops terminate as expected: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963561" y="3441457"/>
            <a:ext cx="10569677" cy="12281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19025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 proper exit condition: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Ensure that the loop's exit condition is achievable and will eventually be met.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Example (for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while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loop):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2051" y="4505939"/>
            <a:ext cx="92128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counter = 0;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while (counter &lt; 5) {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System.out.println</a:t>
            </a: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("Counter: " + counter);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counter++; // Increment to meet the exit condition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43897" y="-76944"/>
            <a:ext cx="34806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.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 Example (for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for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loop):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3897" y="446276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(int  </a:t>
            </a:r>
            <a:r>
              <a:rPr lang="en-IN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0;  </a:t>
            </a:r>
            <a:r>
              <a:rPr lang="en-IN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&lt; 5; I ++) {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System.out.println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("i: " + </a:t>
            </a:r>
            <a:r>
              <a:rPr lang="en-IN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);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43897" y="1323440"/>
            <a:ext cx="8012450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You can use a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break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 statement to exit a loop if certain conditions are met.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egoe UI Variable Text" pitchFamily="2" charset="0"/>
              </a:rPr>
              <a:t>Example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while (true) { // Potential infinite loop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System.out.println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("Running");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   if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someCondition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()) {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       break; // Exit the loop when condition is true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   }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}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65239" y="216761"/>
            <a:ext cx="102058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Segoe UI Variable Text" pitchFamily="2" charset="0"/>
              </a:rPr>
              <a:t>Question .4</a:t>
            </a:r>
            <a:r>
              <a:rPr lang="en-US" sz="2400" i="0" dirty="0">
                <a:solidFill>
                  <a:schemeClr val="accent1">
                    <a:lumMod val="75000"/>
                  </a:schemeClr>
                </a:solidFill>
                <a:effectLst/>
                <a:latin typeface="Segoe UI Variable Text" pitchFamily="2" charset="0"/>
              </a:rPr>
              <a:t>  </a:t>
            </a:r>
            <a:r>
              <a:rPr lang="en-US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Write a Java program that prompts the user for their age and determines if they are eligible to vote (age 18 or older).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7251" y="1931880"/>
            <a:ext cx="1151357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import </a:t>
            </a:r>
            <a:r>
              <a:rPr lang="en-US" sz="1400" b="0" i="0" dirty="0" err="1">
                <a:solidFill>
                  <a:srgbClr val="0D0D0D"/>
                </a:solidFill>
                <a:effectLst/>
                <a:latin typeface="Segoe UI Variable Text" pitchFamily="2" charset="0"/>
              </a:rPr>
              <a:t>java.util.Scann</a:t>
            </a:r>
            <a:r>
              <a:rPr lang="en-US" sz="1400" dirty="0" err="1">
                <a:solidFill>
                  <a:srgbClr val="0D0D0D"/>
                </a:solidFill>
                <a:latin typeface="Segoe UI Variable Text" pitchFamily="2" charset="0"/>
              </a:rPr>
              <a:t>er</a:t>
            </a:r>
            <a:r>
              <a:rPr lang="en-US" sz="1400" dirty="0">
                <a:solidFill>
                  <a:srgbClr val="0D0D0D"/>
                </a:solidFill>
                <a:latin typeface="Segoe UI Variable Text" pitchFamily="2" charset="0"/>
              </a:rPr>
              <a:t>;</a:t>
            </a:r>
            <a:endParaRPr lang="en-US" sz="1400" dirty="0">
              <a:solidFill>
                <a:srgbClr val="0D0D0D"/>
              </a:solidFill>
              <a:latin typeface="Segoe UI Variable Text" pitchFamily="2" charset="0"/>
            </a:endParaRPr>
          </a:p>
          <a:p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public class </a:t>
            </a:r>
            <a:r>
              <a:rPr lang="en-US" sz="1400" b="0" i="0" dirty="0" err="1">
                <a:solidFill>
                  <a:srgbClr val="0D0D0D"/>
                </a:solidFill>
                <a:effectLst/>
                <a:latin typeface="Segoe UI Variable Text" pitchFamily="2" charset="0"/>
              </a:rPr>
              <a:t>VotingEligibility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{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public static void main(String[] </a:t>
            </a:r>
            <a:r>
              <a:rPr lang="en-US" sz="1400" b="0" i="0" dirty="0" err="1">
                <a:solidFill>
                  <a:srgbClr val="0D0D0D"/>
                </a:solidFill>
                <a:effectLst/>
                <a:latin typeface="Segoe UI Variable Text" pitchFamily="2" charset="0"/>
              </a:rPr>
              <a:t>args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) {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// Create a Scanner object to get input from the user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Scanner </a:t>
            </a:r>
            <a:r>
              <a:rPr lang="en-US" sz="1400" b="0" i="0" dirty="0" err="1">
                <a:solidFill>
                  <a:srgbClr val="0D0D0D"/>
                </a:solidFill>
                <a:effectLst/>
                <a:latin typeface="Segoe UI Variable Text" pitchFamily="2" charset="0"/>
              </a:rPr>
              <a:t>scanner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= new Scanner(System.in);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// Prompt the user for their age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</a:t>
            </a:r>
            <a:r>
              <a:rPr lang="en-US" sz="1400" b="0" i="0" dirty="0" err="1">
                <a:solidFill>
                  <a:srgbClr val="0D0D0D"/>
                </a:solidFill>
                <a:effectLst/>
                <a:latin typeface="Segoe UI Variable Text" pitchFamily="2" charset="0"/>
              </a:rPr>
              <a:t>System.out.print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("Enter your age: ");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int age = </a:t>
            </a:r>
            <a:r>
              <a:rPr lang="en-US" sz="1400" b="0" i="0" dirty="0" err="1">
                <a:solidFill>
                  <a:srgbClr val="0D0D0D"/>
                </a:solidFill>
                <a:effectLst/>
                <a:latin typeface="Segoe UI Variable Text" pitchFamily="2" charset="0"/>
              </a:rPr>
              <a:t>scanner.nextInt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();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// Check if the user is eligible to vote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if (age &gt;= 18) {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    </a:t>
            </a:r>
            <a:r>
              <a:rPr lang="en-US" sz="1400" b="0" i="0" dirty="0" err="1">
                <a:solidFill>
                  <a:srgbClr val="0D0D0D"/>
                </a:solidFill>
                <a:effectLst/>
                <a:latin typeface="Segoe UI Variable Text" pitchFamily="2" charset="0"/>
              </a:rPr>
              <a:t>System.out.println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("You are eligible to vote.");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} else {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    </a:t>
            </a:r>
            <a:r>
              <a:rPr lang="en-US" sz="1400" b="0" i="0" dirty="0" err="1">
                <a:solidFill>
                  <a:srgbClr val="0D0D0D"/>
                </a:solidFill>
                <a:effectLst/>
                <a:latin typeface="Segoe UI Variable Text" pitchFamily="2" charset="0"/>
              </a:rPr>
              <a:t>System.out.println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("You are not eligible to vote.");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}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// Close the scanner to avoid resource leaks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    </a:t>
            </a:r>
            <a:r>
              <a:rPr lang="en-US" sz="1400" b="0" i="0" dirty="0" err="1">
                <a:solidFill>
                  <a:srgbClr val="0D0D0D"/>
                </a:solidFill>
                <a:effectLst/>
                <a:latin typeface="Segoe UI Variable Text" pitchFamily="2" charset="0"/>
              </a:rPr>
              <a:t>scanner.close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();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  }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sz="1400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}</a:t>
            </a:r>
            <a:endParaRPr lang="en-US" sz="1400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5239" y="1135875"/>
            <a:ext cx="10070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</a:t>
            </a: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Segoe UI Variable Text" pitchFamily="2" charset="0"/>
              </a:rPr>
              <a:t>Answer--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Here's a simple Java program to prompt the user for their age and determine if they are eligible to vote: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11276" y="109454"/>
            <a:ext cx="107171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Question .5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Write a Java program to find the largest element in an array of integers.</a:t>
            </a:r>
            <a:endParaRPr lang="en-IN" sz="2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1276" y="1064079"/>
            <a:ext cx="1116944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import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java.util.Scanner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;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public class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LargestElementInArray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{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public static void main(String[]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args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) {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Scanner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scanner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= new Scanner(System.in);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// Input the size of the array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System.out.print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("Enter the number of elements in the array: ");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int n =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scanner.nextInt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();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// Declare the array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int[] numbers = new int[n];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// Input the array elements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System.out.println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("Enter the elements of the array:");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for (int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= 0;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&lt; n;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++) {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    numbers[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] =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scanner.nextInt</a:t>
            </a: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();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        }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662204"/>
            <a:ext cx="1037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Answer—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Here is the code for to find largest element in array: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58761" y="-307514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       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// Find the largest element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    int largest = numbers[0]; // Assume first element is largest initially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    for (int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= 1;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&lt;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</a:rPr>
              <a:t>numbers.length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;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++) {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        if (numbers[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] &gt; largest) {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            largest = numbers[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];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        }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    }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    // Output the largest element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   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</a:rPr>
              <a:t>System.out.println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("The largest element in the array is: " + largest);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   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</a:rPr>
              <a:t>scanner.close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();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    }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}</a:t>
            </a:r>
            <a:endParaRPr lang="en-I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761" y="4902508"/>
            <a:ext cx="11169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Arial Black" panose="020B0A04020102020204" pitchFamily="34" charset="0"/>
              </a:rPr>
              <a:t>Explanation:</a:t>
            </a:r>
            <a:endParaRPr lang="en-US" b="1" i="0" dirty="0">
              <a:solidFill>
                <a:srgbClr val="0D0D0D"/>
              </a:solidFill>
              <a:effectLst/>
              <a:latin typeface="Arial Black" panose="020B0A040201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Input the Array Size</a:t>
            </a: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: The user inputs the number of elements in the array.</a:t>
            </a:r>
            <a:endParaRPr lang="en-US" b="0" i="0" dirty="0"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Input the Elements</a:t>
            </a: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: The program reads the array elements.</a:t>
            </a:r>
            <a:endParaRPr lang="en-US" b="0" i="0" dirty="0"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Find the Largest Element</a:t>
            </a: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: A loop iterates through the array to find the maximum value.</a:t>
            </a:r>
            <a:endParaRPr lang="en-US" b="0" i="0" dirty="0"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Output the Result</a:t>
            </a:r>
            <a:r>
              <a:rPr 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: The largest element is displayed.</a:t>
            </a:r>
            <a:endParaRPr lang="en-US" b="0" i="0" dirty="0"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65239" y="84702"/>
            <a:ext cx="955695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Enter the number of elements in the array: 5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Enter the elements of the array: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largest element in the array is: 25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5522" y="2872318"/>
            <a:ext cx="10436943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PublicSans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/>
                <a:latin typeface="Calibri Light" panose="020F0302020204030204" charset="0"/>
                <a:cs typeface="Calibri Light" panose="020F0302020204030204" charset="0"/>
              </a:rPr>
              <a:t>Question.6    </a:t>
            </a:r>
            <a:r>
              <a:rPr lang="en-US" sz="2400" dirty="0">
                <a:solidFill>
                  <a:srgbClr val="000000"/>
                </a:solidFill>
                <a:effectLst/>
                <a:latin typeface="Calibri Light" panose="020F0302020204030204" charset="0"/>
                <a:cs typeface="Calibri Light" panose="020F0302020204030204" charset="0"/>
              </a:rPr>
              <a:t>Create a Java program that reads a string from the user and checks if it is a palindrome.</a:t>
            </a:r>
            <a:endParaRPr lang="en-IN" sz="240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7921" y="4012861"/>
            <a:ext cx="11287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</a:t>
            </a:r>
            <a:r>
              <a:rPr lang="en-US" b="1" i="0" u="sng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 Variable Text" pitchFamily="2" charset="0"/>
              </a:rPr>
              <a:t>Answer--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  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 Variable Text" pitchFamily="2" charset="0"/>
              </a:rPr>
              <a:t>Here's a simple Java program that checks if a string entered by the user is a palindrome: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5239" y="482808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chemeClr val="bg2">
                    <a:lumMod val="25000"/>
                  </a:schemeClr>
                </a:solidFill>
                <a:effectLst/>
              </a:rPr>
              <a:t>import </a:t>
            </a:r>
            <a:r>
              <a:rPr lang="en-IN" sz="2000" b="0" i="0" dirty="0" err="1">
                <a:solidFill>
                  <a:schemeClr val="bg2">
                    <a:lumMod val="25000"/>
                  </a:schemeClr>
                </a:solidFill>
                <a:effectLst/>
              </a:rPr>
              <a:t>java.util.Scanner</a:t>
            </a:r>
            <a:r>
              <a:rPr lang="en-IN" sz="2000" b="0" i="0" dirty="0">
                <a:solidFill>
                  <a:schemeClr val="bg2">
                    <a:lumMod val="25000"/>
                  </a:schemeClr>
                </a:solidFill>
                <a:effectLst/>
              </a:rPr>
              <a:t>;</a:t>
            </a:r>
            <a:endParaRPr lang="en-IN" sz="2000" b="0" i="0" dirty="0">
              <a:solidFill>
                <a:schemeClr val="bg2">
                  <a:lumMod val="25000"/>
                </a:schemeClr>
              </a:solidFill>
              <a:effectLst/>
            </a:endParaRPr>
          </a:p>
          <a:p>
            <a:r>
              <a:rPr lang="en-IN" sz="2000" b="0" i="0" dirty="0">
                <a:solidFill>
                  <a:schemeClr val="bg2">
                    <a:lumMod val="25000"/>
                  </a:schemeClr>
                </a:solidFill>
                <a:effectLst/>
              </a:rPr>
              <a:t> public class </a:t>
            </a:r>
            <a:r>
              <a:rPr lang="en-IN" sz="2000" b="0" i="0" dirty="0" err="1">
                <a:solidFill>
                  <a:schemeClr val="bg2">
                    <a:lumMod val="25000"/>
                  </a:schemeClr>
                </a:solidFill>
                <a:effectLst/>
              </a:rPr>
              <a:t>PalindromeChecker</a:t>
            </a:r>
            <a:r>
              <a:rPr lang="en-IN" sz="2000" b="0" i="0" dirty="0">
                <a:solidFill>
                  <a:schemeClr val="bg2">
                    <a:lumMod val="25000"/>
                  </a:schemeClr>
                </a:solidFill>
                <a:effectLst/>
              </a:rPr>
              <a:t> {</a:t>
            </a:r>
            <a:endParaRPr lang="en-IN" sz="2000" b="0" i="0" dirty="0">
              <a:solidFill>
                <a:schemeClr val="bg2">
                  <a:lumMod val="25000"/>
                </a:schemeClr>
              </a:solidFill>
              <a:effectLst/>
            </a:endParaRPr>
          </a:p>
          <a:p>
            <a:r>
              <a:rPr lang="en-IN" sz="2000" b="0" i="0" dirty="0">
                <a:solidFill>
                  <a:schemeClr val="bg2">
                    <a:lumMod val="25000"/>
                  </a:schemeClr>
                </a:solidFill>
                <a:effectLst/>
              </a:rPr>
              <a:t> public static void main(String[] </a:t>
            </a:r>
            <a:r>
              <a:rPr lang="en-IN" sz="2000" b="0" i="0" dirty="0" err="1">
                <a:solidFill>
                  <a:schemeClr val="bg2">
                    <a:lumMod val="25000"/>
                  </a:schemeClr>
                </a:solidFill>
                <a:effectLst/>
              </a:rPr>
              <a:t>args</a:t>
            </a:r>
            <a:r>
              <a:rPr lang="en-IN" sz="2000" b="0" i="0" dirty="0">
                <a:solidFill>
                  <a:schemeClr val="bg2">
                    <a:lumMod val="25000"/>
                  </a:schemeClr>
                </a:solidFill>
                <a:effectLst/>
              </a:rPr>
              <a:t>) {</a:t>
            </a:r>
            <a:endParaRPr lang="en-IN" sz="2000" b="0" i="0" dirty="0">
              <a:solidFill>
                <a:schemeClr val="bg2">
                  <a:lumMod val="25000"/>
                </a:schemeClr>
              </a:solidFill>
              <a:effectLst/>
            </a:endParaRPr>
          </a:p>
          <a:p>
            <a:r>
              <a:rPr lang="en-IN" sz="2000" b="0" i="0" dirty="0">
                <a:solidFill>
                  <a:schemeClr val="bg2">
                    <a:lumMod val="25000"/>
                  </a:schemeClr>
                </a:solidFill>
                <a:effectLst/>
              </a:rPr>
              <a:t> Scanner </a:t>
            </a:r>
            <a:r>
              <a:rPr lang="en-IN" sz="2000" b="0" i="0" dirty="0" err="1">
                <a:solidFill>
                  <a:schemeClr val="bg2">
                    <a:lumMod val="25000"/>
                  </a:schemeClr>
                </a:solidFill>
                <a:effectLst/>
              </a:rPr>
              <a:t>scanner</a:t>
            </a:r>
            <a:r>
              <a:rPr lang="en-IN" sz="2000" b="0" i="0" dirty="0">
                <a:solidFill>
                  <a:schemeClr val="bg2">
                    <a:lumMod val="25000"/>
                  </a:schemeClr>
                </a:solidFill>
                <a:effectLst/>
              </a:rPr>
              <a:t> = new Scanner(System.in);</a:t>
            </a:r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0437" y="88491"/>
            <a:ext cx="1149391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// Prompt the user to enter a string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System.out.print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("Enter a string: ");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String input =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scanner.nextLine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();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// Remove non-alphanumeric characters and convert to lowercase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String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sanitizedInput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input.replaceAll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("[^a-zA-Z0-9]", "").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toLowerCase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();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// Check if the sanitized string is a palindrome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if (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isPalindrome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sanitizedInput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)) {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System.out.println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("The string is a palindrome!");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} else {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System.out.println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("The string is not a palindrome.");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}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scanner.close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();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}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// Method to check if a string is a palindrome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public static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boolean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isPalindrome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(String str) {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int left = 0;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int right = </a:t>
            </a:r>
            <a:r>
              <a:rPr lang="en-IN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str.length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 - 1;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16078" y="-9160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while (left &lt; right) {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if (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str.charAt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(left) != 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str.charAt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(right)) {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return false;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}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left++;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right--;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}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true;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}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16079" y="3866696"/>
            <a:ext cx="11012128" cy="20005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How it work</a:t>
            </a: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 Variable Text" pitchFamily="2" charset="0"/>
              </a:rPr>
              <a:t>Input sanitization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 Variable Text" pitchFamily="2" charset="0"/>
              </a:rPr>
              <a:t>: The program removes any non-alphanumeric characters and converts the string to lowercase. This ensures that the check is case-insensitive and ignores spaces or special characters.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 Variable Text" pitchFamily="2" charset="0"/>
              </a:rPr>
              <a:t>Palindrome check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 Variable Text" pitchFamily="2" charset="0"/>
              </a:rPr>
              <a:t>: The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i-monospace"/>
              </a:rPr>
              <a:t>isPalindrome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 Variable Text" pitchFamily="2" charset="0"/>
              </a:rPr>
              <a:t> method compares characters from both ends of the string moving toward the center. If any mismatch occurs, the method returns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i-monospace"/>
              </a:rPr>
              <a:t>false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 Variable Text" pitchFamily="2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UI Variable Text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1716" y="7097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sng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 Variable Text" pitchFamily="2" charset="0"/>
              </a:rPr>
              <a:t>Sample Output:</a:t>
            </a:r>
            <a:endParaRPr lang="en-IN" sz="2000" b="1" i="0" u="sng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UI Variable Text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3058" y="8567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Less: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dirty="0"/>
              <a:t>Enter a string: A man, a plan, a canal, Panama</a:t>
            </a:r>
            <a:endParaRPr lang="en-IN" dirty="0"/>
          </a:p>
          <a:p>
            <a:r>
              <a:rPr lang="en-IN" dirty="0"/>
              <a:t>The string is a palindrome!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993058" y="225415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 sharp: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Enter a string: Hello, World!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string is not a palindrome.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7" y="0"/>
            <a:ext cx="10323871" cy="64892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9708</Words>
  <Application>WPS Presentation</Application>
  <PresentationFormat>Widescreen</PresentationFormat>
  <Paragraphs>270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Segoe UI Variable Text</vt:lpstr>
      <vt:lpstr>PublicSans-Bold</vt:lpstr>
      <vt:lpstr>Segoe Print</vt:lpstr>
      <vt:lpstr>ui-monospace</vt:lpstr>
      <vt:lpstr>PublicSans</vt:lpstr>
      <vt:lpstr>Arial Black</vt:lpstr>
      <vt:lpstr>Calibri Light</vt:lpstr>
      <vt:lpstr>Calibri</vt:lpstr>
      <vt:lpstr>Microsoft YaHei</vt:lpstr>
      <vt:lpstr>Arial Unicode MS</vt:lpstr>
      <vt:lpstr>Office Theme</vt:lpstr>
      <vt:lpstr>Shree Ramswaroop Memorial University</vt:lpstr>
      <vt:lpstr>QUESTION .1       Explain the concept of object-oriented programming (OOP) in Java and the key features of Java that contribute to its robustness.</vt:lpstr>
      <vt:lpstr>Example: Defining a Payment interface with a process Payment() method without specifying how the payment is processed.</vt:lpstr>
      <vt:lpstr>Thread Management: Java has built-in support for multithreading, which allows the execution of multiple threads concurrently, making it suitable for robust and responsive applications.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sanjeetchauhan_2024@outlook.com</dc:creator>
  <cp:lastModifiedBy>Sanjeet Chauhan</cp:lastModifiedBy>
  <cp:revision>2</cp:revision>
  <dcterms:created xsi:type="dcterms:W3CDTF">2024-11-26T16:53:00Z</dcterms:created>
  <dcterms:modified xsi:type="dcterms:W3CDTF">2024-11-26T16:58:36Z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0A8104A9A23343BDBFBA83768B896BEB_12</vt:lpwstr>
  </property>
  <property fmtid="{D5CDD505-2E9C-101B-9397-08002B2CF9AE}" pid="3" name="KSOProductBuildVer">
    <vt:lpwstr>1033-12.2.0.18911</vt:lpwstr>
  </property>
</Properties>
</file>